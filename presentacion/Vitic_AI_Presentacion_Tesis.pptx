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61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6933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Vamos a presentar el estado de nuestra tesis: un sistema de soporte de decisiones para la gestión hídrica en vitivinicultura. La idea central es simple: integrar información que hoy está dispersa —sensores en el terreno, meteorología y satélites— para conocer mejor el estado hídrico del cultivo y ayudar a decidir cuándo regar. Empezamos por el problema.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contexto es una región árida: sin riego no hay viña. El agua es limitada y su disponibilidad cambia año a año.
Hoy la decisión de riego se toma en gran medida por calendario o por experiencia. Y esa decisión tiene dos errores posibles y opuestos: si regamos de más, desperdiciamos agua y energía; si regamos de menos, el cultivo entra en estrés hídrico y eso afecta el rendimiento y la calidad.
El punto que queremos remarcar es el de abajo: la información necesaria ya existe, pero está dispersa. Nuestro trabajo no es generar un dato nuevo, es integrarlos.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único objetivo general del proyecto y queremos que quede muy claro, porque el sistema toca muchos temas y puede parecer que persigue varias cosas a la vez.
Todo lo demás está subordinado a esto. La lluvia, el viento, las nubes o la temperatura no son objetivos independientes: son variables que influyen sobre la demanda de agua del cultivo y, por lo tanto, sobre la decisión de riego.
Y una aclaración importante: no pretendemos pronosticar el clima de San Juan. Trabajamos sobre el estado hídrico del suelo en un lote concreto.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esquema general y lo vamos a recorrer de arriba hacia abajo.
Arriba está el lote y el nodo IoT, que mide lo que pasa físicamente en el terreno. Esa medición viaja al sistema.
En el medio hay tres piezas: el Data Miner, que aporta el contexto meteorológico; VitiAI, que aporta la mirada satelital; y el backend, que es el punto de encuentro donde todo se junta y se ordena en el tiempo.
De ahí sale un dataset multimodal, que es la materia prima de nuestro modelo. El modelo estima el estado hídrico futuro y con eso se elabora una recomendación de riego, acompañada de la explicación de los factores que la sustentan.
En las próximas diapositivas vemos cada pieza por separado.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primer componente es la maqueta IoT, que ya está funcionando. Representa lo que sucede físicamente en el terreno y responde a una pregunta muy concreta: qué está pasando ahora mismo.
A la izquierda están las variables que medimos hoy: humedad del suelo, temperatura y humedad del ambiente, viento, caudal, volumen de agua aplicado y el estado de la electroválvula. Las tres últimas son importantes porque nos permiten saber cuánta agua se aplicó realmente, no cuánta se creyó aplicar.
Queremos aclarar el rol: el IoT mide, transmite y permite actuar sobre la válvula. No hace el análisis. Es nuestra verdad de campo, la única fuente que observa directamente el suelo.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dos módulos aportan el contexto, es decir, lo que el sensor del suelo no puede ver.
El Data Miner construye el histórico meteorológico a partir de Open-Meteo ERA5 y, de forma complementaria, web scraping. Nos da temperatura, humedad, viento, precipitación, radiación y dos variables clave para el riego: la evapotranspiración de referencia, ET0, y el déficit de presión de vapor, VPD. Las dos describen cuánta agua le está pidiendo la atmósfera al cultivo.
VitiAI trabaja con imágenes satelitales: GOES para la parte atmosférica, con nubosidad y temperatura del tope de nube, y Sentinel-2 para el cultivo, con NDVI y NDMI, que nos hablan del vigor y del contenido de humedad de la vegetación.
Lo importante: ninguno de los dos decide nada. Los dos generan variables numéricas que después se integran.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backend es el componente central de comunicación. Su función es recibir la telemetría del nodo, almacenarla, reconstruir los eventos de riego con el caudal y el volumen aplicado, incorporar la meteorología, consultar a VitiAI por las variables satelitales y ordenar todo eso temporalmente.
Esto último no es menor: las fuentes tienen frecuencias muy distintas. El sensor manda datos cada pocos segundos, la meteorología es diaria y el satélite pasa cada varios días. Alinear eso correctamente es parte del trabajo.
Queremos ser claros en algo: el backend no es la contribución académica de la tesis. Es la infraestructura necesaria para que exista el análisis. Sin él, cada fuente quedaría aislada.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Acá está el corazón de la tesis. Con las cuatro fuentes construimos un único dataset multimodal, en el que cada fila combina lo que medimos en el suelo, el riego que efectivamente se aplicó, el contexto meteorológico y el estado del cultivo visto desde el satélite, todo referido al mismo momento.
Sobre ese dataset entrenamos un modelo. El target que estamos proponiendo hoy es la humedad del suelo a 24 horas, y la pregunta que buscamos responder es la de abajo: dadas las condiciones actuales, cómo va a evolucionar la humedad del suelo en el próximo día.
Con esa estimación podemos apoyar tres decisiones: regar, no regar, o seguir monitoreando. Aclaramos que el target y el modelo todavía están en desarrollo: hoy es la propuesta, no un resultado.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somos alumnos de la Licenciatura en Análisis de Datos, queremos ser explícitos sobre dónde está nuestro aporte.
No está en programar un sensor ni en levantar un servidor. Eso son herramientas. Nuestro trabajo es el de los cuatro bloques: conseguir e integrar fuentes heterogéneas y sincronizarlas en el tiempo; construir el dataset con ingeniería de características y análisis exploratorio; entrenar, comparar y validar modelos midiendo el error; e interpretar los resultados para que la recomendación sea entendible y realmente útil.
Esa secuencia —datos, análisis, modelo, validación, decisión— es el eje académico de la tesis.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ejemplo es el que mejor explica por qué necesitamos integrar fuentes.
Supongamos que el sensor marca baja humedad del suelo. Si el sistema mirara solo ese número, la respuesta sería siempre regar.
Pero en el escenario A el contexto dice otra cosa: se regó hace poco, se espera lluvia, la ET0 es baja —o sea que la atmósfera está pidiendo poca agua— y la vegetación se ve bien. Ahí probablemente convenga esperar.
En el escenario B, el suelo pierde humedad rápido, la ET0 y el VPD son altos, no se espera precipitación y el cultivo ya muestra signos de menor disponibilidad de agua. Ahí la recomendación de regar tiene mucho más sustento.
Mismo valor de humedad, dos decisiones opuestas. Esa es exactamente la razón de ser del dataset multimodal.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Queremos ser transparentes con el estado real del proyecto.
Del lado izquierdo, lo que ya funciona: la maqueta IoT con sus sensores y el caudalímetro, la comunicación con el backend, el Data Miner con el histórico meteorológico y el scraping, el backend Java en su versión base y el procesamiento de imágenes GOES y Sentinel.
Del lado derecho, lo que viene: terminar de integrar las cuatro fuentes, consolidar el dataset multimodal, entrenar el modelo, validarlo y comparar alternativas, y recién ahí producir la recomendación basada en Ciencia de Datos.
Por eso hoy no traemos resultados del modelo: sería prematuro. Traemos la arquitectura de datos que lo hace posible.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una idea sencilla: no pretendemos predecir todos los fenómenos climáticos de la provincia. Lo que buscamos es integrar fuentes que hoy están separadas para conocer mejor el estado hídrico del cultivo y apoyar decisiones de riego más eficientes.
El resultado esperado es reducir el uso innecesario de agua sin aumentar la exposición del cultivo al estrés hídrico.
Y una aclaración final sobre el alcance: esto es un sistema de soporte de decisiones. El productor sigue siendo quien decide; el sistema le entrega la información y la explicación de por qué recomienda lo que recomienda. El prototipo además puede accionar la electroválvula, pero eso es una demostración de la integración tecnológica, no una automatización que reemplace el criterio del productor.
Muchas gracias. Quedamos a disposición para las preguntas.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24"/>
        </a:solidFill>
        <a:effectLst/>
      </p:bgPr>
    </p:bg>
    <p:spTree>
      <p:nvGrpSpPr>
        <p:cNvPr id="1" name=""/>
        <p:cNvGrpSpPr/>
        <p:nvPr/>
      </p:nvGrpSpPr>
      <p:grpSpPr>
        <a:xfrm>
          <a:off x="0" y="0"/>
          <a:ext cx="0" cy="0"/>
          <a:chOff x="0" y="0"/>
          <a:chExt cx="0" cy="0"/>
        </a:xfrm>
      </p:grpSpPr>
      <p:sp>
        <p:nvSpPr>
          <p:cNvPr id="2" name="Shape 0"/>
          <p:cNvSpPr/>
          <p:nvPr/>
        </p:nvSpPr>
        <p:spPr>
          <a:xfrm>
            <a:off x="9326880" y="3931920"/>
            <a:ext cx="4206240" cy="4206240"/>
          </a:xfrm>
          <a:prstGeom prst="ellipse">
            <a:avLst/>
          </a:prstGeom>
          <a:solidFill>
            <a:srgbClr val="0E7C86">
              <a:alpha val="12000"/>
            </a:srgbClr>
          </a:solidFill>
          <a:ln w="12700">
            <a:solidFill>
              <a:srgbClr val="0E7C86">
                <a:alpha val="12000"/>
              </a:srgbClr>
            </a:solidFill>
            <a:prstDash val="solid"/>
          </a:ln>
        </p:spPr>
      </p:sp>
      <p:sp>
        <p:nvSpPr>
          <p:cNvPr id="3" name="Shape 1"/>
          <p:cNvSpPr/>
          <p:nvPr/>
        </p:nvSpPr>
        <p:spPr>
          <a:xfrm>
            <a:off x="10607040" y="-1097280"/>
            <a:ext cx="2926080" cy="2926080"/>
          </a:xfrm>
          <a:prstGeom prst="ellipse">
            <a:avLst/>
          </a:prstGeom>
          <a:solidFill>
            <a:srgbClr val="C68B18">
              <a:alpha val="10000"/>
            </a:srgbClr>
          </a:solidFill>
          <a:ln w="12700">
            <a:solidFill>
              <a:srgbClr val="C68B18">
                <a:alpha val="10000"/>
              </a:srgbClr>
            </a:solidFill>
            <a:prstDash val="solid"/>
          </a:ln>
        </p:spPr>
      </p:sp>
      <p:sp>
        <p:nvSpPr>
          <p:cNvPr id="4" name="Text 2"/>
          <p:cNvSpPr txBox="1"/>
          <p:nvPr/>
        </p:nvSpPr>
        <p:spPr>
          <a:xfrm>
            <a:off x="640080" y="1325880"/>
            <a:ext cx="7315200" cy="365760"/>
          </a:xfrm>
          <a:prstGeom prst="rect">
            <a:avLst/>
          </a:prstGeom>
          <a:noFill/>
          <a:ln/>
        </p:spPr>
        <p:txBody>
          <a:bodyPr wrap="square" lIns="0" tIns="0" rIns="0" bIns="0" rtlCol="0" anchor="ctr"/>
          <a:lstStyle/>
          <a:p>
            <a:pPr marL="0" indent="0">
              <a:buNone/>
            </a:pPr>
            <a:r>
              <a:rPr lang="en-US" sz="1400" b="1" kern="0" spc="400" dirty="0">
                <a:solidFill>
                  <a:srgbClr val="C68B18"/>
                </a:solidFill>
                <a:latin typeface="Calibri" pitchFamily="34" charset="0"/>
                <a:ea typeface="Calibri" pitchFamily="34" charset="-122"/>
                <a:cs typeface="Calibri" pitchFamily="34" charset="-120"/>
              </a:rPr>
              <a:t>VITIC AI</a:t>
            </a:r>
            <a:endParaRPr lang="en-US" sz="1400" dirty="0"/>
          </a:p>
        </p:txBody>
      </p:sp>
      <p:sp>
        <p:nvSpPr>
          <p:cNvPr id="5" name="Text 3"/>
          <p:cNvSpPr txBox="1"/>
          <p:nvPr/>
        </p:nvSpPr>
        <p:spPr>
          <a:xfrm>
            <a:off x="640080" y="1783080"/>
            <a:ext cx="9509760" cy="1737360"/>
          </a:xfrm>
          <a:prstGeom prst="rect">
            <a:avLst/>
          </a:prstGeom>
          <a:noFill/>
          <a:ln/>
        </p:spPr>
        <p:txBody>
          <a:bodyPr wrap="square" lIns="0" tIns="0" rIns="0" bIns="0" rtlCol="0" anchor="ctr"/>
          <a:lstStyle/>
          <a:p>
            <a:pPr marL="0" indent="0">
              <a:lnSpc>
                <a:spcPct val="105000"/>
              </a:lnSpc>
              <a:buNone/>
            </a:pPr>
            <a:r>
              <a:rPr lang="en-US" sz="3800" b="1" dirty="0">
                <a:solidFill>
                  <a:srgbClr val="FFFFFF"/>
                </a:solidFill>
                <a:latin typeface="Cambria" pitchFamily="34" charset="0"/>
                <a:ea typeface="Cambria" pitchFamily="34" charset="-122"/>
                <a:cs typeface="Cambria" pitchFamily="34" charset="-120"/>
              </a:rPr>
              <a:t>Sistema de soporte de decisiones para la gestión hídrica en vitivinicultura</a:t>
            </a:r>
            <a:endParaRPr lang="en-US" sz="3800" dirty="0"/>
          </a:p>
        </p:txBody>
      </p:sp>
      <p:sp>
        <p:nvSpPr>
          <p:cNvPr id="6" name="Text 4"/>
          <p:cNvSpPr txBox="1"/>
          <p:nvPr/>
        </p:nvSpPr>
        <p:spPr>
          <a:xfrm>
            <a:off x="640080" y="3611880"/>
            <a:ext cx="8412480" cy="731520"/>
          </a:xfrm>
          <a:prstGeom prst="rect">
            <a:avLst/>
          </a:prstGeom>
          <a:noFill/>
          <a:ln/>
        </p:spPr>
        <p:txBody>
          <a:bodyPr wrap="square" lIns="0" tIns="0" rIns="0" bIns="0" rtlCol="0" anchor="ctr"/>
          <a:lstStyle/>
          <a:p>
            <a:pPr marL="0" indent="0">
              <a:lnSpc>
                <a:spcPct val="110000"/>
              </a:lnSpc>
              <a:buNone/>
            </a:pPr>
            <a:r>
              <a:rPr lang="en-US" sz="1500" dirty="0">
                <a:solidFill>
                  <a:srgbClr val="BBD3CE"/>
                </a:solidFill>
                <a:latin typeface="Calibri" pitchFamily="34" charset="0"/>
                <a:ea typeface="Calibri" pitchFamily="34" charset="-122"/>
                <a:cs typeface="Calibri" pitchFamily="34" charset="-120"/>
              </a:rPr>
              <a:t>Integración de datos IoT, meteorológicos y satelitales para estimar el estado hídrico del cultivo y apoyar la decisión de riego.</a:t>
            </a:r>
            <a:endParaRPr lang="en-US" sz="1500" dirty="0"/>
          </a:p>
        </p:txBody>
      </p:sp>
      <p:sp>
        <p:nvSpPr>
          <p:cNvPr id="7" name="Shape 5"/>
          <p:cNvSpPr/>
          <p:nvPr/>
        </p:nvSpPr>
        <p:spPr>
          <a:xfrm>
            <a:off x="640080" y="4617720"/>
            <a:ext cx="608076" cy="384048"/>
          </a:xfrm>
          <a:prstGeom prst="roundRect">
            <a:avLst>
              <a:gd name="adj" fmla="val 50000"/>
            </a:avLst>
          </a:prstGeom>
          <a:solidFill>
            <a:srgbClr val="0A5D65"/>
          </a:solidFill>
          <a:ln w="12700">
            <a:solidFill>
              <a:srgbClr val="0A5D65"/>
            </a:solidFill>
            <a:prstDash val="solid"/>
          </a:ln>
        </p:spPr>
      </p:sp>
      <p:sp>
        <p:nvSpPr>
          <p:cNvPr id="8" name="Text 6"/>
          <p:cNvSpPr txBox="1"/>
          <p:nvPr/>
        </p:nvSpPr>
        <p:spPr>
          <a:xfrm>
            <a:off x="640080" y="4617720"/>
            <a:ext cx="608076" cy="384048"/>
          </a:xfrm>
          <a:prstGeom prst="rect">
            <a:avLst/>
          </a:prstGeom>
          <a:noFill/>
          <a:ln/>
        </p:spPr>
        <p:txBody>
          <a:bodyPr wrap="square" lIns="0" tIns="0" rIns="0" bIns="0" rtlCol="0" anchor="ctr"/>
          <a:lstStyle/>
          <a:p>
            <a:pPr marL="0" indent="0" algn="ctr">
              <a:buNone/>
            </a:pPr>
            <a:r>
              <a:rPr lang="en-US" sz="1150" dirty="0">
                <a:solidFill>
                  <a:srgbClr val="DCEEEF"/>
                </a:solidFill>
                <a:latin typeface="Calibri" pitchFamily="34" charset="0"/>
                <a:ea typeface="Calibri" pitchFamily="34" charset="-122"/>
                <a:cs typeface="Calibri" pitchFamily="34" charset="-120"/>
              </a:rPr>
              <a:t>IoT</a:t>
            </a:r>
            <a:endParaRPr lang="en-US" sz="1150" dirty="0"/>
          </a:p>
        </p:txBody>
      </p:sp>
      <p:sp>
        <p:nvSpPr>
          <p:cNvPr id="9" name="Shape 7"/>
          <p:cNvSpPr/>
          <p:nvPr/>
        </p:nvSpPr>
        <p:spPr>
          <a:xfrm>
            <a:off x="1412748" y="4617720"/>
            <a:ext cx="1554480" cy="384048"/>
          </a:xfrm>
          <a:prstGeom prst="roundRect">
            <a:avLst>
              <a:gd name="adj" fmla="val 50000"/>
            </a:avLst>
          </a:prstGeom>
          <a:solidFill>
            <a:srgbClr val="0A5D65"/>
          </a:solidFill>
          <a:ln w="12700">
            <a:solidFill>
              <a:srgbClr val="0A5D65"/>
            </a:solidFill>
            <a:prstDash val="solid"/>
          </a:ln>
        </p:spPr>
      </p:sp>
      <p:sp>
        <p:nvSpPr>
          <p:cNvPr id="10" name="Text 8"/>
          <p:cNvSpPr txBox="1"/>
          <p:nvPr/>
        </p:nvSpPr>
        <p:spPr>
          <a:xfrm>
            <a:off x="1412748" y="4617720"/>
            <a:ext cx="1554480" cy="384048"/>
          </a:xfrm>
          <a:prstGeom prst="rect">
            <a:avLst/>
          </a:prstGeom>
          <a:noFill/>
          <a:ln/>
        </p:spPr>
        <p:txBody>
          <a:bodyPr wrap="square" lIns="0" tIns="0" rIns="0" bIns="0" rtlCol="0" anchor="ctr"/>
          <a:lstStyle/>
          <a:p>
            <a:pPr marL="0" indent="0" algn="ctr">
              <a:buNone/>
            </a:pPr>
            <a:r>
              <a:rPr lang="en-US" sz="1150" dirty="0">
                <a:solidFill>
                  <a:srgbClr val="DCEEEF"/>
                </a:solidFill>
                <a:latin typeface="Calibri" pitchFamily="34" charset="0"/>
                <a:ea typeface="Calibri" pitchFamily="34" charset="-122"/>
                <a:cs typeface="Calibri" pitchFamily="34" charset="-120"/>
              </a:rPr>
              <a:t>Meteorología</a:t>
            </a:r>
            <a:endParaRPr lang="en-US" sz="1150" dirty="0"/>
          </a:p>
        </p:txBody>
      </p:sp>
      <p:sp>
        <p:nvSpPr>
          <p:cNvPr id="11" name="Shape 9"/>
          <p:cNvSpPr/>
          <p:nvPr/>
        </p:nvSpPr>
        <p:spPr>
          <a:xfrm>
            <a:off x="3131820" y="4617720"/>
            <a:ext cx="1133856" cy="384048"/>
          </a:xfrm>
          <a:prstGeom prst="roundRect">
            <a:avLst>
              <a:gd name="adj" fmla="val 50000"/>
            </a:avLst>
          </a:prstGeom>
          <a:solidFill>
            <a:srgbClr val="0A5D65"/>
          </a:solidFill>
          <a:ln w="12700">
            <a:solidFill>
              <a:srgbClr val="0A5D65"/>
            </a:solidFill>
            <a:prstDash val="solid"/>
          </a:ln>
        </p:spPr>
      </p:sp>
      <p:sp>
        <p:nvSpPr>
          <p:cNvPr id="12" name="Text 10"/>
          <p:cNvSpPr txBox="1"/>
          <p:nvPr/>
        </p:nvSpPr>
        <p:spPr>
          <a:xfrm>
            <a:off x="3131820" y="4617720"/>
            <a:ext cx="1133856" cy="384048"/>
          </a:xfrm>
          <a:prstGeom prst="rect">
            <a:avLst/>
          </a:prstGeom>
          <a:noFill/>
          <a:ln/>
        </p:spPr>
        <p:txBody>
          <a:bodyPr wrap="square" lIns="0" tIns="0" rIns="0" bIns="0" rtlCol="0" anchor="ctr"/>
          <a:lstStyle/>
          <a:p>
            <a:pPr marL="0" indent="0" algn="ctr">
              <a:buNone/>
            </a:pPr>
            <a:r>
              <a:rPr lang="en-US" sz="1150" dirty="0">
                <a:solidFill>
                  <a:srgbClr val="DCEEEF"/>
                </a:solidFill>
                <a:latin typeface="Calibri" pitchFamily="34" charset="0"/>
                <a:ea typeface="Calibri" pitchFamily="34" charset="-122"/>
                <a:cs typeface="Calibri" pitchFamily="34" charset="-120"/>
              </a:rPr>
              <a:t>Satélite</a:t>
            </a:r>
            <a:endParaRPr lang="en-US" sz="1150" dirty="0"/>
          </a:p>
        </p:txBody>
      </p:sp>
      <p:sp>
        <p:nvSpPr>
          <p:cNvPr id="13" name="Shape 11"/>
          <p:cNvSpPr/>
          <p:nvPr/>
        </p:nvSpPr>
        <p:spPr>
          <a:xfrm>
            <a:off x="4430268" y="4617720"/>
            <a:ext cx="1975104" cy="384048"/>
          </a:xfrm>
          <a:prstGeom prst="roundRect">
            <a:avLst>
              <a:gd name="adj" fmla="val 50000"/>
            </a:avLst>
          </a:prstGeom>
          <a:solidFill>
            <a:srgbClr val="0A5D65"/>
          </a:solidFill>
          <a:ln w="12700">
            <a:solidFill>
              <a:srgbClr val="0A5D65"/>
            </a:solidFill>
            <a:prstDash val="solid"/>
          </a:ln>
        </p:spPr>
      </p:sp>
      <p:sp>
        <p:nvSpPr>
          <p:cNvPr id="14" name="Text 12"/>
          <p:cNvSpPr txBox="1"/>
          <p:nvPr/>
        </p:nvSpPr>
        <p:spPr>
          <a:xfrm>
            <a:off x="4430268" y="4617720"/>
            <a:ext cx="1975104" cy="384048"/>
          </a:xfrm>
          <a:prstGeom prst="rect">
            <a:avLst/>
          </a:prstGeom>
          <a:noFill/>
          <a:ln/>
        </p:spPr>
        <p:txBody>
          <a:bodyPr wrap="square" lIns="0" tIns="0" rIns="0" bIns="0" rtlCol="0" anchor="ctr"/>
          <a:lstStyle/>
          <a:p>
            <a:pPr marL="0" indent="0" algn="ctr">
              <a:buNone/>
            </a:pPr>
            <a:r>
              <a:rPr lang="en-US" sz="1150" dirty="0">
                <a:solidFill>
                  <a:srgbClr val="DCEEEF"/>
                </a:solidFill>
                <a:latin typeface="Calibri" pitchFamily="34" charset="0"/>
                <a:ea typeface="Calibri" pitchFamily="34" charset="-122"/>
                <a:cs typeface="Calibri" pitchFamily="34" charset="-120"/>
              </a:rPr>
              <a:t>Ciencia de Datos</a:t>
            </a:r>
            <a:endParaRPr lang="en-US" sz="1150" dirty="0"/>
          </a:p>
        </p:txBody>
      </p:sp>
      <p:sp>
        <p:nvSpPr>
          <p:cNvPr id="15" name="Text 13"/>
          <p:cNvSpPr txBox="1"/>
          <p:nvPr/>
        </p:nvSpPr>
        <p:spPr>
          <a:xfrm>
            <a:off x="640080" y="5623560"/>
            <a:ext cx="82296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Tesis — Licenciatura en Análisis de Datos</a:t>
            </a:r>
            <a:endParaRPr lang="en-US" sz="1300" dirty="0"/>
          </a:p>
        </p:txBody>
      </p:sp>
      <p:sp>
        <p:nvSpPr>
          <p:cNvPr id="16" name="Text 14"/>
          <p:cNvSpPr txBox="1"/>
          <p:nvPr/>
        </p:nvSpPr>
        <p:spPr>
          <a:xfrm>
            <a:off x="640080" y="5925312"/>
            <a:ext cx="8229600" cy="274320"/>
          </a:xfrm>
          <a:prstGeom prst="rect">
            <a:avLst/>
          </a:prstGeom>
          <a:noFill/>
          <a:ln/>
        </p:spPr>
        <p:txBody>
          <a:bodyPr wrap="square" lIns="0" tIns="0" rIns="0" bIns="0" rtlCol="0" anchor="ctr"/>
          <a:lstStyle/>
          <a:p>
            <a:pPr marL="0" indent="0">
              <a:buNone/>
            </a:pPr>
            <a:r>
              <a:rPr lang="en-US" sz="1150" dirty="0">
                <a:solidFill>
                  <a:srgbClr val="87A8A2"/>
                </a:solidFill>
                <a:latin typeface="Calibri" pitchFamily="34" charset="0"/>
                <a:ea typeface="Calibri" pitchFamily="34" charset="-122"/>
                <a:cs typeface="Calibri" pitchFamily="34" charset="-120"/>
              </a:rPr>
              <a:t>Presentación de avance · Septiembre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8686800" cy="237744"/>
          </a:xfrm>
          <a:prstGeom prst="rect">
            <a:avLst/>
          </a:prstGeom>
          <a:noFill/>
          <a:ln/>
        </p:spPr>
        <p:txBody>
          <a:bodyPr wrap="square" lIns="0" tIns="0" rIns="0" bIns="0" rtlCol="0" anchor="ctr"/>
          <a:lstStyle/>
          <a:p>
            <a:pPr marL="0" indent="0">
              <a:buNone/>
            </a:pPr>
            <a:r>
              <a:rPr lang="en-US" sz="1150" b="1" kern="0" spc="200" dirty="0">
                <a:solidFill>
                  <a:srgbClr val="0E7C86"/>
                </a:solidFill>
                <a:latin typeface="Calibri" pitchFamily="34" charset="0"/>
                <a:ea typeface="Calibri" pitchFamily="34" charset="-122"/>
                <a:cs typeface="Calibri" pitchFamily="34" charset="-120"/>
              </a:rPr>
              <a:t>PROBLEMÁTICA</a:t>
            </a:r>
            <a:endParaRPr lang="en-US" sz="1150" dirty="0"/>
          </a:p>
        </p:txBody>
      </p:sp>
      <p:sp>
        <p:nvSpPr>
          <p:cNvPr id="3" name="Text 1"/>
          <p:cNvSpPr txBox="1"/>
          <p:nvPr/>
        </p:nvSpPr>
        <p:spPr>
          <a:xfrm>
            <a:off x="640080" y="640080"/>
            <a:ext cx="10607040" cy="566928"/>
          </a:xfrm>
          <a:prstGeom prst="rect">
            <a:avLst/>
          </a:prstGeom>
          <a:noFill/>
          <a:ln/>
        </p:spPr>
        <p:txBody>
          <a:bodyPr wrap="square" lIns="0" tIns="0" rIns="0" bIns="0" rtlCol="0" anchor="ctr"/>
          <a:lstStyle/>
          <a:p>
            <a:pPr marL="0" indent="0">
              <a:buNone/>
            </a:pPr>
            <a:r>
              <a:rPr lang="en-US" sz="3200" b="1" dirty="0">
                <a:solidFill>
                  <a:srgbClr val="13312A"/>
                </a:solidFill>
                <a:latin typeface="Cambria" pitchFamily="34" charset="0"/>
                <a:ea typeface="Cambria" pitchFamily="34" charset="-122"/>
                <a:cs typeface="Cambria" pitchFamily="34" charset="-120"/>
              </a:rPr>
              <a:t>El agua es el recurso limitante</a:t>
            </a:r>
            <a:endParaRPr lang="en-US" sz="3200" dirty="0"/>
          </a:p>
        </p:txBody>
      </p:sp>
      <p:sp>
        <p:nvSpPr>
          <p:cNvPr id="4" name="Text 2"/>
          <p:cNvSpPr txBox="1"/>
          <p:nvPr/>
        </p:nvSpPr>
        <p:spPr>
          <a:xfrm>
            <a:off x="640080" y="1261872"/>
            <a:ext cx="10241280" cy="457200"/>
          </a:xfrm>
          <a:prstGeom prst="rect">
            <a:avLst/>
          </a:prstGeom>
          <a:noFill/>
          <a:ln/>
        </p:spPr>
        <p:txBody>
          <a:bodyPr wrap="square" lIns="0" tIns="0" rIns="0" bIns="0" rtlCol="0" anchor="ctr"/>
          <a:lstStyle/>
          <a:p>
            <a:pPr marL="0" indent="0">
              <a:lnSpc>
                <a:spcPct val="110000"/>
              </a:lnSpc>
              <a:buNone/>
            </a:pPr>
            <a:r>
              <a:rPr lang="en-US" sz="1450" dirty="0">
                <a:solidFill>
                  <a:srgbClr val="5F6F69"/>
                </a:solidFill>
                <a:latin typeface="Calibri" pitchFamily="34" charset="0"/>
                <a:ea typeface="Calibri" pitchFamily="34" charset="-122"/>
                <a:cs typeface="Calibri" pitchFamily="34" charset="-120"/>
              </a:rPr>
              <a:t>San Juan es una región árida: la vid depende casi por completo del riego y el agua disponible es limitada.</a:t>
            </a:r>
            <a:endParaRPr lang="en-US" sz="1450" dirty="0"/>
          </a:p>
        </p:txBody>
      </p:sp>
      <p:sp>
        <p:nvSpPr>
          <p:cNvPr id="5" name="Shape 3"/>
          <p:cNvSpPr/>
          <p:nvPr/>
        </p:nvSpPr>
        <p:spPr>
          <a:xfrm>
            <a:off x="425196" y="1965960"/>
            <a:ext cx="3566160" cy="2514600"/>
          </a:xfrm>
          <a:prstGeom prst="roundRect">
            <a:avLst>
              <a:gd name="adj" fmla="val 4364"/>
            </a:avLst>
          </a:prstGeom>
          <a:solidFill>
            <a:srgbClr val="E9F1EB"/>
          </a:solidFill>
          <a:ln w="12700">
            <a:solidFill>
              <a:srgbClr val="E9F1EB"/>
            </a:solidFill>
            <a:prstDash val="solid"/>
          </a:ln>
          <a:effectLst>
            <a:outerShdw blurRad="127000" dist="25400" dir="5400000" algn="bl" rotWithShape="0">
              <a:srgbClr val="11302A">
                <a:alpha val="10000"/>
              </a:srgbClr>
            </a:outerShdw>
          </a:effectLst>
        </p:spPr>
      </p:sp>
      <p:sp>
        <p:nvSpPr>
          <p:cNvPr id="6" name="Shape 4"/>
          <p:cNvSpPr/>
          <p:nvPr/>
        </p:nvSpPr>
        <p:spPr>
          <a:xfrm>
            <a:off x="717804" y="2240280"/>
            <a:ext cx="658368" cy="658368"/>
          </a:xfrm>
          <a:prstGeom prst="ellipse">
            <a:avLst/>
          </a:prstGeom>
          <a:solidFill>
            <a:srgbClr val="0E7C86"/>
          </a:solidFill>
          <a:ln w="12700">
            <a:solidFill>
              <a:srgbClr val="0E7C86"/>
            </a:solidFill>
            <a:prstDash val="solid"/>
          </a:ln>
        </p:spPr>
      </p:sp>
      <p:pic>
        <p:nvPicPr>
          <p:cNvPr id="7" name="Image 0" descr="preencoded.png"/>
          <p:cNvPicPr>
            <a:picLocks noChangeAspect="1"/>
          </p:cNvPicPr>
          <p:nvPr/>
        </p:nvPicPr>
        <p:blipFill>
          <a:blip r:embed="rId3"/>
          <a:stretch>
            <a:fillRect/>
          </a:stretch>
        </p:blipFill>
        <p:spPr>
          <a:xfrm>
            <a:off x="915314" y="2437790"/>
            <a:ext cx="263347" cy="263347"/>
          </a:xfrm>
          <a:prstGeom prst="rect">
            <a:avLst/>
          </a:prstGeom>
        </p:spPr>
      </p:pic>
      <p:sp>
        <p:nvSpPr>
          <p:cNvPr id="8" name="Text 5"/>
          <p:cNvSpPr txBox="1"/>
          <p:nvPr/>
        </p:nvSpPr>
        <p:spPr>
          <a:xfrm>
            <a:off x="717804" y="3035808"/>
            <a:ext cx="2980944" cy="365760"/>
          </a:xfrm>
          <a:prstGeom prst="rect">
            <a:avLst/>
          </a:prstGeom>
          <a:noFill/>
          <a:ln/>
        </p:spPr>
        <p:txBody>
          <a:bodyPr wrap="square" lIns="0" tIns="0" rIns="0" bIns="0" rtlCol="0" anchor="ctr"/>
          <a:lstStyle/>
          <a:p>
            <a:pPr marL="0" indent="0">
              <a:buNone/>
            </a:pPr>
            <a:r>
              <a:rPr lang="en-US" sz="1500" b="1" dirty="0">
                <a:solidFill>
                  <a:srgbClr val="13312A"/>
                </a:solidFill>
                <a:latin typeface="Calibri" pitchFamily="34" charset="0"/>
                <a:ea typeface="Calibri" pitchFamily="34" charset="-122"/>
                <a:cs typeface="Calibri" pitchFamily="34" charset="-120"/>
              </a:rPr>
              <a:t>Recurso escaso</a:t>
            </a:r>
            <a:endParaRPr lang="en-US" sz="1500" dirty="0"/>
          </a:p>
        </p:txBody>
      </p:sp>
      <p:sp>
        <p:nvSpPr>
          <p:cNvPr id="9" name="Text 6"/>
          <p:cNvSpPr txBox="1"/>
          <p:nvPr/>
        </p:nvSpPr>
        <p:spPr>
          <a:xfrm>
            <a:off x="717804" y="3401568"/>
            <a:ext cx="2980944" cy="914400"/>
          </a:xfrm>
          <a:prstGeom prst="rect">
            <a:avLst/>
          </a:prstGeom>
          <a:noFill/>
          <a:ln/>
        </p:spPr>
        <p:txBody>
          <a:bodyPr wrap="square" lIns="0" tIns="0" rIns="0" bIns="0" rtlCol="0" anchor="ctr"/>
          <a:lstStyle/>
          <a:p>
            <a:pPr marL="0" indent="0">
              <a:lnSpc>
                <a:spcPct val="110000"/>
              </a:lnSpc>
              <a:buNone/>
            </a:pPr>
            <a:r>
              <a:rPr lang="en-US" sz="1250" dirty="0">
                <a:solidFill>
                  <a:srgbClr val="5F6F69"/>
                </a:solidFill>
                <a:latin typeface="Calibri" pitchFamily="34" charset="0"/>
                <a:ea typeface="Calibri" pitchFamily="34" charset="-122"/>
                <a:cs typeface="Calibri" pitchFamily="34" charset="-120"/>
              </a:rPr>
              <a:t>La disponibilidad de agua es limitada y varía entre temporadas.</a:t>
            </a:r>
            <a:endParaRPr lang="en-US" sz="1250" dirty="0"/>
          </a:p>
        </p:txBody>
      </p:sp>
      <p:sp>
        <p:nvSpPr>
          <p:cNvPr id="10" name="Shape 7"/>
          <p:cNvSpPr/>
          <p:nvPr/>
        </p:nvSpPr>
        <p:spPr>
          <a:xfrm>
            <a:off x="4311396" y="1965960"/>
            <a:ext cx="3566160" cy="2514600"/>
          </a:xfrm>
          <a:prstGeom prst="roundRect">
            <a:avLst>
              <a:gd name="adj" fmla="val 4364"/>
            </a:avLst>
          </a:prstGeom>
          <a:solidFill>
            <a:srgbClr val="E9F1EB"/>
          </a:solidFill>
          <a:ln w="12700">
            <a:solidFill>
              <a:srgbClr val="E9F1EB"/>
            </a:solidFill>
            <a:prstDash val="solid"/>
          </a:ln>
          <a:effectLst>
            <a:outerShdw blurRad="127000" dist="25400" dir="5400000" algn="bl" rotWithShape="0">
              <a:srgbClr val="11302A">
                <a:alpha val="10000"/>
              </a:srgbClr>
            </a:outerShdw>
          </a:effectLst>
        </p:spPr>
      </p:sp>
      <p:sp>
        <p:nvSpPr>
          <p:cNvPr id="11" name="Shape 8"/>
          <p:cNvSpPr/>
          <p:nvPr/>
        </p:nvSpPr>
        <p:spPr>
          <a:xfrm>
            <a:off x="4604004" y="2240280"/>
            <a:ext cx="658368" cy="658368"/>
          </a:xfrm>
          <a:prstGeom prst="ellipse">
            <a:avLst/>
          </a:prstGeom>
          <a:solidFill>
            <a:srgbClr val="0E7C86"/>
          </a:solidFill>
          <a:ln w="12700">
            <a:solidFill>
              <a:srgbClr val="0E7C86"/>
            </a:solidFill>
            <a:prstDash val="solid"/>
          </a:ln>
        </p:spPr>
      </p:sp>
      <p:pic>
        <p:nvPicPr>
          <p:cNvPr id="12" name="Image 1" descr="preencoded.png"/>
          <p:cNvPicPr>
            <a:picLocks noChangeAspect="1"/>
          </p:cNvPicPr>
          <p:nvPr/>
        </p:nvPicPr>
        <p:blipFill>
          <a:blip r:embed="rId4"/>
          <a:stretch>
            <a:fillRect/>
          </a:stretch>
        </p:blipFill>
        <p:spPr>
          <a:xfrm>
            <a:off x="4801514" y="2437790"/>
            <a:ext cx="263347" cy="263347"/>
          </a:xfrm>
          <a:prstGeom prst="rect">
            <a:avLst/>
          </a:prstGeom>
        </p:spPr>
      </p:pic>
      <p:sp>
        <p:nvSpPr>
          <p:cNvPr id="13" name="Text 9"/>
          <p:cNvSpPr txBox="1"/>
          <p:nvPr/>
        </p:nvSpPr>
        <p:spPr>
          <a:xfrm>
            <a:off x="4604004" y="3035808"/>
            <a:ext cx="2980944" cy="365760"/>
          </a:xfrm>
          <a:prstGeom prst="rect">
            <a:avLst/>
          </a:prstGeom>
          <a:noFill/>
          <a:ln/>
        </p:spPr>
        <p:txBody>
          <a:bodyPr wrap="square" lIns="0" tIns="0" rIns="0" bIns="0" rtlCol="0" anchor="ctr"/>
          <a:lstStyle/>
          <a:p>
            <a:pPr marL="0" indent="0">
              <a:buNone/>
            </a:pPr>
            <a:r>
              <a:rPr lang="en-US" sz="1500" b="1" dirty="0">
                <a:solidFill>
                  <a:srgbClr val="13312A"/>
                </a:solidFill>
                <a:latin typeface="Calibri" pitchFamily="34" charset="0"/>
                <a:ea typeface="Calibri" pitchFamily="34" charset="-122"/>
                <a:cs typeface="Calibri" pitchFamily="34" charset="-120"/>
              </a:rPr>
              <a:t>Decisión sin datos integrados</a:t>
            </a:r>
            <a:endParaRPr lang="en-US" sz="1500" dirty="0"/>
          </a:p>
        </p:txBody>
      </p:sp>
      <p:sp>
        <p:nvSpPr>
          <p:cNvPr id="14" name="Text 10"/>
          <p:cNvSpPr txBox="1"/>
          <p:nvPr/>
        </p:nvSpPr>
        <p:spPr>
          <a:xfrm>
            <a:off x="4604004" y="3401568"/>
            <a:ext cx="2980944" cy="914400"/>
          </a:xfrm>
          <a:prstGeom prst="rect">
            <a:avLst/>
          </a:prstGeom>
          <a:noFill/>
          <a:ln/>
        </p:spPr>
        <p:txBody>
          <a:bodyPr wrap="square" lIns="0" tIns="0" rIns="0" bIns="0" rtlCol="0" anchor="ctr"/>
          <a:lstStyle/>
          <a:p>
            <a:pPr marL="0" indent="0">
              <a:lnSpc>
                <a:spcPct val="110000"/>
              </a:lnSpc>
              <a:buNone/>
            </a:pPr>
            <a:r>
              <a:rPr lang="en-US" sz="1250" dirty="0">
                <a:solidFill>
                  <a:srgbClr val="5F6F69"/>
                </a:solidFill>
                <a:latin typeface="Calibri" pitchFamily="34" charset="0"/>
                <a:ea typeface="Calibri" pitchFamily="34" charset="-122"/>
                <a:cs typeface="Calibri" pitchFamily="34" charset="-120"/>
              </a:rPr>
              <a:t>El riego suele decidirse por calendario o por observación, sin combinar el estado del suelo, la atmósfera y el cultivo.</a:t>
            </a:r>
            <a:endParaRPr lang="en-US" sz="1250" dirty="0"/>
          </a:p>
        </p:txBody>
      </p:sp>
      <p:sp>
        <p:nvSpPr>
          <p:cNvPr id="15" name="Shape 11"/>
          <p:cNvSpPr/>
          <p:nvPr/>
        </p:nvSpPr>
        <p:spPr>
          <a:xfrm>
            <a:off x="8197596" y="1965960"/>
            <a:ext cx="3566160" cy="2514600"/>
          </a:xfrm>
          <a:prstGeom prst="roundRect">
            <a:avLst>
              <a:gd name="adj" fmla="val 4364"/>
            </a:avLst>
          </a:prstGeom>
          <a:solidFill>
            <a:srgbClr val="E9F1EB"/>
          </a:solidFill>
          <a:ln w="12700">
            <a:solidFill>
              <a:srgbClr val="E9F1EB"/>
            </a:solidFill>
            <a:prstDash val="solid"/>
          </a:ln>
          <a:effectLst>
            <a:outerShdw blurRad="127000" dist="25400" dir="5400000" algn="bl" rotWithShape="0">
              <a:srgbClr val="11302A">
                <a:alpha val="10000"/>
              </a:srgbClr>
            </a:outerShdw>
          </a:effectLst>
        </p:spPr>
      </p:sp>
      <p:sp>
        <p:nvSpPr>
          <p:cNvPr id="16" name="Shape 12"/>
          <p:cNvSpPr/>
          <p:nvPr/>
        </p:nvSpPr>
        <p:spPr>
          <a:xfrm>
            <a:off x="8490204" y="2240280"/>
            <a:ext cx="658368" cy="658368"/>
          </a:xfrm>
          <a:prstGeom prst="ellipse">
            <a:avLst/>
          </a:prstGeom>
          <a:solidFill>
            <a:srgbClr val="0E7C86"/>
          </a:solidFill>
          <a:ln w="12700">
            <a:solidFill>
              <a:srgbClr val="0E7C86"/>
            </a:solidFill>
            <a:prstDash val="solid"/>
          </a:ln>
        </p:spPr>
      </p:sp>
      <p:pic>
        <p:nvPicPr>
          <p:cNvPr id="17" name="Image 2" descr="preencoded.png"/>
          <p:cNvPicPr>
            <a:picLocks noChangeAspect="1"/>
          </p:cNvPicPr>
          <p:nvPr/>
        </p:nvPicPr>
        <p:blipFill>
          <a:blip r:embed="rId5"/>
          <a:stretch>
            <a:fillRect/>
          </a:stretch>
        </p:blipFill>
        <p:spPr>
          <a:xfrm>
            <a:off x="8687714" y="2437790"/>
            <a:ext cx="263347" cy="263347"/>
          </a:xfrm>
          <a:prstGeom prst="rect">
            <a:avLst/>
          </a:prstGeom>
        </p:spPr>
      </p:pic>
      <p:sp>
        <p:nvSpPr>
          <p:cNvPr id="18" name="Text 13"/>
          <p:cNvSpPr txBox="1"/>
          <p:nvPr/>
        </p:nvSpPr>
        <p:spPr>
          <a:xfrm>
            <a:off x="8490204" y="3035808"/>
            <a:ext cx="2980944" cy="365760"/>
          </a:xfrm>
          <a:prstGeom prst="rect">
            <a:avLst/>
          </a:prstGeom>
          <a:noFill/>
          <a:ln/>
        </p:spPr>
        <p:txBody>
          <a:bodyPr wrap="square" lIns="0" tIns="0" rIns="0" bIns="0" rtlCol="0" anchor="ctr"/>
          <a:lstStyle/>
          <a:p>
            <a:pPr marL="0" indent="0">
              <a:buNone/>
            </a:pPr>
            <a:r>
              <a:rPr lang="en-US" sz="1500" b="1" dirty="0">
                <a:solidFill>
                  <a:srgbClr val="13312A"/>
                </a:solidFill>
                <a:latin typeface="Calibri" pitchFamily="34" charset="0"/>
                <a:ea typeface="Calibri" pitchFamily="34" charset="-122"/>
                <a:cs typeface="Calibri" pitchFamily="34" charset="-120"/>
              </a:rPr>
              <a:t>Dos errores opuestos</a:t>
            </a:r>
            <a:endParaRPr lang="en-US" sz="1500" dirty="0"/>
          </a:p>
        </p:txBody>
      </p:sp>
      <p:sp>
        <p:nvSpPr>
          <p:cNvPr id="19" name="Text 14"/>
          <p:cNvSpPr txBox="1"/>
          <p:nvPr/>
        </p:nvSpPr>
        <p:spPr>
          <a:xfrm>
            <a:off x="8490204" y="3401568"/>
            <a:ext cx="2980944" cy="914400"/>
          </a:xfrm>
          <a:prstGeom prst="rect">
            <a:avLst/>
          </a:prstGeom>
          <a:noFill/>
          <a:ln/>
        </p:spPr>
        <p:txBody>
          <a:bodyPr wrap="square" lIns="0" tIns="0" rIns="0" bIns="0" rtlCol="0" anchor="ctr"/>
          <a:lstStyle/>
          <a:p>
            <a:pPr marL="0" indent="0">
              <a:lnSpc>
                <a:spcPct val="110000"/>
              </a:lnSpc>
              <a:buNone/>
            </a:pPr>
            <a:r>
              <a:rPr lang="en-US" sz="1250" dirty="0">
                <a:solidFill>
                  <a:srgbClr val="5F6F69"/>
                </a:solidFill>
                <a:latin typeface="Calibri" pitchFamily="34" charset="0"/>
                <a:ea typeface="Calibri" pitchFamily="34" charset="-122"/>
                <a:cs typeface="Calibri" pitchFamily="34" charset="-120"/>
              </a:rPr>
              <a:t>Regar de más desperdicia agua y energía; regar de menos expone al cultivo a estrés hídrico.</a:t>
            </a:r>
            <a:endParaRPr lang="en-US" sz="1250" dirty="0"/>
          </a:p>
        </p:txBody>
      </p:sp>
      <p:sp>
        <p:nvSpPr>
          <p:cNvPr id="20" name="Shape 15"/>
          <p:cNvSpPr/>
          <p:nvPr/>
        </p:nvSpPr>
        <p:spPr>
          <a:xfrm>
            <a:off x="640080" y="4846320"/>
            <a:ext cx="10908792" cy="1005840"/>
          </a:xfrm>
          <a:prstGeom prst="roundRect">
            <a:avLst>
              <a:gd name="adj" fmla="val 10909"/>
            </a:avLst>
          </a:prstGeom>
          <a:solidFill>
            <a:srgbClr val="E2F1F2"/>
          </a:solidFill>
          <a:ln w="12700">
            <a:solidFill>
              <a:srgbClr val="E2F1F2"/>
            </a:solidFill>
            <a:prstDash val="solid"/>
          </a:ln>
          <a:effectLst>
            <a:outerShdw blurRad="127000" dist="25400" dir="5400000" algn="bl" rotWithShape="0">
              <a:srgbClr val="11302A">
                <a:alpha val="10000"/>
              </a:srgbClr>
            </a:outerShdw>
          </a:effectLst>
        </p:spPr>
      </p:sp>
      <p:sp>
        <p:nvSpPr>
          <p:cNvPr id="21" name="Text 16"/>
          <p:cNvSpPr txBox="1"/>
          <p:nvPr/>
        </p:nvSpPr>
        <p:spPr>
          <a:xfrm>
            <a:off x="1005840" y="4846320"/>
            <a:ext cx="10177272" cy="1005840"/>
          </a:xfrm>
          <a:prstGeom prst="rect">
            <a:avLst/>
          </a:prstGeom>
          <a:noFill/>
          <a:ln/>
        </p:spPr>
        <p:txBody>
          <a:bodyPr wrap="square" lIns="0" tIns="0" rIns="0" bIns="0" rtlCol="0" anchor="ctr"/>
          <a:lstStyle/>
          <a:p>
            <a:pPr marL="0" indent="0">
              <a:lnSpc>
                <a:spcPct val="110000"/>
              </a:lnSpc>
              <a:buNone/>
            </a:pPr>
            <a:r>
              <a:rPr lang="en-US" sz="1450" dirty="0">
                <a:solidFill>
                  <a:srgbClr val="1F2A26"/>
                </a:solidFill>
                <a:latin typeface="Calibri" pitchFamily="34" charset="0"/>
                <a:ea typeface="Calibri" pitchFamily="34" charset="-122"/>
                <a:cs typeface="Calibri" pitchFamily="34" charset="-120"/>
              </a:rPr>
              <a:t>La información ya existe </a:t>
            </a:r>
            <a:r>
              <a:rPr lang="en-US" sz="1450" i="1" dirty="0">
                <a:solidFill>
                  <a:srgbClr val="5F6F69"/>
                </a:solidFill>
                <a:latin typeface="Calibri" pitchFamily="34" charset="0"/>
                <a:ea typeface="Calibri" pitchFamily="34" charset="-122"/>
                <a:cs typeface="Calibri" pitchFamily="34" charset="-120"/>
              </a:rPr>
              <a:t>— sensores, registros meteorológicos, imágenes satelitales —</a:t>
            </a:r>
            <a:r>
              <a:rPr lang="en-US" sz="1450" dirty="0">
                <a:solidFill>
                  <a:srgbClr val="1F2A26"/>
                </a:solidFill>
                <a:latin typeface="Calibri" pitchFamily="34" charset="0"/>
                <a:ea typeface="Calibri" pitchFamily="34" charset="-122"/>
                <a:cs typeface="Calibri" pitchFamily="34" charset="-120"/>
              </a:rPr>
              <a:t> pero está dispersa y no se utiliza en conjunto para decidir el riego.</a:t>
            </a:r>
            <a:endParaRPr lang="en-US" sz="1450" dirty="0"/>
          </a:p>
        </p:txBody>
      </p:sp>
      <p:sp>
        <p:nvSpPr>
          <p:cNvPr id="22" name="Text 17"/>
          <p:cNvSpPr txBox="1"/>
          <p:nvPr/>
        </p:nvSpPr>
        <p:spPr>
          <a:xfrm>
            <a:off x="640080" y="6382512"/>
            <a:ext cx="7315200" cy="274320"/>
          </a:xfrm>
          <a:prstGeom prst="rect">
            <a:avLst/>
          </a:prstGeom>
          <a:noFill/>
          <a:ln/>
        </p:spPr>
        <p:txBody>
          <a:bodyPr wrap="square" lIns="0" tIns="0" rIns="0" bIns="0" rtlCol="0" anchor="ctr"/>
          <a:lstStyle/>
          <a:p>
            <a:pPr marL="0" indent="0">
              <a:buNone/>
            </a:pPr>
            <a:r>
              <a:rPr lang="en-US" sz="950" dirty="0">
                <a:solidFill>
                  <a:srgbClr val="9AAAA4"/>
                </a:solidFill>
                <a:latin typeface="Calibri" pitchFamily="34" charset="0"/>
                <a:ea typeface="Calibri" pitchFamily="34" charset="-122"/>
                <a:cs typeface="Calibri" pitchFamily="34" charset="-120"/>
              </a:rPr>
              <a:t>Vitic AI · Tesis — Licenciatura en Análisis de Datos</a:t>
            </a:r>
            <a:endParaRPr lang="en-US" sz="950" dirty="0"/>
          </a:p>
        </p:txBody>
      </p:sp>
      <p:sp>
        <p:nvSpPr>
          <p:cNvPr id="23" name="Text 18"/>
          <p:cNvSpPr txBox="1"/>
          <p:nvPr/>
        </p:nvSpPr>
        <p:spPr>
          <a:xfrm>
            <a:off x="10634472" y="6382512"/>
            <a:ext cx="914400" cy="274320"/>
          </a:xfrm>
          <a:prstGeom prst="rect">
            <a:avLst/>
          </a:prstGeom>
          <a:noFill/>
          <a:ln/>
        </p:spPr>
        <p:txBody>
          <a:bodyPr wrap="square" lIns="0" tIns="0" rIns="0" bIns="0" rtlCol="0" anchor="ctr"/>
          <a:lstStyle/>
          <a:p>
            <a:pPr marL="0" indent="0" algn="r">
              <a:buNone/>
            </a:pPr>
            <a:r>
              <a:rPr lang="en-US" sz="950" dirty="0">
                <a:solidFill>
                  <a:srgbClr val="9AAAA4"/>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8686800" cy="237744"/>
          </a:xfrm>
          <a:prstGeom prst="rect">
            <a:avLst/>
          </a:prstGeom>
          <a:noFill/>
          <a:ln/>
        </p:spPr>
        <p:txBody>
          <a:bodyPr wrap="square" lIns="0" tIns="0" rIns="0" bIns="0" rtlCol="0" anchor="ctr"/>
          <a:lstStyle/>
          <a:p>
            <a:pPr marL="0" indent="0">
              <a:buNone/>
            </a:pPr>
            <a:r>
              <a:rPr lang="en-US" sz="1150" b="1" kern="0" spc="200" dirty="0">
                <a:solidFill>
                  <a:srgbClr val="0E7C86"/>
                </a:solidFill>
                <a:latin typeface="Calibri" pitchFamily="34" charset="0"/>
                <a:ea typeface="Calibri" pitchFamily="34" charset="-122"/>
                <a:cs typeface="Calibri" pitchFamily="34" charset="-120"/>
              </a:rPr>
              <a:t>OBJETIVO</a:t>
            </a:r>
            <a:endParaRPr lang="en-US" sz="1150" dirty="0"/>
          </a:p>
        </p:txBody>
      </p:sp>
      <p:sp>
        <p:nvSpPr>
          <p:cNvPr id="3" name="Text 1"/>
          <p:cNvSpPr txBox="1"/>
          <p:nvPr/>
        </p:nvSpPr>
        <p:spPr>
          <a:xfrm>
            <a:off x="640080" y="640080"/>
            <a:ext cx="10607040" cy="566928"/>
          </a:xfrm>
          <a:prstGeom prst="rect">
            <a:avLst/>
          </a:prstGeom>
          <a:noFill/>
          <a:ln/>
        </p:spPr>
        <p:txBody>
          <a:bodyPr wrap="square" lIns="0" tIns="0" rIns="0" bIns="0" rtlCol="0" anchor="ctr"/>
          <a:lstStyle/>
          <a:p>
            <a:pPr marL="0" indent="0">
              <a:buNone/>
            </a:pPr>
            <a:r>
              <a:rPr lang="en-US" sz="3200" b="1" dirty="0">
                <a:solidFill>
                  <a:srgbClr val="13312A"/>
                </a:solidFill>
                <a:latin typeface="Cambria" pitchFamily="34" charset="0"/>
                <a:ea typeface="Cambria" pitchFamily="34" charset="-122"/>
                <a:cs typeface="Cambria" pitchFamily="34" charset="-120"/>
              </a:rPr>
              <a:t>Un único objetivo general</a:t>
            </a:r>
            <a:endParaRPr lang="en-US" sz="3200" dirty="0"/>
          </a:p>
        </p:txBody>
      </p:sp>
      <p:sp>
        <p:nvSpPr>
          <p:cNvPr id="4" name="Shape 2"/>
          <p:cNvSpPr/>
          <p:nvPr/>
        </p:nvSpPr>
        <p:spPr>
          <a:xfrm>
            <a:off x="640080" y="1600200"/>
            <a:ext cx="10908792" cy="1874520"/>
          </a:xfrm>
          <a:prstGeom prst="roundRect">
            <a:avLst>
              <a:gd name="adj" fmla="val 5854"/>
            </a:avLst>
          </a:prstGeom>
          <a:solidFill>
            <a:srgbClr val="E9F1EB"/>
          </a:solidFill>
          <a:ln w="12700">
            <a:solidFill>
              <a:srgbClr val="E9F1EB"/>
            </a:solidFill>
            <a:prstDash val="solid"/>
          </a:ln>
          <a:effectLst>
            <a:outerShdw blurRad="127000" dist="25400" dir="5400000" algn="bl" rotWithShape="0">
              <a:srgbClr val="11302A">
                <a:alpha val="10000"/>
              </a:srgbClr>
            </a:outerShdw>
          </a:effectLst>
        </p:spPr>
      </p:sp>
      <p:sp>
        <p:nvSpPr>
          <p:cNvPr id="5" name="Shape 3"/>
          <p:cNvSpPr/>
          <p:nvPr/>
        </p:nvSpPr>
        <p:spPr>
          <a:xfrm>
            <a:off x="1051560" y="2121408"/>
            <a:ext cx="822960" cy="822960"/>
          </a:xfrm>
          <a:prstGeom prst="ellipse">
            <a:avLst/>
          </a:prstGeom>
          <a:solidFill>
            <a:srgbClr val="0E7C86"/>
          </a:solidFill>
          <a:ln w="12700">
            <a:solidFill>
              <a:srgbClr val="0E7C86"/>
            </a:solidFill>
            <a:prstDash val="solid"/>
          </a:ln>
        </p:spPr>
      </p:sp>
      <p:pic>
        <p:nvPicPr>
          <p:cNvPr id="6" name="Image 0" descr="preencoded.png"/>
          <p:cNvPicPr>
            <a:picLocks noChangeAspect="1"/>
          </p:cNvPicPr>
          <p:nvPr/>
        </p:nvPicPr>
        <p:blipFill>
          <a:blip r:embed="rId3"/>
          <a:stretch>
            <a:fillRect/>
          </a:stretch>
        </p:blipFill>
        <p:spPr>
          <a:xfrm>
            <a:off x="1298448" y="2368296"/>
            <a:ext cx="329184" cy="329184"/>
          </a:xfrm>
          <a:prstGeom prst="rect">
            <a:avLst/>
          </a:prstGeom>
        </p:spPr>
      </p:pic>
      <p:sp>
        <p:nvSpPr>
          <p:cNvPr id="7" name="Text 4"/>
          <p:cNvSpPr txBox="1"/>
          <p:nvPr/>
        </p:nvSpPr>
        <p:spPr>
          <a:xfrm>
            <a:off x="2103120" y="1783080"/>
            <a:ext cx="8988552" cy="1508760"/>
          </a:xfrm>
          <a:prstGeom prst="rect">
            <a:avLst/>
          </a:prstGeom>
          <a:noFill/>
          <a:ln/>
        </p:spPr>
        <p:txBody>
          <a:bodyPr wrap="square" lIns="0" tIns="0" rIns="0" bIns="0" rtlCol="0" anchor="ctr"/>
          <a:lstStyle/>
          <a:p>
            <a:pPr marL="0" indent="0">
              <a:lnSpc>
                <a:spcPct val="115000"/>
              </a:lnSpc>
              <a:buNone/>
            </a:pPr>
            <a:r>
              <a:rPr lang="en-US" sz="1800" dirty="0">
                <a:solidFill>
                  <a:srgbClr val="13312A"/>
                </a:solidFill>
                <a:latin typeface="Cambria" pitchFamily="34" charset="0"/>
                <a:ea typeface="Cambria" pitchFamily="34" charset="-122"/>
                <a:cs typeface="Cambria" pitchFamily="34" charset="-120"/>
              </a:rPr>
              <a:t>Desarrollar un sistema de soporte de decisiones para la gestión hídrica en el sector vitivinícola, basado en una arquitectura IoT y modelos de Ciencia de Datos multimodales, orientado a </a:t>
            </a:r>
            <a:r>
              <a:rPr lang="en-US" sz="1800" dirty="0" err="1" smtClean="0">
                <a:solidFill>
                  <a:srgbClr val="13312A"/>
                </a:solidFill>
                <a:latin typeface="Cambria" pitchFamily="34" charset="0"/>
                <a:ea typeface="Cambria" pitchFamily="34" charset="-122"/>
                <a:cs typeface="Cambria" pitchFamily="34" charset="-120"/>
              </a:rPr>
              <a:t>mejorar</a:t>
            </a:r>
            <a:r>
              <a:rPr lang="en-US" sz="1800" dirty="0" smtClean="0">
                <a:solidFill>
                  <a:srgbClr val="13312A"/>
                </a:solidFill>
                <a:latin typeface="Cambria" pitchFamily="34" charset="0"/>
                <a:ea typeface="Cambria" pitchFamily="34" charset="-122"/>
                <a:cs typeface="Cambria" pitchFamily="34" charset="-120"/>
              </a:rPr>
              <a:t> el </a:t>
            </a:r>
            <a:r>
              <a:rPr lang="en-US" sz="1800" dirty="0">
                <a:solidFill>
                  <a:srgbClr val="13312A"/>
                </a:solidFill>
                <a:latin typeface="Cambria" pitchFamily="34" charset="0"/>
                <a:ea typeface="Cambria" pitchFamily="34" charset="-122"/>
                <a:cs typeface="Cambria" pitchFamily="34" charset="-120"/>
              </a:rPr>
              <a:t>uso del recurso hídrico y reducir el estrés hídrico del cultivo.</a:t>
            </a:r>
            <a:endParaRPr lang="en-US" sz="1800" dirty="0"/>
          </a:p>
        </p:txBody>
      </p:sp>
      <p:sp>
        <p:nvSpPr>
          <p:cNvPr id="8" name="Text 5"/>
          <p:cNvSpPr txBox="1"/>
          <p:nvPr/>
        </p:nvSpPr>
        <p:spPr>
          <a:xfrm>
            <a:off x="640080" y="3703320"/>
            <a:ext cx="7315200" cy="292608"/>
          </a:xfrm>
          <a:prstGeom prst="rect">
            <a:avLst/>
          </a:prstGeom>
          <a:noFill/>
          <a:ln/>
        </p:spPr>
        <p:txBody>
          <a:bodyPr wrap="square" lIns="0" tIns="0" rIns="0" bIns="0" rtlCol="0" anchor="ctr"/>
          <a:lstStyle/>
          <a:p>
            <a:pPr marL="0" indent="0">
              <a:buNone/>
            </a:pPr>
            <a:r>
              <a:rPr lang="en-US" sz="1300" b="1" dirty="0">
                <a:solidFill>
                  <a:srgbClr val="0E7C86"/>
                </a:solidFill>
                <a:latin typeface="Calibri" pitchFamily="34" charset="0"/>
                <a:ea typeface="Calibri" pitchFamily="34" charset="-122"/>
                <a:cs typeface="Calibri" pitchFamily="34" charset="-120"/>
              </a:rPr>
              <a:t>Alcance: qué es y qué no es</a:t>
            </a:r>
            <a:endParaRPr lang="en-US" sz="1300" dirty="0"/>
          </a:p>
        </p:txBody>
      </p:sp>
      <p:sp>
        <p:nvSpPr>
          <p:cNvPr id="9" name="Shape 6"/>
          <p:cNvSpPr/>
          <p:nvPr/>
        </p:nvSpPr>
        <p:spPr>
          <a:xfrm>
            <a:off x="658368" y="4270248"/>
            <a:ext cx="146304" cy="146304"/>
          </a:xfrm>
          <a:prstGeom prst="ellipse">
            <a:avLst/>
          </a:prstGeom>
          <a:solidFill>
            <a:srgbClr val="C68B18"/>
          </a:solidFill>
          <a:ln w="12700">
            <a:solidFill>
              <a:srgbClr val="C68B18"/>
            </a:solidFill>
            <a:prstDash val="solid"/>
          </a:ln>
        </p:spPr>
      </p:sp>
      <p:sp>
        <p:nvSpPr>
          <p:cNvPr id="10" name="Text 7"/>
          <p:cNvSpPr txBox="1"/>
          <p:nvPr/>
        </p:nvSpPr>
        <p:spPr>
          <a:xfrm>
            <a:off x="960120" y="4160520"/>
            <a:ext cx="10588752" cy="384048"/>
          </a:xfrm>
          <a:prstGeom prst="rect">
            <a:avLst/>
          </a:prstGeom>
          <a:noFill/>
          <a:ln/>
        </p:spPr>
        <p:txBody>
          <a:bodyPr wrap="square" lIns="0" tIns="0" rIns="0" bIns="0" rtlCol="0" anchor="ctr"/>
          <a:lstStyle/>
          <a:p>
            <a:pPr marL="0" indent="0">
              <a:buNone/>
            </a:pPr>
            <a:r>
              <a:rPr lang="en-US" sz="1300" b="1" dirty="0">
                <a:solidFill>
                  <a:srgbClr val="13312A"/>
                </a:solidFill>
                <a:latin typeface="Calibri" pitchFamily="34" charset="0"/>
                <a:ea typeface="Calibri" pitchFamily="34" charset="-122"/>
                <a:cs typeface="Calibri" pitchFamily="34" charset="-120"/>
              </a:rPr>
              <a:t>Todo el sistema se subordina a este objetivo.  </a:t>
            </a:r>
            <a:r>
              <a:rPr lang="en-US" sz="1300" dirty="0">
                <a:solidFill>
                  <a:srgbClr val="5F6F69"/>
                </a:solidFill>
                <a:latin typeface="Calibri" pitchFamily="34" charset="0"/>
                <a:ea typeface="Calibri" pitchFamily="34" charset="-122"/>
                <a:cs typeface="Calibri" pitchFamily="34" charset="-120"/>
              </a:rPr>
              <a:t>No hay objetivos paralelos: cada componente existe para aportar información al estado hídrico.</a:t>
            </a:r>
            <a:endParaRPr lang="en-US" sz="1300" dirty="0"/>
          </a:p>
        </p:txBody>
      </p:sp>
      <p:sp>
        <p:nvSpPr>
          <p:cNvPr id="11" name="Shape 8"/>
          <p:cNvSpPr/>
          <p:nvPr/>
        </p:nvSpPr>
        <p:spPr>
          <a:xfrm>
            <a:off x="658368" y="4928616"/>
            <a:ext cx="146304" cy="146304"/>
          </a:xfrm>
          <a:prstGeom prst="ellipse">
            <a:avLst/>
          </a:prstGeom>
          <a:solidFill>
            <a:srgbClr val="C68B18"/>
          </a:solidFill>
          <a:ln w="12700">
            <a:solidFill>
              <a:srgbClr val="C68B18"/>
            </a:solidFill>
            <a:prstDash val="solid"/>
          </a:ln>
        </p:spPr>
      </p:sp>
      <p:sp>
        <p:nvSpPr>
          <p:cNvPr id="12" name="Text 9"/>
          <p:cNvSpPr txBox="1"/>
          <p:nvPr/>
        </p:nvSpPr>
        <p:spPr>
          <a:xfrm>
            <a:off x="960120" y="4818888"/>
            <a:ext cx="10588752" cy="384048"/>
          </a:xfrm>
          <a:prstGeom prst="rect">
            <a:avLst/>
          </a:prstGeom>
          <a:noFill/>
          <a:ln/>
        </p:spPr>
        <p:txBody>
          <a:bodyPr wrap="square" lIns="0" tIns="0" rIns="0" bIns="0" rtlCol="0" anchor="ctr"/>
          <a:lstStyle/>
          <a:p>
            <a:pPr marL="0" indent="0">
              <a:buNone/>
            </a:pPr>
            <a:r>
              <a:rPr lang="en-US" sz="1300" b="1" dirty="0">
                <a:solidFill>
                  <a:srgbClr val="13312A"/>
                </a:solidFill>
                <a:latin typeface="Calibri" pitchFamily="34" charset="0"/>
                <a:ea typeface="Calibri" pitchFamily="34" charset="-122"/>
                <a:cs typeface="Calibri" pitchFamily="34" charset="-120"/>
              </a:rPr>
              <a:t>La lluvia, el viento, las nubes y la temperatura son variables.  </a:t>
            </a:r>
            <a:r>
              <a:rPr lang="en-US" sz="1300" dirty="0">
                <a:solidFill>
                  <a:srgbClr val="5F6F69"/>
                </a:solidFill>
                <a:latin typeface="Calibri" pitchFamily="34" charset="0"/>
                <a:ea typeface="Calibri" pitchFamily="34" charset="-122"/>
                <a:cs typeface="Calibri" pitchFamily="34" charset="-120"/>
              </a:rPr>
              <a:t>No son objetivos en sí mismos: influyen sobre la demanda de agua del cultivo.</a:t>
            </a:r>
            <a:endParaRPr lang="en-US" sz="1300" dirty="0"/>
          </a:p>
        </p:txBody>
      </p:sp>
      <p:sp>
        <p:nvSpPr>
          <p:cNvPr id="13" name="Shape 10"/>
          <p:cNvSpPr/>
          <p:nvPr/>
        </p:nvSpPr>
        <p:spPr>
          <a:xfrm>
            <a:off x="658368" y="5586984"/>
            <a:ext cx="146304" cy="146304"/>
          </a:xfrm>
          <a:prstGeom prst="ellipse">
            <a:avLst/>
          </a:prstGeom>
          <a:solidFill>
            <a:srgbClr val="C68B18"/>
          </a:solidFill>
          <a:ln w="12700">
            <a:solidFill>
              <a:srgbClr val="C68B18"/>
            </a:solidFill>
            <a:prstDash val="solid"/>
          </a:ln>
        </p:spPr>
      </p:sp>
      <p:sp>
        <p:nvSpPr>
          <p:cNvPr id="14" name="Text 11"/>
          <p:cNvSpPr txBox="1"/>
          <p:nvPr/>
        </p:nvSpPr>
        <p:spPr>
          <a:xfrm>
            <a:off x="960120" y="5477256"/>
            <a:ext cx="10588752" cy="384048"/>
          </a:xfrm>
          <a:prstGeom prst="rect">
            <a:avLst/>
          </a:prstGeom>
          <a:noFill/>
          <a:ln/>
        </p:spPr>
        <p:txBody>
          <a:bodyPr wrap="square" lIns="0" tIns="0" rIns="0" bIns="0" rtlCol="0" anchor="ctr"/>
          <a:lstStyle/>
          <a:p>
            <a:pPr marL="0" indent="0">
              <a:buNone/>
            </a:pPr>
            <a:r>
              <a:rPr lang="en-US" sz="1300" b="1" dirty="0">
                <a:solidFill>
                  <a:srgbClr val="13312A"/>
                </a:solidFill>
                <a:latin typeface="Calibri" pitchFamily="34" charset="0"/>
                <a:ea typeface="Calibri" pitchFamily="34" charset="-122"/>
                <a:cs typeface="Calibri" pitchFamily="34" charset="-120"/>
              </a:rPr>
              <a:t>No buscamos pronosticar el clima de la región.  </a:t>
            </a:r>
            <a:r>
              <a:rPr lang="en-US" sz="1300" dirty="0">
                <a:solidFill>
                  <a:srgbClr val="5F6F69"/>
                </a:solidFill>
                <a:latin typeface="Calibri" pitchFamily="34" charset="0"/>
                <a:ea typeface="Calibri" pitchFamily="34" charset="-122"/>
                <a:cs typeface="Calibri" pitchFamily="34" charset="-120"/>
              </a:rPr>
              <a:t>Buscamos estimar el estado hídrico del suelo en un lote concreto.</a:t>
            </a:r>
            <a:endParaRPr lang="en-US" sz="1300" dirty="0"/>
          </a:p>
        </p:txBody>
      </p:sp>
      <p:sp>
        <p:nvSpPr>
          <p:cNvPr id="15" name="Text 12"/>
          <p:cNvSpPr txBox="1"/>
          <p:nvPr/>
        </p:nvSpPr>
        <p:spPr>
          <a:xfrm>
            <a:off x="640080" y="6382512"/>
            <a:ext cx="7315200" cy="274320"/>
          </a:xfrm>
          <a:prstGeom prst="rect">
            <a:avLst/>
          </a:prstGeom>
          <a:noFill/>
          <a:ln/>
        </p:spPr>
        <p:txBody>
          <a:bodyPr wrap="square" lIns="0" tIns="0" rIns="0" bIns="0" rtlCol="0" anchor="ctr"/>
          <a:lstStyle/>
          <a:p>
            <a:pPr marL="0" indent="0">
              <a:buNone/>
            </a:pPr>
            <a:r>
              <a:rPr lang="en-US" sz="950" dirty="0">
                <a:solidFill>
                  <a:srgbClr val="9AAAA4"/>
                </a:solidFill>
                <a:latin typeface="Calibri" pitchFamily="34" charset="0"/>
                <a:ea typeface="Calibri" pitchFamily="34" charset="-122"/>
                <a:cs typeface="Calibri" pitchFamily="34" charset="-120"/>
              </a:rPr>
              <a:t>Vitic AI · Tesis — Licenciatura en Análisis de Datos</a:t>
            </a:r>
            <a:endParaRPr lang="en-US" sz="950" dirty="0"/>
          </a:p>
        </p:txBody>
      </p:sp>
      <p:sp>
        <p:nvSpPr>
          <p:cNvPr id="16" name="Text 13"/>
          <p:cNvSpPr txBox="1"/>
          <p:nvPr/>
        </p:nvSpPr>
        <p:spPr>
          <a:xfrm>
            <a:off x="10634472" y="6382512"/>
            <a:ext cx="914400" cy="274320"/>
          </a:xfrm>
          <a:prstGeom prst="rect">
            <a:avLst/>
          </a:prstGeom>
          <a:noFill/>
          <a:ln/>
        </p:spPr>
        <p:txBody>
          <a:bodyPr wrap="square" lIns="0" tIns="0" rIns="0" bIns="0" rtlCol="0" anchor="ctr"/>
          <a:lstStyle/>
          <a:p>
            <a:pPr marL="0" indent="0" algn="r">
              <a:buNone/>
            </a:pPr>
            <a:r>
              <a:rPr lang="en-US" sz="950" dirty="0">
                <a:solidFill>
                  <a:srgbClr val="9AAAA4"/>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8686800" cy="237744"/>
          </a:xfrm>
          <a:prstGeom prst="rect">
            <a:avLst/>
          </a:prstGeom>
          <a:noFill/>
          <a:ln/>
        </p:spPr>
        <p:txBody>
          <a:bodyPr wrap="square" lIns="0" tIns="0" rIns="0" bIns="0" rtlCol="0" anchor="ctr"/>
          <a:lstStyle/>
          <a:p>
            <a:pPr marL="0" indent="0">
              <a:buNone/>
            </a:pPr>
            <a:r>
              <a:rPr lang="en-US" sz="1150" b="1" kern="0" spc="200" dirty="0">
                <a:solidFill>
                  <a:srgbClr val="0E7C86"/>
                </a:solidFill>
                <a:latin typeface="Calibri" pitchFamily="34" charset="0"/>
                <a:ea typeface="Calibri" pitchFamily="34" charset="-122"/>
                <a:cs typeface="Calibri" pitchFamily="34" charset="-120"/>
              </a:rPr>
              <a:t>ARQUITECTURA GENERAL</a:t>
            </a:r>
            <a:endParaRPr lang="en-US" sz="1150" dirty="0"/>
          </a:p>
        </p:txBody>
      </p:sp>
      <p:sp>
        <p:nvSpPr>
          <p:cNvPr id="3" name="Text 1"/>
          <p:cNvSpPr txBox="1"/>
          <p:nvPr/>
        </p:nvSpPr>
        <p:spPr>
          <a:xfrm>
            <a:off x="640080" y="640080"/>
            <a:ext cx="10607040" cy="566928"/>
          </a:xfrm>
          <a:prstGeom prst="rect">
            <a:avLst/>
          </a:prstGeom>
          <a:noFill/>
          <a:ln/>
        </p:spPr>
        <p:txBody>
          <a:bodyPr wrap="square" lIns="0" tIns="0" rIns="0" bIns="0" rtlCol="0" anchor="ctr"/>
          <a:lstStyle/>
          <a:p>
            <a:pPr marL="0" indent="0">
              <a:buNone/>
            </a:pPr>
            <a:r>
              <a:rPr lang="en-US" sz="3200" b="1" dirty="0">
                <a:solidFill>
                  <a:srgbClr val="13312A"/>
                </a:solidFill>
                <a:latin typeface="Cambria" pitchFamily="34" charset="0"/>
                <a:ea typeface="Cambria" pitchFamily="34" charset="-122"/>
                <a:cs typeface="Cambria" pitchFamily="34" charset="-120"/>
              </a:rPr>
              <a:t>Cómo se conectan las piezas</a:t>
            </a:r>
            <a:endParaRPr lang="en-US" sz="3200" dirty="0"/>
          </a:p>
        </p:txBody>
      </p:sp>
      <p:sp>
        <p:nvSpPr>
          <p:cNvPr id="4" name="Shape 2"/>
          <p:cNvSpPr/>
          <p:nvPr/>
        </p:nvSpPr>
        <p:spPr>
          <a:xfrm>
            <a:off x="4905756" y="1207008"/>
            <a:ext cx="2377440" cy="384048"/>
          </a:xfrm>
          <a:prstGeom prst="roundRect">
            <a:avLst>
              <a:gd name="adj" fmla="val 23810"/>
            </a:avLst>
          </a:prstGeom>
          <a:solidFill>
            <a:srgbClr val="FFFFFF"/>
          </a:solidFill>
          <a:ln w="12700">
            <a:solidFill>
              <a:srgbClr val="C9D6D1"/>
            </a:solidFill>
            <a:prstDash val="solid"/>
          </a:ln>
          <a:effectLst>
            <a:outerShdw blurRad="127000" dist="25400" dir="5400000" algn="bl" rotWithShape="0">
              <a:srgbClr val="11302A">
                <a:alpha val="10000"/>
              </a:srgbClr>
            </a:outerShdw>
          </a:effectLst>
        </p:spPr>
      </p:sp>
      <p:sp>
        <p:nvSpPr>
          <p:cNvPr id="5" name="Text 3"/>
          <p:cNvSpPr txBox="1"/>
          <p:nvPr/>
        </p:nvSpPr>
        <p:spPr>
          <a:xfrm>
            <a:off x="4997196" y="1207008"/>
            <a:ext cx="2194560" cy="384048"/>
          </a:xfrm>
          <a:prstGeom prst="rect">
            <a:avLst/>
          </a:prstGeom>
          <a:noFill/>
          <a:ln/>
        </p:spPr>
        <p:txBody>
          <a:bodyPr wrap="square" lIns="0" tIns="0" rIns="0" bIns="0" rtlCol="0" anchor="ctr"/>
          <a:lstStyle/>
          <a:p>
            <a:pPr marL="0" indent="0" algn="ctr">
              <a:lnSpc>
                <a:spcPct val="105000"/>
              </a:lnSpc>
              <a:buNone/>
            </a:pPr>
            <a:r>
              <a:rPr lang="en-US" sz="1300" b="1" dirty="0">
                <a:solidFill>
                  <a:srgbClr val="13312A"/>
                </a:solidFill>
                <a:latin typeface="Calibri" pitchFamily="34" charset="0"/>
                <a:ea typeface="Calibri" pitchFamily="34" charset="-122"/>
                <a:cs typeface="Calibri" pitchFamily="34" charset="-120"/>
              </a:rPr>
              <a:t>Viñedo / lote productivo</a:t>
            </a:r>
            <a:endParaRPr lang="en-US" sz="1300" dirty="0"/>
          </a:p>
        </p:txBody>
      </p:sp>
      <p:sp>
        <p:nvSpPr>
          <p:cNvPr id="6" name="Shape 4"/>
          <p:cNvSpPr/>
          <p:nvPr/>
        </p:nvSpPr>
        <p:spPr>
          <a:xfrm>
            <a:off x="6094476" y="1591056"/>
            <a:ext cx="0" cy="164592"/>
          </a:xfrm>
          <a:prstGeom prst="line">
            <a:avLst/>
          </a:prstGeom>
          <a:noFill/>
          <a:ln w="19050">
            <a:solidFill>
              <a:srgbClr val="0E7C86"/>
            </a:solidFill>
            <a:prstDash val="solid"/>
            <a:tailEnd type="triangle"/>
          </a:ln>
        </p:spPr>
      </p:sp>
      <p:sp>
        <p:nvSpPr>
          <p:cNvPr id="7" name="Shape 5"/>
          <p:cNvSpPr/>
          <p:nvPr/>
        </p:nvSpPr>
        <p:spPr>
          <a:xfrm>
            <a:off x="4539996" y="1755648"/>
            <a:ext cx="3108960" cy="685800"/>
          </a:xfrm>
          <a:prstGeom prst="roundRect">
            <a:avLst>
              <a:gd name="adj" fmla="val 13333"/>
            </a:avLst>
          </a:prstGeom>
          <a:solidFill>
            <a:srgbClr val="0E7C86"/>
          </a:solidFill>
          <a:ln w="12700">
            <a:solidFill>
              <a:srgbClr val="0E7C86"/>
            </a:solidFill>
            <a:prstDash val="solid"/>
          </a:ln>
          <a:effectLst>
            <a:outerShdw blurRad="127000" dist="25400" dir="5400000" algn="bl" rotWithShape="0">
              <a:srgbClr val="11302A">
                <a:alpha val="10000"/>
              </a:srgbClr>
            </a:outerShdw>
          </a:effectLst>
        </p:spPr>
      </p:sp>
      <p:sp>
        <p:nvSpPr>
          <p:cNvPr id="8" name="Text 6"/>
          <p:cNvSpPr txBox="1"/>
          <p:nvPr/>
        </p:nvSpPr>
        <p:spPr>
          <a:xfrm>
            <a:off x="4631436" y="1755648"/>
            <a:ext cx="2926080" cy="685800"/>
          </a:xfrm>
          <a:prstGeom prst="rect">
            <a:avLst/>
          </a:prstGeom>
          <a:noFill/>
          <a:ln/>
        </p:spPr>
        <p:txBody>
          <a:bodyPr wrap="square" lIns="0" tIns="0" rIns="0" bIns="0" rtlCol="0" anchor="ctr"/>
          <a:lstStyle/>
          <a:p>
            <a:pPr marL="0" indent="0" algn="ctr">
              <a:lnSpc>
                <a:spcPct val="105000"/>
              </a:lnSpc>
              <a:buNone/>
            </a:pPr>
            <a:r>
              <a:rPr lang="en-US" sz="1300" b="1" dirty="0">
                <a:solidFill>
                  <a:srgbClr val="FFFFFF"/>
                </a:solidFill>
                <a:latin typeface="Calibri" pitchFamily="34" charset="0"/>
                <a:ea typeface="Calibri" pitchFamily="34" charset="-122"/>
                <a:cs typeface="Calibri" pitchFamily="34" charset="-120"/>
              </a:rPr>
              <a:t>IoT — nodo en campo</a:t>
            </a:r>
            <a:endParaRPr lang="en-US" sz="1300" dirty="0"/>
          </a:p>
          <a:p>
            <a:pPr marL="0" indent="0" algn="ctr">
              <a:lnSpc>
                <a:spcPct val="105000"/>
              </a:lnSpc>
              <a:buNone/>
            </a:pPr>
            <a:r>
              <a:rPr lang="en-US" sz="1050" dirty="0">
                <a:solidFill>
                  <a:srgbClr val="F2F7F6"/>
                </a:solidFill>
                <a:latin typeface="Calibri" pitchFamily="34" charset="0"/>
                <a:ea typeface="Calibri" pitchFamily="34" charset="-122"/>
                <a:cs typeface="Calibri" pitchFamily="34" charset="-120"/>
              </a:rPr>
              <a:t>suelo, ambiente, caudal, riego, válvula</a:t>
            </a:r>
            <a:endParaRPr lang="en-US" sz="1300" dirty="0"/>
          </a:p>
        </p:txBody>
      </p:sp>
      <p:sp>
        <p:nvSpPr>
          <p:cNvPr id="9" name="Shape 7"/>
          <p:cNvSpPr/>
          <p:nvPr/>
        </p:nvSpPr>
        <p:spPr>
          <a:xfrm>
            <a:off x="6094476" y="2441448"/>
            <a:ext cx="0" cy="192024"/>
          </a:xfrm>
          <a:prstGeom prst="line">
            <a:avLst/>
          </a:prstGeom>
          <a:noFill/>
          <a:ln w="19050">
            <a:solidFill>
              <a:srgbClr val="0E7C86"/>
            </a:solidFill>
            <a:prstDash val="solid"/>
            <a:tailEnd type="none"/>
          </a:ln>
        </p:spPr>
      </p:sp>
      <p:sp>
        <p:nvSpPr>
          <p:cNvPr id="10" name="Shape 8"/>
          <p:cNvSpPr/>
          <p:nvPr/>
        </p:nvSpPr>
        <p:spPr>
          <a:xfrm>
            <a:off x="2331720" y="2633472"/>
            <a:ext cx="7525512" cy="0"/>
          </a:xfrm>
          <a:prstGeom prst="line">
            <a:avLst/>
          </a:prstGeom>
          <a:noFill/>
          <a:ln w="19050">
            <a:solidFill>
              <a:srgbClr val="0E7C86"/>
            </a:solidFill>
            <a:prstDash val="solid"/>
          </a:ln>
        </p:spPr>
      </p:sp>
      <p:sp>
        <p:nvSpPr>
          <p:cNvPr id="11" name="Shape 9"/>
          <p:cNvSpPr/>
          <p:nvPr/>
        </p:nvSpPr>
        <p:spPr>
          <a:xfrm>
            <a:off x="2331720" y="2633472"/>
            <a:ext cx="0" cy="182880"/>
          </a:xfrm>
          <a:prstGeom prst="line">
            <a:avLst/>
          </a:prstGeom>
          <a:noFill/>
          <a:ln w="19050">
            <a:solidFill>
              <a:srgbClr val="0E7C86"/>
            </a:solidFill>
            <a:prstDash val="solid"/>
            <a:tailEnd type="triangle"/>
          </a:ln>
        </p:spPr>
      </p:sp>
      <p:sp>
        <p:nvSpPr>
          <p:cNvPr id="12" name="Shape 10"/>
          <p:cNvSpPr/>
          <p:nvPr/>
        </p:nvSpPr>
        <p:spPr>
          <a:xfrm>
            <a:off x="6094476" y="2633472"/>
            <a:ext cx="0" cy="182880"/>
          </a:xfrm>
          <a:prstGeom prst="line">
            <a:avLst/>
          </a:prstGeom>
          <a:noFill/>
          <a:ln w="19050">
            <a:solidFill>
              <a:srgbClr val="0E7C86"/>
            </a:solidFill>
            <a:prstDash val="solid"/>
            <a:tailEnd type="triangle"/>
          </a:ln>
        </p:spPr>
      </p:sp>
      <p:sp>
        <p:nvSpPr>
          <p:cNvPr id="13" name="Shape 11"/>
          <p:cNvSpPr/>
          <p:nvPr/>
        </p:nvSpPr>
        <p:spPr>
          <a:xfrm>
            <a:off x="9857232" y="2633472"/>
            <a:ext cx="0" cy="182880"/>
          </a:xfrm>
          <a:prstGeom prst="line">
            <a:avLst/>
          </a:prstGeom>
          <a:noFill/>
          <a:ln w="19050">
            <a:solidFill>
              <a:srgbClr val="0E7C86"/>
            </a:solidFill>
            <a:prstDash val="solid"/>
            <a:tailEnd type="triangle"/>
          </a:ln>
        </p:spPr>
      </p:sp>
      <p:sp>
        <p:nvSpPr>
          <p:cNvPr id="14" name="Shape 12"/>
          <p:cNvSpPr/>
          <p:nvPr/>
        </p:nvSpPr>
        <p:spPr>
          <a:xfrm>
            <a:off x="914400" y="2816352"/>
            <a:ext cx="2834640" cy="1024128"/>
          </a:xfrm>
          <a:prstGeom prst="roundRect">
            <a:avLst>
              <a:gd name="adj" fmla="val 8929"/>
            </a:avLst>
          </a:prstGeom>
          <a:solidFill>
            <a:srgbClr val="FFFFFF"/>
          </a:solidFill>
          <a:ln w="12700">
            <a:solidFill>
              <a:srgbClr val="C9D6D1"/>
            </a:solidFill>
            <a:prstDash val="solid"/>
          </a:ln>
          <a:effectLst>
            <a:outerShdw blurRad="127000" dist="25400" dir="5400000" algn="bl" rotWithShape="0">
              <a:srgbClr val="11302A">
                <a:alpha val="10000"/>
              </a:srgbClr>
            </a:outerShdw>
          </a:effectLst>
        </p:spPr>
      </p:sp>
      <p:sp>
        <p:nvSpPr>
          <p:cNvPr id="15" name="Text 13"/>
          <p:cNvSpPr txBox="1"/>
          <p:nvPr/>
        </p:nvSpPr>
        <p:spPr>
          <a:xfrm>
            <a:off x="1005840" y="2816352"/>
            <a:ext cx="2651760" cy="1024128"/>
          </a:xfrm>
          <a:prstGeom prst="rect">
            <a:avLst/>
          </a:prstGeom>
          <a:noFill/>
          <a:ln/>
        </p:spPr>
        <p:txBody>
          <a:bodyPr wrap="square" lIns="0" tIns="0" rIns="0" bIns="0" rtlCol="0" anchor="ctr"/>
          <a:lstStyle/>
          <a:p>
            <a:pPr marL="0" indent="0" algn="ctr">
              <a:lnSpc>
                <a:spcPct val="105000"/>
              </a:lnSpc>
              <a:buNone/>
            </a:pPr>
            <a:r>
              <a:rPr lang="en-US" sz="1300" b="1" dirty="0">
                <a:solidFill>
                  <a:srgbClr val="13312A"/>
                </a:solidFill>
                <a:latin typeface="Calibri" pitchFamily="34" charset="0"/>
                <a:ea typeface="Calibri" pitchFamily="34" charset="-122"/>
                <a:cs typeface="Calibri" pitchFamily="34" charset="-120"/>
              </a:rPr>
              <a:t>Data Miner</a:t>
            </a:r>
            <a:endParaRPr lang="en-US" sz="1300" dirty="0"/>
          </a:p>
          <a:p>
            <a:pPr marL="0" indent="0" algn="ctr">
              <a:lnSpc>
                <a:spcPct val="105000"/>
              </a:lnSpc>
              <a:buNone/>
            </a:pPr>
            <a:r>
              <a:rPr lang="en-US" sz="1050" dirty="0">
                <a:solidFill>
                  <a:srgbClr val="5F6F69"/>
                </a:solidFill>
                <a:latin typeface="Calibri" pitchFamily="34" charset="0"/>
                <a:ea typeface="Calibri" pitchFamily="34" charset="-122"/>
                <a:cs typeface="Calibri" pitchFamily="34" charset="-120"/>
              </a:rPr>
              <a:t>Meteorología</a:t>
            </a:r>
            <a:endParaRPr lang="en-US" sz="1300" dirty="0"/>
          </a:p>
          <a:p>
            <a:pPr marL="0" indent="0" algn="ctr">
              <a:lnSpc>
                <a:spcPct val="105000"/>
              </a:lnSpc>
              <a:buNone/>
            </a:pPr>
            <a:r>
              <a:rPr lang="en-US" sz="1050" dirty="0">
                <a:solidFill>
                  <a:srgbClr val="5F6F69"/>
                </a:solidFill>
                <a:latin typeface="Calibri" pitchFamily="34" charset="0"/>
                <a:ea typeface="Calibri" pitchFamily="34" charset="-122"/>
                <a:cs typeface="Calibri" pitchFamily="34" charset="-120"/>
              </a:rPr>
              <a:t>Open-Meteo ERA5 · scraping</a:t>
            </a:r>
            <a:endParaRPr lang="en-US" sz="1300" dirty="0"/>
          </a:p>
        </p:txBody>
      </p:sp>
      <p:sp>
        <p:nvSpPr>
          <p:cNvPr id="16" name="Shape 14"/>
          <p:cNvSpPr/>
          <p:nvPr/>
        </p:nvSpPr>
        <p:spPr>
          <a:xfrm>
            <a:off x="4677156" y="2816352"/>
            <a:ext cx="2834640" cy="1024128"/>
          </a:xfrm>
          <a:prstGeom prst="roundRect">
            <a:avLst>
              <a:gd name="adj" fmla="val 8929"/>
            </a:avLst>
          </a:prstGeom>
          <a:solidFill>
            <a:srgbClr val="FFFFFF"/>
          </a:solidFill>
          <a:ln w="12700">
            <a:solidFill>
              <a:srgbClr val="C9D6D1"/>
            </a:solidFill>
            <a:prstDash val="solid"/>
          </a:ln>
          <a:effectLst>
            <a:outerShdw blurRad="127000" dist="25400" dir="5400000" algn="bl" rotWithShape="0">
              <a:srgbClr val="11302A">
                <a:alpha val="10000"/>
              </a:srgbClr>
            </a:outerShdw>
          </a:effectLst>
        </p:spPr>
      </p:sp>
      <p:sp>
        <p:nvSpPr>
          <p:cNvPr id="17" name="Text 15"/>
          <p:cNvSpPr txBox="1"/>
          <p:nvPr/>
        </p:nvSpPr>
        <p:spPr>
          <a:xfrm>
            <a:off x="4768596" y="2816352"/>
            <a:ext cx="2651760" cy="1024128"/>
          </a:xfrm>
          <a:prstGeom prst="rect">
            <a:avLst/>
          </a:prstGeom>
          <a:noFill/>
          <a:ln/>
        </p:spPr>
        <p:txBody>
          <a:bodyPr wrap="square" lIns="0" tIns="0" rIns="0" bIns="0" rtlCol="0" anchor="ctr"/>
          <a:lstStyle/>
          <a:p>
            <a:pPr marL="0" indent="0" algn="ctr">
              <a:lnSpc>
                <a:spcPct val="105000"/>
              </a:lnSpc>
              <a:buNone/>
            </a:pPr>
            <a:r>
              <a:rPr lang="en-US" sz="1300" b="1" dirty="0">
                <a:solidFill>
                  <a:srgbClr val="13312A"/>
                </a:solidFill>
                <a:latin typeface="Calibri" pitchFamily="34" charset="0"/>
                <a:ea typeface="Calibri" pitchFamily="34" charset="-122"/>
                <a:cs typeface="Calibri" pitchFamily="34" charset="-120"/>
              </a:rPr>
              <a:t>Backend Java</a:t>
            </a:r>
            <a:endParaRPr lang="en-US" sz="1300" dirty="0"/>
          </a:p>
          <a:p>
            <a:pPr marL="0" indent="0" algn="ctr">
              <a:lnSpc>
                <a:spcPct val="105000"/>
              </a:lnSpc>
              <a:buNone/>
            </a:pPr>
            <a:r>
              <a:rPr lang="en-US" sz="1050" dirty="0">
                <a:solidFill>
                  <a:srgbClr val="5F6F69"/>
                </a:solidFill>
                <a:latin typeface="Calibri" pitchFamily="34" charset="0"/>
                <a:ea typeface="Calibri" pitchFamily="34" charset="-122"/>
                <a:cs typeface="Calibri" pitchFamily="34" charset="-120"/>
              </a:rPr>
              <a:t>Integra, almacena y</a:t>
            </a:r>
            <a:endParaRPr lang="en-US" sz="1300" dirty="0"/>
          </a:p>
          <a:p>
            <a:pPr marL="0" indent="0" algn="ctr">
              <a:lnSpc>
                <a:spcPct val="105000"/>
              </a:lnSpc>
              <a:buNone/>
            </a:pPr>
            <a:r>
              <a:rPr lang="en-US" sz="1050" dirty="0">
                <a:solidFill>
                  <a:srgbClr val="5F6F69"/>
                </a:solidFill>
                <a:latin typeface="Calibri" pitchFamily="34" charset="0"/>
                <a:ea typeface="Calibri" pitchFamily="34" charset="-122"/>
                <a:cs typeface="Calibri" pitchFamily="34" charset="-120"/>
              </a:rPr>
              <a:t>sincroniza en el tiempo</a:t>
            </a:r>
            <a:endParaRPr lang="en-US" sz="1300" dirty="0"/>
          </a:p>
        </p:txBody>
      </p:sp>
      <p:sp>
        <p:nvSpPr>
          <p:cNvPr id="18" name="Shape 16"/>
          <p:cNvSpPr/>
          <p:nvPr/>
        </p:nvSpPr>
        <p:spPr>
          <a:xfrm>
            <a:off x="8439912" y="2816352"/>
            <a:ext cx="2834640" cy="1024128"/>
          </a:xfrm>
          <a:prstGeom prst="roundRect">
            <a:avLst>
              <a:gd name="adj" fmla="val 8929"/>
            </a:avLst>
          </a:prstGeom>
          <a:solidFill>
            <a:srgbClr val="FFFFFF"/>
          </a:solidFill>
          <a:ln w="12700">
            <a:solidFill>
              <a:srgbClr val="C9D6D1"/>
            </a:solidFill>
            <a:prstDash val="solid"/>
          </a:ln>
          <a:effectLst>
            <a:outerShdw blurRad="127000" dist="25400" dir="5400000" algn="bl" rotWithShape="0">
              <a:srgbClr val="11302A">
                <a:alpha val="10000"/>
              </a:srgbClr>
            </a:outerShdw>
          </a:effectLst>
        </p:spPr>
      </p:sp>
      <p:sp>
        <p:nvSpPr>
          <p:cNvPr id="19" name="Text 17"/>
          <p:cNvSpPr txBox="1"/>
          <p:nvPr/>
        </p:nvSpPr>
        <p:spPr>
          <a:xfrm>
            <a:off x="8531352" y="2816352"/>
            <a:ext cx="2651760" cy="1024128"/>
          </a:xfrm>
          <a:prstGeom prst="rect">
            <a:avLst/>
          </a:prstGeom>
          <a:noFill/>
          <a:ln/>
        </p:spPr>
        <p:txBody>
          <a:bodyPr wrap="square" lIns="0" tIns="0" rIns="0" bIns="0" rtlCol="0" anchor="ctr"/>
          <a:lstStyle/>
          <a:p>
            <a:pPr marL="0" indent="0" algn="ctr">
              <a:lnSpc>
                <a:spcPct val="105000"/>
              </a:lnSpc>
              <a:buNone/>
            </a:pPr>
            <a:r>
              <a:rPr lang="en-US" sz="1300" b="1" dirty="0">
                <a:solidFill>
                  <a:srgbClr val="13312A"/>
                </a:solidFill>
                <a:latin typeface="Calibri" pitchFamily="34" charset="0"/>
                <a:ea typeface="Calibri" pitchFamily="34" charset="-122"/>
                <a:cs typeface="Calibri" pitchFamily="34" charset="-120"/>
              </a:rPr>
              <a:t>VitiAI satelital</a:t>
            </a:r>
            <a:endParaRPr lang="en-US" sz="1300" dirty="0"/>
          </a:p>
          <a:p>
            <a:pPr marL="0" indent="0" algn="ctr">
              <a:lnSpc>
                <a:spcPct val="105000"/>
              </a:lnSpc>
              <a:buNone/>
            </a:pPr>
            <a:r>
              <a:rPr lang="en-US" sz="1050" dirty="0">
                <a:solidFill>
                  <a:srgbClr val="5F6F69"/>
                </a:solidFill>
                <a:latin typeface="Calibri" pitchFamily="34" charset="0"/>
                <a:ea typeface="Calibri" pitchFamily="34" charset="-122"/>
                <a:cs typeface="Calibri" pitchFamily="34" charset="-120"/>
              </a:rPr>
              <a:t>GOES · Sentinel-2</a:t>
            </a:r>
            <a:endParaRPr lang="en-US" sz="1300" dirty="0"/>
          </a:p>
          <a:p>
            <a:pPr marL="0" indent="0" algn="ctr">
              <a:lnSpc>
                <a:spcPct val="105000"/>
              </a:lnSpc>
              <a:buNone/>
            </a:pPr>
            <a:r>
              <a:rPr lang="en-US" sz="1050" dirty="0">
                <a:solidFill>
                  <a:srgbClr val="5F6F69"/>
                </a:solidFill>
                <a:latin typeface="Calibri" pitchFamily="34" charset="0"/>
                <a:ea typeface="Calibri" pitchFamily="34" charset="-122"/>
                <a:cs typeface="Calibri" pitchFamily="34" charset="-120"/>
              </a:rPr>
              <a:t>NDVI, NDMI, nubosidad</a:t>
            </a:r>
            <a:endParaRPr lang="en-US" sz="1300" dirty="0"/>
          </a:p>
        </p:txBody>
      </p:sp>
      <p:sp>
        <p:nvSpPr>
          <p:cNvPr id="20" name="Shape 18"/>
          <p:cNvSpPr/>
          <p:nvPr/>
        </p:nvSpPr>
        <p:spPr>
          <a:xfrm>
            <a:off x="2331720" y="3840480"/>
            <a:ext cx="0" cy="201168"/>
          </a:xfrm>
          <a:prstGeom prst="line">
            <a:avLst/>
          </a:prstGeom>
          <a:noFill/>
          <a:ln w="19050">
            <a:solidFill>
              <a:srgbClr val="0E7C86"/>
            </a:solidFill>
            <a:prstDash val="solid"/>
            <a:tailEnd type="none"/>
          </a:ln>
        </p:spPr>
      </p:sp>
      <p:sp>
        <p:nvSpPr>
          <p:cNvPr id="21" name="Shape 19"/>
          <p:cNvSpPr/>
          <p:nvPr/>
        </p:nvSpPr>
        <p:spPr>
          <a:xfrm>
            <a:off x="6094476" y="3840480"/>
            <a:ext cx="0" cy="201168"/>
          </a:xfrm>
          <a:prstGeom prst="line">
            <a:avLst/>
          </a:prstGeom>
          <a:noFill/>
          <a:ln w="19050">
            <a:solidFill>
              <a:srgbClr val="0E7C86"/>
            </a:solidFill>
            <a:prstDash val="solid"/>
            <a:tailEnd type="none"/>
          </a:ln>
        </p:spPr>
      </p:sp>
      <p:sp>
        <p:nvSpPr>
          <p:cNvPr id="22" name="Shape 20"/>
          <p:cNvSpPr/>
          <p:nvPr/>
        </p:nvSpPr>
        <p:spPr>
          <a:xfrm>
            <a:off x="9857232" y="3840480"/>
            <a:ext cx="0" cy="201168"/>
          </a:xfrm>
          <a:prstGeom prst="line">
            <a:avLst/>
          </a:prstGeom>
          <a:noFill/>
          <a:ln w="19050">
            <a:solidFill>
              <a:srgbClr val="0E7C86"/>
            </a:solidFill>
            <a:prstDash val="solid"/>
            <a:tailEnd type="none"/>
          </a:ln>
        </p:spPr>
      </p:sp>
      <p:sp>
        <p:nvSpPr>
          <p:cNvPr id="23" name="Shape 21"/>
          <p:cNvSpPr/>
          <p:nvPr/>
        </p:nvSpPr>
        <p:spPr>
          <a:xfrm>
            <a:off x="2331720" y="4041648"/>
            <a:ext cx="7525512" cy="0"/>
          </a:xfrm>
          <a:prstGeom prst="line">
            <a:avLst/>
          </a:prstGeom>
          <a:noFill/>
          <a:ln w="19050">
            <a:solidFill>
              <a:srgbClr val="0E7C86"/>
            </a:solidFill>
            <a:prstDash val="solid"/>
          </a:ln>
        </p:spPr>
      </p:sp>
      <p:sp>
        <p:nvSpPr>
          <p:cNvPr id="24" name="Shape 22"/>
          <p:cNvSpPr/>
          <p:nvPr/>
        </p:nvSpPr>
        <p:spPr>
          <a:xfrm>
            <a:off x="6094476" y="4041648"/>
            <a:ext cx="0" cy="182880"/>
          </a:xfrm>
          <a:prstGeom prst="line">
            <a:avLst/>
          </a:prstGeom>
          <a:noFill/>
          <a:ln w="19050">
            <a:solidFill>
              <a:srgbClr val="0E7C86"/>
            </a:solidFill>
            <a:prstDash val="solid"/>
            <a:tailEnd type="triangle"/>
          </a:ln>
        </p:spPr>
      </p:sp>
      <p:sp>
        <p:nvSpPr>
          <p:cNvPr id="25" name="Shape 23"/>
          <p:cNvSpPr/>
          <p:nvPr/>
        </p:nvSpPr>
        <p:spPr>
          <a:xfrm>
            <a:off x="3991356" y="4224528"/>
            <a:ext cx="4206240" cy="502920"/>
          </a:xfrm>
          <a:prstGeom prst="roundRect">
            <a:avLst>
              <a:gd name="adj" fmla="val 18182"/>
            </a:avLst>
          </a:prstGeom>
          <a:solidFill>
            <a:srgbClr val="FFFFFF"/>
          </a:solidFill>
          <a:ln w="12700">
            <a:solidFill>
              <a:srgbClr val="C9D6D1"/>
            </a:solidFill>
            <a:prstDash val="solid"/>
          </a:ln>
          <a:effectLst>
            <a:outerShdw blurRad="127000" dist="25400" dir="5400000" algn="bl" rotWithShape="0">
              <a:srgbClr val="11302A">
                <a:alpha val="10000"/>
              </a:srgbClr>
            </a:outerShdw>
          </a:effectLst>
        </p:spPr>
      </p:sp>
      <p:sp>
        <p:nvSpPr>
          <p:cNvPr id="26" name="Text 24"/>
          <p:cNvSpPr txBox="1"/>
          <p:nvPr/>
        </p:nvSpPr>
        <p:spPr>
          <a:xfrm>
            <a:off x="4082796" y="4224528"/>
            <a:ext cx="4023360" cy="502920"/>
          </a:xfrm>
          <a:prstGeom prst="rect">
            <a:avLst/>
          </a:prstGeom>
          <a:noFill/>
          <a:ln/>
        </p:spPr>
        <p:txBody>
          <a:bodyPr wrap="square" lIns="0" tIns="0" rIns="0" bIns="0" rtlCol="0" anchor="ctr"/>
          <a:lstStyle/>
          <a:p>
            <a:pPr marL="0" indent="0" algn="ctr">
              <a:lnSpc>
                <a:spcPct val="105000"/>
              </a:lnSpc>
              <a:buNone/>
            </a:pPr>
            <a:r>
              <a:rPr lang="en-US" sz="1300" b="1" dirty="0">
                <a:solidFill>
                  <a:srgbClr val="13312A"/>
                </a:solidFill>
                <a:latin typeface="Calibri" pitchFamily="34" charset="0"/>
                <a:ea typeface="Calibri" pitchFamily="34" charset="-122"/>
                <a:cs typeface="Calibri" pitchFamily="34" charset="-120"/>
              </a:rPr>
              <a:t>Dataset multimodal alineado en el tiempo</a:t>
            </a:r>
            <a:endParaRPr lang="en-US" sz="1300" dirty="0"/>
          </a:p>
        </p:txBody>
      </p:sp>
      <p:sp>
        <p:nvSpPr>
          <p:cNvPr id="27" name="Shape 25"/>
          <p:cNvSpPr/>
          <p:nvPr/>
        </p:nvSpPr>
        <p:spPr>
          <a:xfrm>
            <a:off x="6094476" y="4727448"/>
            <a:ext cx="0" cy="182880"/>
          </a:xfrm>
          <a:prstGeom prst="line">
            <a:avLst/>
          </a:prstGeom>
          <a:noFill/>
          <a:ln w="19050">
            <a:solidFill>
              <a:srgbClr val="0E7C86"/>
            </a:solidFill>
            <a:prstDash val="solid"/>
            <a:tailEnd type="triangle"/>
          </a:ln>
        </p:spPr>
      </p:sp>
      <p:sp>
        <p:nvSpPr>
          <p:cNvPr id="28" name="Shape 26"/>
          <p:cNvSpPr/>
          <p:nvPr/>
        </p:nvSpPr>
        <p:spPr>
          <a:xfrm>
            <a:off x="3991356" y="4910328"/>
            <a:ext cx="4206240" cy="502920"/>
          </a:xfrm>
          <a:prstGeom prst="roundRect">
            <a:avLst>
              <a:gd name="adj" fmla="val 18182"/>
            </a:avLst>
          </a:prstGeom>
          <a:solidFill>
            <a:srgbClr val="0E7C86"/>
          </a:solidFill>
          <a:ln w="12700">
            <a:solidFill>
              <a:srgbClr val="0E7C86"/>
            </a:solidFill>
            <a:prstDash val="solid"/>
          </a:ln>
          <a:effectLst>
            <a:outerShdw blurRad="127000" dist="25400" dir="5400000" algn="bl" rotWithShape="0">
              <a:srgbClr val="11302A">
                <a:alpha val="10000"/>
              </a:srgbClr>
            </a:outerShdw>
          </a:effectLst>
        </p:spPr>
      </p:sp>
      <p:sp>
        <p:nvSpPr>
          <p:cNvPr id="29" name="Text 27"/>
          <p:cNvSpPr txBox="1"/>
          <p:nvPr/>
        </p:nvSpPr>
        <p:spPr>
          <a:xfrm>
            <a:off x="4082796" y="4910328"/>
            <a:ext cx="4023360" cy="502920"/>
          </a:xfrm>
          <a:prstGeom prst="rect">
            <a:avLst/>
          </a:prstGeom>
          <a:noFill/>
          <a:ln/>
        </p:spPr>
        <p:txBody>
          <a:bodyPr wrap="square" lIns="0" tIns="0" rIns="0" bIns="0" rtlCol="0" anchor="ctr"/>
          <a:lstStyle/>
          <a:p>
            <a:pPr marL="0" indent="0" algn="ctr">
              <a:lnSpc>
                <a:spcPct val="105000"/>
              </a:lnSpc>
              <a:buNone/>
            </a:pPr>
            <a:r>
              <a:rPr lang="en-US" sz="1300" b="1" dirty="0">
                <a:solidFill>
                  <a:srgbClr val="FFFFFF"/>
                </a:solidFill>
                <a:latin typeface="Calibri" pitchFamily="34" charset="0"/>
                <a:ea typeface="Calibri" pitchFamily="34" charset="-122"/>
                <a:cs typeface="Calibri" pitchFamily="34" charset="-120"/>
              </a:rPr>
              <a:t>Modelo de Ciencia de Datos</a:t>
            </a:r>
            <a:endParaRPr lang="en-US" sz="1300" dirty="0"/>
          </a:p>
        </p:txBody>
      </p:sp>
      <p:sp>
        <p:nvSpPr>
          <p:cNvPr id="30" name="Shape 28"/>
          <p:cNvSpPr/>
          <p:nvPr/>
        </p:nvSpPr>
        <p:spPr>
          <a:xfrm>
            <a:off x="6094476" y="5413248"/>
            <a:ext cx="0" cy="182880"/>
          </a:xfrm>
          <a:prstGeom prst="line">
            <a:avLst/>
          </a:prstGeom>
          <a:noFill/>
          <a:ln w="19050">
            <a:solidFill>
              <a:srgbClr val="0E7C86"/>
            </a:solidFill>
            <a:prstDash val="solid"/>
            <a:tailEnd type="triangle"/>
          </a:ln>
        </p:spPr>
      </p:sp>
      <p:sp>
        <p:nvSpPr>
          <p:cNvPr id="31" name="Shape 29"/>
          <p:cNvSpPr/>
          <p:nvPr/>
        </p:nvSpPr>
        <p:spPr>
          <a:xfrm>
            <a:off x="3808476" y="5596128"/>
            <a:ext cx="4572000" cy="566928"/>
          </a:xfrm>
          <a:prstGeom prst="roundRect">
            <a:avLst>
              <a:gd name="adj" fmla="val 16129"/>
            </a:avLst>
          </a:prstGeom>
          <a:solidFill>
            <a:srgbClr val="C68B18"/>
          </a:solidFill>
          <a:ln w="12700">
            <a:solidFill>
              <a:srgbClr val="C68B18"/>
            </a:solidFill>
            <a:prstDash val="solid"/>
          </a:ln>
          <a:effectLst>
            <a:outerShdw blurRad="127000" dist="25400" dir="5400000" algn="bl" rotWithShape="0">
              <a:srgbClr val="11302A">
                <a:alpha val="10000"/>
              </a:srgbClr>
            </a:outerShdw>
          </a:effectLst>
        </p:spPr>
      </p:sp>
      <p:sp>
        <p:nvSpPr>
          <p:cNvPr id="32" name="Text 30"/>
          <p:cNvSpPr txBox="1"/>
          <p:nvPr/>
        </p:nvSpPr>
        <p:spPr>
          <a:xfrm>
            <a:off x="3899916" y="5596128"/>
            <a:ext cx="4389120" cy="566928"/>
          </a:xfrm>
          <a:prstGeom prst="rect">
            <a:avLst/>
          </a:prstGeom>
          <a:noFill/>
          <a:ln/>
        </p:spPr>
        <p:txBody>
          <a:bodyPr wrap="square" lIns="0" tIns="0" rIns="0" bIns="0" rtlCol="0" anchor="ctr"/>
          <a:lstStyle/>
          <a:p>
            <a:pPr marL="0" indent="0" algn="ctr">
              <a:lnSpc>
                <a:spcPct val="105000"/>
              </a:lnSpc>
              <a:buNone/>
            </a:pPr>
            <a:r>
              <a:rPr lang="en-US" sz="1300" b="1" dirty="0">
                <a:solidFill>
                  <a:srgbClr val="FFFFFF"/>
                </a:solidFill>
                <a:latin typeface="Calibri" pitchFamily="34" charset="0"/>
                <a:ea typeface="Calibri" pitchFamily="34" charset="-122"/>
                <a:cs typeface="Calibri" pitchFamily="34" charset="-120"/>
              </a:rPr>
              <a:t>Recomendación de riego + explicación</a:t>
            </a:r>
            <a:endParaRPr lang="en-US" sz="1300" dirty="0"/>
          </a:p>
        </p:txBody>
      </p:sp>
      <p:sp>
        <p:nvSpPr>
          <p:cNvPr id="33" name="Text 31"/>
          <p:cNvSpPr txBox="1"/>
          <p:nvPr/>
        </p:nvSpPr>
        <p:spPr>
          <a:xfrm>
            <a:off x="685800" y="4343400"/>
            <a:ext cx="2468880" cy="1097280"/>
          </a:xfrm>
          <a:prstGeom prst="rect">
            <a:avLst/>
          </a:prstGeom>
          <a:noFill/>
          <a:ln/>
        </p:spPr>
        <p:txBody>
          <a:bodyPr wrap="square" lIns="0" tIns="0" rIns="0" bIns="0" rtlCol="0" anchor="ctr"/>
          <a:lstStyle/>
          <a:p>
            <a:pPr marL="0" indent="0">
              <a:lnSpc>
                <a:spcPct val="115000"/>
              </a:lnSpc>
              <a:buNone/>
            </a:pPr>
            <a:r>
              <a:rPr lang="en-US" sz="1200" i="1" dirty="0">
                <a:solidFill>
                  <a:srgbClr val="5F6F69"/>
                </a:solidFill>
                <a:latin typeface="Calibri" pitchFamily="34" charset="0"/>
                <a:ea typeface="Calibri" pitchFamily="34" charset="-122"/>
                <a:cs typeface="Calibri" pitchFamily="34" charset="-120"/>
              </a:rPr>
              <a:t>Cada componente aporta</a:t>
            </a:r>
            <a:endParaRPr lang="en-US" sz="1200" dirty="0"/>
          </a:p>
          <a:p>
            <a:pPr marL="0" indent="0">
              <a:lnSpc>
                <a:spcPct val="115000"/>
              </a:lnSpc>
              <a:buNone/>
            </a:pPr>
            <a:r>
              <a:rPr lang="en-US" sz="1200" i="1" dirty="0">
                <a:solidFill>
                  <a:srgbClr val="5F6F69"/>
                </a:solidFill>
                <a:latin typeface="Calibri" pitchFamily="34" charset="0"/>
                <a:ea typeface="Calibri" pitchFamily="34" charset="-122"/>
                <a:cs typeface="Calibri" pitchFamily="34" charset="-120"/>
              </a:rPr>
              <a:t>una parte de la información.</a:t>
            </a:r>
            <a:endParaRPr lang="en-US" sz="1200" dirty="0"/>
          </a:p>
          <a:p>
            <a:pPr marL="0" indent="0">
              <a:lnSpc>
                <a:spcPct val="115000"/>
              </a:lnSpc>
              <a:buNone/>
            </a:pPr>
            <a:r>
              <a:rPr lang="en-US" sz="1200" i="1" dirty="0">
                <a:solidFill>
                  <a:srgbClr val="5F6F69"/>
                </a:solidFill>
                <a:latin typeface="Calibri" pitchFamily="34" charset="0"/>
                <a:ea typeface="Calibri" pitchFamily="34" charset="-122"/>
                <a:cs typeface="Calibri" pitchFamily="34" charset="-120"/>
              </a:rPr>
              <a:t>Ninguno decide solo.</a:t>
            </a:r>
            <a:endParaRPr lang="en-US" sz="1200" dirty="0"/>
          </a:p>
        </p:txBody>
      </p:sp>
      <p:sp>
        <p:nvSpPr>
          <p:cNvPr id="34" name="Text 32"/>
          <p:cNvSpPr txBox="1"/>
          <p:nvPr/>
        </p:nvSpPr>
        <p:spPr>
          <a:xfrm>
            <a:off x="9144000" y="4343400"/>
            <a:ext cx="2468880" cy="914400"/>
          </a:xfrm>
          <a:prstGeom prst="rect">
            <a:avLst/>
          </a:prstGeom>
          <a:noFill/>
          <a:ln/>
        </p:spPr>
        <p:txBody>
          <a:bodyPr wrap="square" lIns="0" tIns="0" rIns="0" bIns="0" rtlCol="0" anchor="ctr"/>
          <a:lstStyle/>
          <a:p>
            <a:pPr marL="0" indent="0" algn="r">
              <a:lnSpc>
                <a:spcPct val="115000"/>
              </a:lnSpc>
              <a:buNone/>
            </a:pPr>
            <a:r>
              <a:rPr lang="en-US" sz="1200" i="1" dirty="0">
                <a:solidFill>
                  <a:srgbClr val="5F6F69"/>
                </a:solidFill>
                <a:latin typeface="Calibri" pitchFamily="34" charset="0"/>
                <a:ea typeface="Calibri" pitchFamily="34" charset="-122"/>
                <a:cs typeface="Calibri" pitchFamily="34" charset="-120"/>
              </a:rPr>
              <a:t>El productor recibe la</a:t>
            </a:r>
            <a:endParaRPr lang="en-US" sz="1200" dirty="0"/>
          </a:p>
          <a:p>
            <a:pPr marL="0" indent="0" algn="r">
              <a:lnSpc>
                <a:spcPct val="115000"/>
              </a:lnSpc>
              <a:buNone/>
            </a:pPr>
            <a:r>
              <a:rPr lang="en-US" sz="1200" i="1" dirty="0">
                <a:solidFill>
                  <a:srgbClr val="5F6F69"/>
                </a:solidFill>
                <a:latin typeface="Calibri" pitchFamily="34" charset="0"/>
                <a:ea typeface="Calibri" pitchFamily="34" charset="-122"/>
                <a:cs typeface="Calibri" pitchFamily="34" charset="-120"/>
              </a:rPr>
              <a:t>recomendación y decide.</a:t>
            </a:r>
            <a:endParaRPr lang="en-US" sz="1200" dirty="0"/>
          </a:p>
        </p:txBody>
      </p:sp>
      <p:sp>
        <p:nvSpPr>
          <p:cNvPr id="35" name="Text 33"/>
          <p:cNvSpPr txBox="1"/>
          <p:nvPr/>
        </p:nvSpPr>
        <p:spPr>
          <a:xfrm>
            <a:off x="640080" y="6382512"/>
            <a:ext cx="7315200" cy="274320"/>
          </a:xfrm>
          <a:prstGeom prst="rect">
            <a:avLst/>
          </a:prstGeom>
          <a:noFill/>
          <a:ln/>
        </p:spPr>
        <p:txBody>
          <a:bodyPr wrap="square" lIns="0" tIns="0" rIns="0" bIns="0" rtlCol="0" anchor="ctr"/>
          <a:lstStyle/>
          <a:p>
            <a:pPr marL="0" indent="0">
              <a:buNone/>
            </a:pPr>
            <a:r>
              <a:rPr lang="en-US" sz="950" dirty="0">
                <a:solidFill>
                  <a:srgbClr val="9AAAA4"/>
                </a:solidFill>
                <a:latin typeface="Calibri" pitchFamily="34" charset="0"/>
                <a:ea typeface="Calibri" pitchFamily="34" charset="-122"/>
                <a:cs typeface="Calibri" pitchFamily="34" charset="-120"/>
              </a:rPr>
              <a:t>Vitic AI · Tesis — Licenciatura en Análisis de Datos</a:t>
            </a:r>
            <a:endParaRPr lang="en-US" sz="950" dirty="0"/>
          </a:p>
        </p:txBody>
      </p:sp>
      <p:sp>
        <p:nvSpPr>
          <p:cNvPr id="36" name="Text 34"/>
          <p:cNvSpPr txBox="1"/>
          <p:nvPr/>
        </p:nvSpPr>
        <p:spPr>
          <a:xfrm>
            <a:off x="10634472" y="6382512"/>
            <a:ext cx="914400" cy="274320"/>
          </a:xfrm>
          <a:prstGeom prst="rect">
            <a:avLst/>
          </a:prstGeom>
          <a:noFill/>
          <a:ln/>
        </p:spPr>
        <p:txBody>
          <a:bodyPr wrap="square" lIns="0" tIns="0" rIns="0" bIns="0" rtlCol="0" anchor="ctr"/>
          <a:lstStyle/>
          <a:p>
            <a:pPr marL="0" indent="0" algn="r">
              <a:buNone/>
            </a:pPr>
            <a:r>
              <a:rPr lang="en-US" sz="950" dirty="0">
                <a:solidFill>
                  <a:srgbClr val="9AAAA4"/>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8686800" cy="237744"/>
          </a:xfrm>
          <a:prstGeom prst="rect">
            <a:avLst/>
          </a:prstGeom>
          <a:noFill/>
          <a:ln/>
        </p:spPr>
        <p:txBody>
          <a:bodyPr wrap="square" lIns="0" tIns="0" rIns="0" bIns="0" rtlCol="0" anchor="ctr"/>
          <a:lstStyle/>
          <a:p>
            <a:pPr marL="0" indent="0">
              <a:buNone/>
            </a:pPr>
            <a:r>
              <a:rPr lang="en-US" sz="1150" b="1" kern="0" spc="200" dirty="0">
                <a:solidFill>
                  <a:srgbClr val="0E7C86"/>
                </a:solidFill>
                <a:latin typeface="Calibri" pitchFamily="34" charset="0"/>
                <a:ea typeface="Calibri" pitchFamily="34" charset="-122"/>
                <a:cs typeface="Calibri" pitchFamily="34" charset="-120"/>
              </a:rPr>
              <a:t>COMPONENTE 1 · IOT</a:t>
            </a:r>
            <a:endParaRPr lang="en-US" sz="1150" dirty="0"/>
          </a:p>
        </p:txBody>
      </p:sp>
      <p:sp>
        <p:nvSpPr>
          <p:cNvPr id="3" name="Text 1"/>
          <p:cNvSpPr txBox="1"/>
          <p:nvPr/>
        </p:nvSpPr>
        <p:spPr>
          <a:xfrm>
            <a:off x="640080" y="640080"/>
            <a:ext cx="10607040" cy="566928"/>
          </a:xfrm>
          <a:prstGeom prst="rect">
            <a:avLst/>
          </a:prstGeom>
          <a:noFill/>
          <a:ln/>
        </p:spPr>
        <p:txBody>
          <a:bodyPr wrap="square" lIns="0" tIns="0" rIns="0" bIns="0" rtlCol="0" anchor="ctr"/>
          <a:lstStyle/>
          <a:p>
            <a:pPr marL="0" indent="0">
              <a:buNone/>
            </a:pPr>
            <a:r>
              <a:rPr lang="en-US" sz="3200" b="1" dirty="0">
                <a:solidFill>
                  <a:srgbClr val="13312A"/>
                </a:solidFill>
                <a:latin typeface="Cambria" pitchFamily="34" charset="0"/>
                <a:ea typeface="Cambria" pitchFamily="34" charset="-122"/>
                <a:cs typeface="Cambria" pitchFamily="34" charset="-120"/>
              </a:rPr>
              <a:t>La verdad de campo</a:t>
            </a:r>
            <a:endParaRPr lang="en-US" sz="3200" dirty="0"/>
          </a:p>
        </p:txBody>
      </p:sp>
      <p:sp>
        <p:nvSpPr>
          <p:cNvPr id="4" name="Text 2"/>
          <p:cNvSpPr txBox="1"/>
          <p:nvPr/>
        </p:nvSpPr>
        <p:spPr>
          <a:xfrm>
            <a:off x="640080" y="1261872"/>
            <a:ext cx="10241280" cy="457200"/>
          </a:xfrm>
          <a:prstGeom prst="rect">
            <a:avLst/>
          </a:prstGeom>
          <a:noFill/>
          <a:ln/>
        </p:spPr>
        <p:txBody>
          <a:bodyPr wrap="square" lIns="0" tIns="0" rIns="0" bIns="0" rtlCol="0" anchor="ctr"/>
          <a:lstStyle/>
          <a:p>
            <a:pPr marL="0" indent="0">
              <a:lnSpc>
                <a:spcPct val="110000"/>
              </a:lnSpc>
              <a:buNone/>
            </a:pPr>
            <a:r>
              <a:rPr lang="en-US" sz="1450" dirty="0">
                <a:solidFill>
                  <a:srgbClr val="5F6F69"/>
                </a:solidFill>
                <a:latin typeface="Calibri" pitchFamily="34" charset="0"/>
                <a:ea typeface="Calibri" pitchFamily="34" charset="-122"/>
                <a:cs typeface="Calibri" pitchFamily="34" charset="-120"/>
              </a:rPr>
              <a:t>¿Qué está pasando ahora mismo en el terreno?</a:t>
            </a:r>
            <a:endParaRPr lang="en-US" sz="1450" dirty="0"/>
          </a:p>
        </p:txBody>
      </p:sp>
      <p:sp>
        <p:nvSpPr>
          <p:cNvPr id="5" name="Shape 3"/>
          <p:cNvSpPr/>
          <p:nvPr/>
        </p:nvSpPr>
        <p:spPr>
          <a:xfrm>
            <a:off x="9674352" y="402336"/>
            <a:ext cx="1874520" cy="310896"/>
          </a:xfrm>
          <a:prstGeom prst="roundRect">
            <a:avLst>
              <a:gd name="adj" fmla="val 50000"/>
            </a:avLst>
          </a:prstGeom>
          <a:solidFill>
            <a:srgbClr val="0E7C86"/>
          </a:solidFill>
          <a:ln w="12700">
            <a:solidFill>
              <a:srgbClr val="0E7C86"/>
            </a:solidFill>
            <a:prstDash val="solid"/>
          </a:ln>
        </p:spPr>
      </p:sp>
      <p:sp>
        <p:nvSpPr>
          <p:cNvPr id="6" name="Text 4"/>
          <p:cNvSpPr txBox="1"/>
          <p:nvPr/>
        </p:nvSpPr>
        <p:spPr>
          <a:xfrm>
            <a:off x="9674352" y="402336"/>
            <a:ext cx="1874520"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Maqueta implementada</a:t>
            </a:r>
            <a:endParaRPr lang="en-US" sz="1050" dirty="0"/>
          </a:p>
        </p:txBody>
      </p:sp>
      <p:sp>
        <p:nvSpPr>
          <p:cNvPr id="7" name="Shape 5"/>
          <p:cNvSpPr/>
          <p:nvPr/>
        </p:nvSpPr>
        <p:spPr>
          <a:xfrm>
            <a:off x="640080" y="1965960"/>
            <a:ext cx="6035040" cy="3794760"/>
          </a:xfrm>
          <a:prstGeom prst="roundRect">
            <a:avLst>
              <a:gd name="adj" fmla="val 2892"/>
            </a:avLst>
          </a:prstGeom>
          <a:solidFill>
            <a:srgbClr val="E9F1EB"/>
          </a:solidFill>
          <a:ln w="12700">
            <a:solidFill>
              <a:srgbClr val="E9F1EB"/>
            </a:solidFill>
            <a:prstDash val="solid"/>
          </a:ln>
          <a:effectLst>
            <a:outerShdw blurRad="127000" dist="25400" dir="5400000" algn="bl" rotWithShape="0">
              <a:srgbClr val="11302A">
                <a:alpha val="10000"/>
              </a:srgbClr>
            </a:outerShdw>
          </a:effectLst>
        </p:spPr>
      </p:sp>
      <p:sp>
        <p:nvSpPr>
          <p:cNvPr id="8" name="Text 6"/>
          <p:cNvSpPr txBox="1"/>
          <p:nvPr/>
        </p:nvSpPr>
        <p:spPr>
          <a:xfrm>
            <a:off x="1005840" y="2212848"/>
            <a:ext cx="5303520" cy="320040"/>
          </a:xfrm>
          <a:prstGeom prst="rect">
            <a:avLst/>
          </a:prstGeom>
          <a:noFill/>
          <a:ln/>
        </p:spPr>
        <p:txBody>
          <a:bodyPr wrap="square" lIns="0" tIns="0" rIns="0" bIns="0" rtlCol="0" anchor="ctr"/>
          <a:lstStyle/>
          <a:p>
            <a:pPr marL="0" indent="0">
              <a:buNone/>
            </a:pPr>
            <a:r>
              <a:rPr lang="en-US" sz="1400" b="1" dirty="0">
                <a:solidFill>
                  <a:srgbClr val="0E7C86"/>
                </a:solidFill>
                <a:latin typeface="Calibri" pitchFamily="34" charset="0"/>
                <a:ea typeface="Calibri" pitchFamily="34" charset="-122"/>
                <a:cs typeface="Calibri" pitchFamily="34" charset="-120"/>
              </a:rPr>
              <a:t>Variables que medimos hoy</a:t>
            </a:r>
            <a:endParaRPr lang="en-US" sz="1400" dirty="0"/>
          </a:p>
        </p:txBody>
      </p:sp>
      <p:sp>
        <p:nvSpPr>
          <p:cNvPr id="9" name="Text 7"/>
          <p:cNvSpPr txBox="1"/>
          <p:nvPr/>
        </p:nvSpPr>
        <p:spPr>
          <a:xfrm>
            <a:off x="1005840" y="2697480"/>
            <a:ext cx="5303520" cy="2834640"/>
          </a:xfrm>
          <a:prstGeom prst="rect">
            <a:avLst/>
          </a:prstGeom>
          <a:noFill/>
          <a:ln/>
        </p:spPr>
        <p:txBody>
          <a:bodyPr wrap="square" lIns="0" tIns="0" rIns="0" bIns="0" rtlCol="0" anchor="ctr"/>
          <a:lstStyle/>
          <a:p>
            <a:pPr marL="342900" indent="-342900">
              <a:lnSpc>
                <a:spcPct val="105000"/>
              </a:lnSpc>
              <a:spcAft>
                <a:spcPts val="1100"/>
              </a:spcAft>
              <a:buSzPct val="100000"/>
              <a:buChar char="•"/>
            </a:pPr>
            <a:r>
              <a:rPr lang="en-US" sz="1400" dirty="0">
                <a:solidFill>
                  <a:srgbClr val="1F2A26"/>
                </a:solidFill>
                <a:latin typeface="Calibri" pitchFamily="34" charset="0"/>
                <a:ea typeface="Calibri" pitchFamily="34" charset="-122"/>
                <a:cs typeface="Calibri" pitchFamily="34" charset="-120"/>
              </a:rPr>
              <a:t>Humedad del suelo</a:t>
            </a:r>
            <a:endParaRPr lang="en-US" sz="1400" dirty="0"/>
          </a:p>
          <a:p>
            <a:pPr marL="342900" indent="-342900">
              <a:lnSpc>
                <a:spcPct val="105000"/>
              </a:lnSpc>
              <a:spcAft>
                <a:spcPts val="1100"/>
              </a:spcAft>
              <a:buSzPct val="100000"/>
              <a:buChar char="•"/>
            </a:pPr>
            <a:r>
              <a:rPr lang="en-US" sz="1400" dirty="0">
                <a:solidFill>
                  <a:srgbClr val="1F2A26"/>
                </a:solidFill>
                <a:latin typeface="Calibri" pitchFamily="34" charset="0"/>
                <a:ea typeface="Calibri" pitchFamily="34" charset="-122"/>
                <a:cs typeface="Calibri" pitchFamily="34" charset="-120"/>
              </a:rPr>
              <a:t>Temperatura ambiente</a:t>
            </a:r>
            <a:endParaRPr lang="en-US" sz="1400" dirty="0"/>
          </a:p>
          <a:p>
            <a:pPr marL="342900" indent="-342900">
              <a:lnSpc>
                <a:spcPct val="105000"/>
              </a:lnSpc>
              <a:spcAft>
                <a:spcPts val="1100"/>
              </a:spcAft>
              <a:buSzPct val="100000"/>
              <a:buChar char="•"/>
            </a:pPr>
            <a:r>
              <a:rPr lang="en-US" sz="1400" dirty="0">
                <a:solidFill>
                  <a:srgbClr val="1F2A26"/>
                </a:solidFill>
                <a:latin typeface="Calibri" pitchFamily="34" charset="0"/>
                <a:ea typeface="Calibri" pitchFamily="34" charset="-122"/>
                <a:cs typeface="Calibri" pitchFamily="34" charset="-120"/>
              </a:rPr>
              <a:t>Humedad relativa del ambiente</a:t>
            </a:r>
            <a:endParaRPr lang="en-US" sz="1400" dirty="0"/>
          </a:p>
          <a:p>
            <a:pPr marL="342900" indent="-342900">
              <a:lnSpc>
                <a:spcPct val="105000"/>
              </a:lnSpc>
              <a:spcAft>
                <a:spcPts val="1100"/>
              </a:spcAft>
              <a:buSzPct val="100000"/>
              <a:buChar char="•"/>
            </a:pPr>
            <a:r>
              <a:rPr lang="en-US" sz="1400" dirty="0">
                <a:solidFill>
                  <a:srgbClr val="1F2A26"/>
                </a:solidFill>
                <a:latin typeface="Calibri" pitchFamily="34" charset="0"/>
                <a:ea typeface="Calibri" pitchFamily="34" charset="-122"/>
                <a:cs typeface="Calibri" pitchFamily="34" charset="-120"/>
              </a:rPr>
              <a:t>Velocidad del viento</a:t>
            </a:r>
            <a:endParaRPr lang="en-US" sz="1400" dirty="0"/>
          </a:p>
          <a:p>
            <a:pPr marL="342900" indent="-342900">
              <a:lnSpc>
                <a:spcPct val="105000"/>
              </a:lnSpc>
              <a:spcAft>
                <a:spcPts val="1100"/>
              </a:spcAft>
              <a:buSzPct val="100000"/>
              <a:buChar char="•"/>
            </a:pPr>
            <a:r>
              <a:rPr lang="en-US" sz="1400" dirty="0">
                <a:solidFill>
                  <a:srgbClr val="1F2A26"/>
                </a:solidFill>
                <a:latin typeface="Calibri" pitchFamily="34" charset="0"/>
                <a:ea typeface="Calibri" pitchFamily="34" charset="-122"/>
                <a:cs typeface="Calibri" pitchFamily="34" charset="-120"/>
              </a:rPr>
              <a:t>Caudal de agua</a:t>
            </a:r>
            <a:endParaRPr lang="en-US" sz="1400" dirty="0"/>
          </a:p>
          <a:p>
            <a:pPr marL="342900" indent="-342900">
              <a:lnSpc>
                <a:spcPct val="105000"/>
              </a:lnSpc>
              <a:spcAft>
                <a:spcPts val="1100"/>
              </a:spcAft>
              <a:buSzPct val="100000"/>
              <a:buChar char="•"/>
            </a:pPr>
            <a:r>
              <a:rPr lang="en-US" sz="1400" dirty="0">
                <a:solidFill>
                  <a:srgbClr val="1F2A26"/>
                </a:solidFill>
                <a:latin typeface="Calibri" pitchFamily="34" charset="0"/>
                <a:ea typeface="Calibri" pitchFamily="34" charset="-122"/>
                <a:cs typeface="Calibri" pitchFamily="34" charset="-120"/>
              </a:rPr>
              <a:t>Volumen de agua utilizado</a:t>
            </a:r>
            <a:endParaRPr lang="en-US" sz="1400" dirty="0"/>
          </a:p>
          <a:p>
            <a:pPr marL="342900" indent="-342900">
              <a:lnSpc>
                <a:spcPct val="105000"/>
              </a:lnSpc>
              <a:spcAft>
                <a:spcPts val="1100"/>
              </a:spcAft>
              <a:buSzPct val="100000"/>
              <a:buChar char="•"/>
            </a:pPr>
            <a:r>
              <a:rPr lang="en-US" sz="1400" dirty="0">
                <a:solidFill>
                  <a:srgbClr val="1F2A26"/>
                </a:solidFill>
                <a:latin typeface="Calibri" pitchFamily="34" charset="0"/>
                <a:ea typeface="Calibri" pitchFamily="34" charset="-122"/>
                <a:cs typeface="Calibri" pitchFamily="34" charset="-120"/>
              </a:rPr>
              <a:t>Estado de la electroválvula</a:t>
            </a:r>
            <a:endParaRPr lang="en-US" sz="1400" dirty="0"/>
          </a:p>
        </p:txBody>
      </p:sp>
      <p:sp>
        <p:nvSpPr>
          <p:cNvPr id="10" name="Shape 8"/>
          <p:cNvSpPr/>
          <p:nvPr/>
        </p:nvSpPr>
        <p:spPr>
          <a:xfrm>
            <a:off x="7040880" y="1965960"/>
            <a:ext cx="4507992" cy="1828800"/>
          </a:xfrm>
          <a:prstGeom prst="roundRect">
            <a:avLst>
              <a:gd name="adj" fmla="val 6000"/>
            </a:avLst>
          </a:prstGeom>
          <a:solidFill>
            <a:srgbClr val="E2F1F2"/>
          </a:solidFill>
          <a:ln w="12700">
            <a:solidFill>
              <a:srgbClr val="E2F1F2"/>
            </a:solidFill>
            <a:prstDash val="solid"/>
          </a:ln>
          <a:effectLst>
            <a:outerShdw blurRad="127000" dist="25400" dir="5400000" algn="bl" rotWithShape="0">
              <a:srgbClr val="11302A">
                <a:alpha val="10000"/>
              </a:srgbClr>
            </a:outerShdw>
          </a:effectLst>
        </p:spPr>
      </p:sp>
      <p:sp>
        <p:nvSpPr>
          <p:cNvPr id="11" name="Text 9"/>
          <p:cNvSpPr txBox="1"/>
          <p:nvPr/>
        </p:nvSpPr>
        <p:spPr>
          <a:xfrm>
            <a:off x="7406640" y="2148840"/>
            <a:ext cx="3776472" cy="274320"/>
          </a:xfrm>
          <a:prstGeom prst="rect">
            <a:avLst/>
          </a:prstGeom>
          <a:noFill/>
          <a:ln/>
        </p:spPr>
        <p:txBody>
          <a:bodyPr wrap="square" lIns="0" tIns="0" rIns="0" bIns="0" rtlCol="0" anchor="ctr"/>
          <a:lstStyle/>
          <a:p>
            <a:pPr marL="0" indent="0">
              <a:buNone/>
            </a:pPr>
            <a:r>
              <a:rPr lang="en-US" sz="1400" b="1" dirty="0">
                <a:solidFill>
                  <a:srgbClr val="0A5D65"/>
                </a:solidFill>
                <a:latin typeface="Calibri" pitchFamily="34" charset="0"/>
                <a:ea typeface="Calibri" pitchFamily="34" charset="-122"/>
                <a:cs typeface="Calibri" pitchFamily="34" charset="-120"/>
              </a:rPr>
              <a:t>Su rol en el sistema</a:t>
            </a:r>
            <a:endParaRPr lang="en-US" sz="1400" dirty="0"/>
          </a:p>
        </p:txBody>
      </p:sp>
      <p:sp>
        <p:nvSpPr>
          <p:cNvPr id="12" name="Text 10"/>
          <p:cNvSpPr txBox="1"/>
          <p:nvPr/>
        </p:nvSpPr>
        <p:spPr>
          <a:xfrm>
            <a:off x="7406640" y="2468880"/>
            <a:ext cx="3776472" cy="594360"/>
          </a:xfrm>
          <a:prstGeom prst="rect">
            <a:avLst/>
          </a:prstGeom>
          <a:noFill/>
          <a:ln/>
        </p:spPr>
        <p:txBody>
          <a:bodyPr wrap="square" lIns="0" tIns="0" rIns="0" bIns="0" rtlCol="0" anchor="ctr"/>
          <a:lstStyle/>
          <a:p>
            <a:pPr marL="0" indent="0">
              <a:lnSpc>
                <a:spcPct val="110000"/>
              </a:lnSpc>
              <a:buNone/>
            </a:pPr>
            <a:r>
              <a:rPr lang="en-US" sz="1400" b="1" dirty="0">
                <a:solidFill>
                  <a:srgbClr val="13312A"/>
                </a:solidFill>
                <a:latin typeface="Cambria" pitchFamily="34" charset="0"/>
                <a:ea typeface="Cambria" pitchFamily="34" charset="-122"/>
                <a:cs typeface="Cambria" pitchFamily="34" charset="-120"/>
              </a:rPr>
              <a:t>mide  →  transmite  →  permite actuar sobre la válvula</a:t>
            </a:r>
            <a:endParaRPr lang="en-US" sz="1400" dirty="0"/>
          </a:p>
        </p:txBody>
      </p:sp>
      <p:sp>
        <p:nvSpPr>
          <p:cNvPr id="13" name="Text 11"/>
          <p:cNvSpPr txBox="1"/>
          <p:nvPr/>
        </p:nvSpPr>
        <p:spPr>
          <a:xfrm>
            <a:off x="7406640" y="3127248"/>
            <a:ext cx="3776472" cy="502920"/>
          </a:xfrm>
          <a:prstGeom prst="rect">
            <a:avLst/>
          </a:prstGeom>
          <a:noFill/>
          <a:ln/>
        </p:spPr>
        <p:txBody>
          <a:bodyPr wrap="square" lIns="0" tIns="0" rIns="0" bIns="0" rtlCol="0" anchor="ctr"/>
          <a:lstStyle/>
          <a:p>
            <a:pPr marL="0" indent="0">
              <a:lnSpc>
                <a:spcPct val="110000"/>
              </a:lnSpc>
              <a:buNone/>
            </a:pPr>
            <a:r>
              <a:rPr lang="en-US" sz="1250" dirty="0">
                <a:solidFill>
                  <a:srgbClr val="5F6F69"/>
                </a:solidFill>
                <a:latin typeface="Calibri" pitchFamily="34" charset="0"/>
                <a:ea typeface="Calibri" pitchFamily="34" charset="-122"/>
                <a:cs typeface="Calibri" pitchFamily="34" charset="-120"/>
              </a:rPr>
              <a:t>Es la única fuente que observa directamente el suelo del lote.</a:t>
            </a:r>
            <a:endParaRPr lang="en-US" sz="1250" dirty="0"/>
          </a:p>
        </p:txBody>
      </p:sp>
      <p:sp>
        <p:nvSpPr>
          <p:cNvPr id="14" name="Shape 12"/>
          <p:cNvSpPr/>
          <p:nvPr/>
        </p:nvSpPr>
        <p:spPr>
          <a:xfrm>
            <a:off x="7040880" y="3977640"/>
            <a:ext cx="4507992" cy="1783080"/>
          </a:xfrm>
          <a:prstGeom prst="roundRect">
            <a:avLst>
              <a:gd name="adj" fmla="val 6154"/>
            </a:avLst>
          </a:prstGeom>
          <a:solidFill>
            <a:srgbClr val="FAEEDA"/>
          </a:solidFill>
          <a:ln w="12700">
            <a:solidFill>
              <a:srgbClr val="FAEEDA"/>
            </a:solidFill>
            <a:prstDash val="solid"/>
          </a:ln>
          <a:effectLst>
            <a:outerShdw blurRad="127000" dist="25400" dir="5400000" algn="bl" rotWithShape="0">
              <a:srgbClr val="11302A">
                <a:alpha val="10000"/>
              </a:srgbClr>
            </a:outerShdw>
          </a:effectLst>
        </p:spPr>
      </p:sp>
      <p:sp>
        <p:nvSpPr>
          <p:cNvPr id="15" name="Text 13"/>
          <p:cNvSpPr txBox="1"/>
          <p:nvPr/>
        </p:nvSpPr>
        <p:spPr>
          <a:xfrm>
            <a:off x="7406640" y="4160520"/>
            <a:ext cx="3776472" cy="274320"/>
          </a:xfrm>
          <a:prstGeom prst="rect">
            <a:avLst/>
          </a:prstGeom>
          <a:noFill/>
          <a:ln/>
        </p:spPr>
        <p:txBody>
          <a:bodyPr wrap="square" lIns="0" tIns="0" rIns="0" bIns="0" rtlCol="0" anchor="ctr"/>
          <a:lstStyle/>
          <a:p>
            <a:pPr marL="0" indent="0">
              <a:buNone/>
            </a:pPr>
            <a:r>
              <a:rPr lang="en-US" sz="1400" b="1" dirty="0">
                <a:solidFill>
                  <a:srgbClr val="7A5310"/>
                </a:solidFill>
                <a:latin typeface="Calibri" pitchFamily="34" charset="0"/>
                <a:ea typeface="Calibri" pitchFamily="34" charset="-122"/>
                <a:cs typeface="Calibri" pitchFamily="34" charset="-120"/>
              </a:rPr>
              <a:t>Qué no hace el IoT</a:t>
            </a:r>
            <a:endParaRPr lang="en-US" sz="1400" dirty="0"/>
          </a:p>
        </p:txBody>
      </p:sp>
      <p:sp>
        <p:nvSpPr>
          <p:cNvPr id="16" name="Text 14"/>
          <p:cNvSpPr txBox="1"/>
          <p:nvPr/>
        </p:nvSpPr>
        <p:spPr>
          <a:xfrm>
            <a:off x="7406640" y="4526280"/>
            <a:ext cx="3776472" cy="1143000"/>
          </a:xfrm>
          <a:prstGeom prst="rect">
            <a:avLst/>
          </a:prstGeom>
          <a:noFill/>
          <a:ln/>
        </p:spPr>
        <p:txBody>
          <a:bodyPr wrap="square" lIns="0" tIns="0" rIns="0" bIns="0" rtlCol="0" anchor="ctr"/>
          <a:lstStyle/>
          <a:p>
            <a:pPr marL="342900" indent="-342900">
              <a:lnSpc>
                <a:spcPct val="105000"/>
              </a:lnSpc>
              <a:spcAft>
                <a:spcPts val="800"/>
              </a:spcAft>
              <a:buSzPct val="100000"/>
              <a:buChar char="•"/>
            </a:pPr>
            <a:r>
              <a:rPr lang="en-US" sz="1250" dirty="0">
                <a:solidFill>
                  <a:srgbClr val="1F2A26"/>
                </a:solidFill>
                <a:latin typeface="Calibri" pitchFamily="34" charset="0"/>
                <a:ea typeface="Calibri" pitchFamily="34" charset="-122"/>
                <a:cs typeface="Calibri" pitchFamily="34" charset="-120"/>
              </a:rPr>
              <a:t>No realiza el análisis científico final.</a:t>
            </a:r>
            <a:endParaRPr lang="en-US" sz="1250" dirty="0"/>
          </a:p>
          <a:p>
            <a:pPr marL="342900" indent="-342900">
              <a:lnSpc>
                <a:spcPct val="105000"/>
              </a:lnSpc>
              <a:spcAft>
                <a:spcPts val="800"/>
              </a:spcAft>
              <a:buSzPct val="100000"/>
              <a:buChar char="•"/>
            </a:pPr>
            <a:r>
              <a:rPr lang="en-US" sz="1250" dirty="0">
                <a:solidFill>
                  <a:srgbClr val="1F2A26"/>
                </a:solidFill>
                <a:latin typeface="Calibri" pitchFamily="34" charset="0"/>
                <a:ea typeface="Calibri" pitchFamily="34" charset="-122"/>
                <a:cs typeface="Calibri" pitchFamily="34" charset="-120"/>
              </a:rPr>
              <a:t>No decide por sí solo cuánto ni cuándo regar.</a:t>
            </a:r>
            <a:endParaRPr lang="en-US" sz="1250" dirty="0"/>
          </a:p>
          <a:p>
            <a:pPr marL="342900" indent="-342900">
              <a:lnSpc>
                <a:spcPct val="105000"/>
              </a:lnSpc>
              <a:spcAft>
                <a:spcPts val="800"/>
              </a:spcAft>
              <a:buSzPct val="100000"/>
              <a:buChar char="•"/>
            </a:pPr>
            <a:r>
              <a:rPr lang="en-US" sz="1250" dirty="0">
                <a:solidFill>
                  <a:srgbClr val="1F2A26"/>
                </a:solidFill>
                <a:latin typeface="Calibri" pitchFamily="34" charset="0"/>
                <a:ea typeface="Calibri" pitchFamily="34" charset="-122"/>
                <a:cs typeface="Calibri" pitchFamily="34" charset="-120"/>
              </a:rPr>
              <a:t>Aporta datos reales del sector productivo.</a:t>
            </a:r>
            <a:endParaRPr lang="en-US" sz="1250" dirty="0"/>
          </a:p>
        </p:txBody>
      </p:sp>
      <p:sp>
        <p:nvSpPr>
          <p:cNvPr id="17" name="Text 15"/>
          <p:cNvSpPr txBox="1"/>
          <p:nvPr/>
        </p:nvSpPr>
        <p:spPr>
          <a:xfrm>
            <a:off x="640080" y="6382512"/>
            <a:ext cx="7315200" cy="274320"/>
          </a:xfrm>
          <a:prstGeom prst="rect">
            <a:avLst/>
          </a:prstGeom>
          <a:noFill/>
          <a:ln/>
        </p:spPr>
        <p:txBody>
          <a:bodyPr wrap="square" lIns="0" tIns="0" rIns="0" bIns="0" rtlCol="0" anchor="ctr"/>
          <a:lstStyle/>
          <a:p>
            <a:pPr marL="0" indent="0">
              <a:buNone/>
            </a:pPr>
            <a:r>
              <a:rPr lang="en-US" sz="950" dirty="0">
                <a:solidFill>
                  <a:srgbClr val="9AAAA4"/>
                </a:solidFill>
                <a:latin typeface="Calibri" pitchFamily="34" charset="0"/>
                <a:ea typeface="Calibri" pitchFamily="34" charset="-122"/>
                <a:cs typeface="Calibri" pitchFamily="34" charset="-120"/>
              </a:rPr>
              <a:t>Vitic AI · Tesis — Licenciatura en Análisis de Datos</a:t>
            </a:r>
            <a:endParaRPr lang="en-US" sz="950" dirty="0"/>
          </a:p>
        </p:txBody>
      </p:sp>
      <p:sp>
        <p:nvSpPr>
          <p:cNvPr id="18" name="Text 16"/>
          <p:cNvSpPr txBox="1"/>
          <p:nvPr/>
        </p:nvSpPr>
        <p:spPr>
          <a:xfrm>
            <a:off x="10634472" y="6382512"/>
            <a:ext cx="914400" cy="274320"/>
          </a:xfrm>
          <a:prstGeom prst="rect">
            <a:avLst/>
          </a:prstGeom>
          <a:noFill/>
          <a:ln/>
        </p:spPr>
        <p:txBody>
          <a:bodyPr wrap="square" lIns="0" tIns="0" rIns="0" bIns="0" rtlCol="0" anchor="ctr"/>
          <a:lstStyle/>
          <a:p>
            <a:pPr marL="0" indent="0" algn="r">
              <a:buNone/>
            </a:pPr>
            <a:r>
              <a:rPr lang="en-US" sz="950" dirty="0">
                <a:solidFill>
                  <a:srgbClr val="9AAAA4"/>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8686800" cy="237744"/>
          </a:xfrm>
          <a:prstGeom prst="rect">
            <a:avLst/>
          </a:prstGeom>
          <a:noFill/>
          <a:ln/>
        </p:spPr>
        <p:txBody>
          <a:bodyPr wrap="square" lIns="0" tIns="0" rIns="0" bIns="0" rtlCol="0" anchor="ctr"/>
          <a:lstStyle/>
          <a:p>
            <a:pPr marL="0" indent="0">
              <a:buNone/>
            </a:pPr>
            <a:r>
              <a:rPr lang="en-US" sz="1150" b="1" kern="0" spc="200" dirty="0">
                <a:solidFill>
                  <a:srgbClr val="0E7C86"/>
                </a:solidFill>
                <a:latin typeface="Calibri" pitchFamily="34" charset="0"/>
                <a:ea typeface="Calibri" pitchFamily="34" charset="-122"/>
                <a:cs typeface="Calibri" pitchFamily="34" charset="-120"/>
              </a:rPr>
              <a:t>COMPONENTES 2 Y 3</a:t>
            </a:r>
            <a:endParaRPr lang="en-US" sz="1150" dirty="0"/>
          </a:p>
        </p:txBody>
      </p:sp>
      <p:sp>
        <p:nvSpPr>
          <p:cNvPr id="3" name="Text 1"/>
          <p:cNvSpPr txBox="1"/>
          <p:nvPr/>
        </p:nvSpPr>
        <p:spPr>
          <a:xfrm>
            <a:off x="640080" y="640080"/>
            <a:ext cx="10607040" cy="566928"/>
          </a:xfrm>
          <a:prstGeom prst="rect">
            <a:avLst/>
          </a:prstGeom>
          <a:noFill/>
          <a:ln/>
        </p:spPr>
        <p:txBody>
          <a:bodyPr wrap="square" lIns="0" tIns="0" rIns="0" bIns="0" rtlCol="0" anchor="ctr"/>
          <a:lstStyle/>
          <a:p>
            <a:pPr marL="0" indent="0">
              <a:buNone/>
            </a:pPr>
            <a:r>
              <a:rPr lang="en-US" sz="3200" b="1" dirty="0">
                <a:solidFill>
                  <a:srgbClr val="13312A"/>
                </a:solidFill>
                <a:latin typeface="Cambria" pitchFamily="34" charset="0"/>
                <a:ea typeface="Cambria" pitchFamily="34" charset="-122"/>
                <a:cs typeface="Cambria" pitchFamily="34" charset="-120"/>
              </a:rPr>
              <a:t>El contexto: meteorología y satélite</a:t>
            </a:r>
            <a:endParaRPr lang="en-US" sz="3200" dirty="0"/>
          </a:p>
        </p:txBody>
      </p:sp>
      <p:sp>
        <p:nvSpPr>
          <p:cNvPr id="4" name="Text 2"/>
          <p:cNvSpPr txBox="1"/>
          <p:nvPr/>
        </p:nvSpPr>
        <p:spPr>
          <a:xfrm>
            <a:off x="640080" y="1261872"/>
            <a:ext cx="10241280" cy="457200"/>
          </a:xfrm>
          <a:prstGeom prst="rect">
            <a:avLst/>
          </a:prstGeom>
          <a:noFill/>
          <a:ln/>
        </p:spPr>
        <p:txBody>
          <a:bodyPr wrap="square" lIns="0" tIns="0" rIns="0" bIns="0" rtlCol="0" anchor="ctr"/>
          <a:lstStyle/>
          <a:p>
            <a:pPr marL="0" indent="0">
              <a:lnSpc>
                <a:spcPct val="110000"/>
              </a:lnSpc>
              <a:buNone/>
            </a:pPr>
            <a:r>
              <a:rPr lang="en-US" sz="1450" dirty="0">
                <a:solidFill>
                  <a:srgbClr val="5F6F69"/>
                </a:solidFill>
                <a:latin typeface="Calibri" pitchFamily="34" charset="0"/>
                <a:ea typeface="Calibri" pitchFamily="34" charset="-122"/>
                <a:cs typeface="Calibri" pitchFamily="34" charset="-120"/>
              </a:rPr>
              <a:t>Dos módulos en Python que convierten información externa en variables numéricas utilizables.</a:t>
            </a:r>
            <a:endParaRPr lang="en-US" sz="1450" dirty="0"/>
          </a:p>
        </p:txBody>
      </p:sp>
      <p:sp>
        <p:nvSpPr>
          <p:cNvPr id="5" name="Shape 3"/>
          <p:cNvSpPr/>
          <p:nvPr/>
        </p:nvSpPr>
        <p:spPr>
          <a:xfrm>
            <a:off x="9674352" y="402336"/>
            <a:ext cx="1874520" cy="310896"/>
          </a:xfrm>
          <a:prstGeom prst="roundRect">
            <a:avLst>
              <a:gd name="adj" fmla="val 50000"/>
            </a:avLst>
          </a:prstGeom>
          <a:solidFill>
            <a:srgbClr val="0E7C86"/>
          </a:solidFill>
          <a:ln w="12700">
            <a:solidFill>
              <a:srgbClr val="0E7C86"/>
            </a:solidFill>
            <a:prstDash val="solid"/>
          </a:ln>
        </p:spPr>
      </p:sp>
      <p:sp>
        <p:nvSpPr>
          <p:cNvPr id="6" name="Text 4"/>
          <p:cNvSpPr txBox="1"/>
          <p:nvPr/>
        </p:nvSpPr>
        <p:spPr>
          <a:xfrm>
            <a:off x="9674352" y="402336"/>
            <a:ext cx="1874520"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Implementado</a:t>
            </a:r>
            <a:endParaRPr lang="en-US" sz="1050" dirty="0"/>
          </a:p>
        </p:txBody>
      </p:sp>
      <p:sp>
        <p:nvSpPr>
          <p:cNvPr id="7" name="Shape 5"/>
          <p:cNvSpPr/>
          <p:nvPr/>
        </p:nvSpPr>
        <p:spPr>
          <a:xfrm>
            <a:off x="640080" y="1965960"/>
            <a:ext cx="5271516" cy="3154680"/>
          </a:xfrm>
          <a:prstGeom prst="roundRect">
            <a:avLst>
              <a:gd name="adj" fmla="val 3478"/>
            </a:avLst>
          </a:prstGeom>
          <a:solidFill>
            <a:srgbClr val="E9F1EB"/>
          </a:solidFill>
          <a:ln w="12700">
            <a:solidFill>
              <a:srgbClr val="E9F1EB"/>
            </a:solidFill>
            <a:prstDash val="solid"/>
          </a:ln>
          <a:effectLst>
            <a:outerShdw blurRad="127000" dist="25400" dir="5400000" algn="bl" rotWithShape="0">
              <a:srgbClr val="11302A">
                <a:alpha val="10000"/>
              </a:srgbClr>
            </a:outerShdw>
          </a:effectLst>
        </p:spPr>
      </p:sp>
      <p:sp>
        <p:nvSpPr>
          <p:cNvPr id="8" name="Shape 6"/>
          <p:cNvSpPr/>
          <p:nvPr/>
        </p:nvSpPr>
        <p:spPr>
          <a:xfrm>
            <a:off x="1005840" y="2212848"/>
            <a:ext cx="548640" cy="548640"/>
          </a:xfrm>
          <a:prstGeom prst="ellipse">
            <a:avLst/>
          </a:prstGeom>
          <a:solidFill>
            <a:srgbClr val="0E7C86"/>
          </a:solidFill>
          <a:ln w="12700">
            <a:solidFill>
              <a:srgbClr val="0E7C86"/>
            </a:solidFill>
            <a:prstDash val="solid"/>
          </a:ln>
        </p:spPr>
      </p:sp>
      <p:pic>
        <p:nvPicPr>
          <p:cNvPr id="9" name="Image 0" descr="preencoded.png"/>
          <p:cNvPicPr>
            <a:picLocks noChangeAspect="1"/>
          </p:cNvPicPr>
          <p:nvPr/>
        </p:nvPicPr>
        <p:blipFill>
          <a:blip r:embed="rId3"/>
          <a:stretch>
            <a:fillRect/>
          </a:stretch>
        </p:blipFill>
        <p:spPr>
          <a:xfrm>
            <a:off x="1170432" y="2377440"/>
            <a:ext cx="219456" cy="219456"/>
          </a:xfrm>
          <a:prstGeom prst="rect">
            <a:avLst/>
          </a:prstGeom>
        </p:spPr>
      </p:pic>
      <p:sp>
        <p:nvSpPr>
          <p:cNvPr id="10" name="Text 7"/>
          <p:cNvSpPr txBox="1"/>
          <p:nvPr/>
        </p:nvSpPr>
        <p:spPr>
          <a:xfrm>
            <a:off x="1691640" y="2286000"/>
            <a:ext cx="3854196" cy="411480"/>
          </a:xfrm>
          <a:prstGeom prst="rect">
            <a:avLst/>
          </a:prstGeom>
          <a:noFill/>
          <a:ln/>
        </p:spPr>
        <p:txBody>
          <a:bodyPr wrap="square" lIns="0" tIns="0" rIns="0" bIns="0" rtlCol="0" anchor="ctr"/>
          <a:lstStyle/>
          <a:p>
            <a:pPr marL="0" indent="0">
              <a:buNone/>
            </a:pPr>
            <a:r>
              <a:rPr lang="en-US" sz="1450" b="1" dirty="0">
                <a:solidFill>
                  <a:srgbClr val="13312A"/>
                </a:solidFill>
                <a:latin typeface="Calibri" pitchFamily="34" charset="0"/>
                <a:ea typeface="Calibri" pitchFamily="34" charset="-122"/>
                <a:cs typeface="Calibri" pitchFamily="34" charset="-120"/>
              </a:rPr>
              <a:t>Data Miner — contexto meteorológico</a:t>
            </a:r>
            <a:endParaRPr lang="en-US" sz="1450" dirty="0"/>
          </a:p>
        </p:txBody>
      </p:sp>
      <p:sp>
        <p:nvSpPr>
          <p:cNvPr id="11" name="Text 8"/>
          <p:cNvSpPr txBox="1"/>
          <p:nvPr/>
        </p:nvSpPr>
        <p:spPr>
          <a:xfrm>
            <a:off x="1005840" y="2880360"/>
            <a:ext cx="4539996" cy="411480"/>
          </a:xfrm>
          <a:prstGeom prst="rect">
            <a:avLst/>
          </a:prstGeom>
          <a:noFill/>
          <a:ln/>
        </p:spPr>
        <p:txBody>
          <a:bodyPr wrap="square" lIns="0" tIns="0" rIns="0" bIns="0" rtlCol="0" anchor="ctr"/>
          <a:lstStyle/>
          <a:p>
            <a:pPr marL="0" indent="0">
              <a:lnSpc>
                <a:spcPct val="110000"/>
              </a:lnSpc>
              <a:buNone/>
            </a:pPr>
            <a:r>
              <a:rPr lang="en-US" sz="1200" dirty="0">
                <a:solidFill>
                  <a:srgbClr val="5F6F69"/>
                </a:solidFill>
                <a:latin typeface="Calibri" pitchFamily="34" charset="0"/>
                <a:ea typeface="Calibri" pitchFamily="34" charset="-122"/>
                <a:cs typeface="Calibri" pitchFamily="34" charset="-120"/>
              </a:rPr>
              <a:t>Fuente: Open-Meteo ERA5-Seamless, complementado con web scraping.</a:t>
            </a:r>
            <a:endParaRPr lang="en-US" sz="1200" dirty="0"/>
          </a:p>
        </p:txBody>
      </p:sp>
      <p:sp>
        <p:nvSpPr>
          <p:cNvPr id="12" name="Text 9"/>
          <p:cNvSpPr txBox="1"/>
          <p:nvPr/>
        </p:nvSpPr>
        <p:spPr>
          <a:xfrm>
            <a:off x="1005840" y="3383280"/>
            <a:ext cx="4539996" cy="1051560"/>
          </a:xfrm>
          <a:prstGeom prst="rect">
            <a:avLst/>
          </a:prstGeom>
          <a:noFill/>
          <a:ln/>
        </p:spPr>
        <p:txBody>
          <a:bodyPr wrap="square" lIns="0" tIns="0" rIns="0" bIns="0" rtlCol="0" anchor="ctr"/>
          <a:lstStyle/>
          <a:p>
            <a:pPr marL="342900" indent="-342900">
              <a:lnSpc>
                <a:spcPct val="105000"/>
              </a:lnSpc>
              <a:spcAft>
                <a:spcPts val="500"/>
              </a:spcAft>
              <a:buSzPct val="100000"/>
              <a:buChar char="•"/>
            </a:pPr>
            <a:r>
              <a:rPr lang="en-US" sz="1250" dirty="0">
                <a:solidFill>
                  <a:srgbClr val="1F2A26"/>
                </a:solidFill>
                <a:latin typeface="Calibri" pitchFamily="34" charset="0"/>
                <a:ea typeface="Calibri" pitchFamily="34" charset="-122"/>
                <a:cs typeface="Calibri" pitchFamily="34" charset="-120"/>
              </a:rPr>
              <a:t>Temperatura, humedad relativa y viento</a:t>
            </a:r>
            <a:endParaRPr lang="en-US" sz="1250" dirty="0"/>
          </a:p>
          <a:p>
            <a:pPr marL="342900" indent="-342900">
              <a:lnSpc>
                <a:spcPct val="105000"/>
              </a:lnSpc>
              <a:spcAft>
                <a:spcPts val="500"/>
              </a:spcAft>
              <a:buSzPct val="100000"/>
              <a:buChar char="•"/>
            </a:pPr>
            <a:r>
              <a:rPr lang="en-US" sz="1250" dirty="0">
                <a:solidFill>
                  <a:srgbClr val="1F2A26"/>
                </a:solidFill>
                <a:latin typeface="Calibri" pitchFamily="34" charset="0"/>
                <a:ea typeface="Calibri" pitchFamily="34" charset="-122"/>
                <a:cs typeface="Calibri" pitchFamily="34" charset="-120"/>
              </a:rPr>
              <a:t>Precipitación y radiación solar</a:t>
            </a:r>
            <a:endParaRPr lang="en-US" sz="1250" dirty="0"/>
          </a:p>
          <a:p>
            <a:pPr marL="342900" indent="-342900">
              <a:lnSpc>
                <a:spcPct val="105000"/>
              </a:lnSpc>
              <a:spcAft>
                <a:spcPts val="500"/>
              </a:spcAft>
              <a:buSzPct val="100000"/>
              <a:buChar char="•"/>
            </a:pPr>
            <a:r>
              <a:rPr lang="en-US" sz="1250" dirty="0">
                <a:solidFill>
                  <a:srgbClr val="1F2A26"/>
                </a:solidFill>
                <a:latin typeface="Calibri" pitchFamily="34" charset="0"/>
                <a:ea typeface="Calibri" pitchFamily="34" charset="-122"/>
                <a:cs typeface="Calibri" pitchFamily="34" charset="-120"/>
              </a:rPr>
              <a:t>Evapotranspiración de referencia (ET0)</a:t>
            </a:r>
            <a:endParaRPr lang="en-US" sz="1250" dirty="0"/>
          </a:p>
          <a:p>
            <a:pPr marL="342900" indent="-342900">
              <a:lnSpc>
                <a:spcPct val="105000"/>
              </a:lnSpc>
              <a:spcAft>
                <a:spcPts val="500"/>
              </a:spcAft>
              <a:buSzPct val="100000"/>
              <a:buChar char="•"/>
            </a:pPr>
            <a:r>
              <a:rPr lang="en-US" sz="1250" dirty="0">
                <a:solidFill>
                  <a:srgbClr val="1F2A26"/>
                </a:solidFill>
                <a:latin typeface="Calibri" pitchFamily="34" charset="0"/>
                <a:ea typeface="Calibri" pitchFamily="34" charset="-122"/>
                <a:cs typeface="Calibri" pitchFamily="34" charset="-120"/>
              </a:rPr>
              <a:t>Déficit de presión de vapor (VPD)</a:t>
            </a:r>
            <a:endParaRPr lang="en-US" sz="1250" dirty="0"/>
          </a:p>
        </p:txBody>
      </p:sp>
      <p:sp>
        <p:nvSpPr>
          <p:cNvPr id="13" name="Text 10"/>
          <p:cNvSpPr txBox="1"/>
          <p:nvPr/>
        </p:nvSpPr>
        <p:spPr>
          <a:xfrm>
            <a:off x="1005840" y="4526280"/>
            <a:ext cx="4539996" cy="457200"/>
          </a:xfrm>
          <a:prstGeom prst="rect">
            <a:avLst/>
          </a:prstGeom>
          <a:noFill/>
          <a:ln/>
        </p:spPr>
        <p:txBody>
          <a:bodyPr wrap="square" lIns="0" tIns="0" rIns="0" bIns="0" rtlCol="0" anchor="ctr"/>
          <a:lstStyle/>
          <a:p>
            <a:pPr marL="0" indent="0">
              <a:lnSpc>
                <a:spcPct val="110000"/>
              </a:lnSpc>
              <a:buNone/>
            </a:pPr>
            <a:r>
              <a:rPr lang="en-US" sz="1250" i="1" dirty="0">
                <a:solidFill>
                  <a:srgbClr val="0A5D65"/>
                </a:solidFill>
                <a:latin typeface="Calibri" pitchFamily="34" charset="0"/>
                <a:ea typeface="Calibri" pitchFamily="34" charset="-122"/>
                <a:cs typeface="Calibri" pitchFamily="34" charset="-120"/>
              </a:rPr>
              <a:t>«¿En qué contexto meteorológico está el cultivo, hoy e históricamente?»</a:t>
            </a:r>
            <a:endParaRPr lang="en-US" sz="1250" dirty="0"/>
          </a:p>
        </p:txBody>
      </p:sp>
      <p:sp>
        <p:nvSpPr>
          <p:cNvPr id="14" name="Shape 11"/>
          <p:cNvSpPr/>
          <p:nvPr/>
        </p:nvSpPr>
        <p:spPr>
          <a:xfrm>
            <a:off x="6277356" y="1965960"/>
            <a:ext cx="5271516" cy="3154680"/>
          </a:xfrm>
          <a:prstGeom prst="roundRect">
            <a:avLst>
              <a:gd name="adj" fmla="val 3478"/>
            </a:avLst>
          </a:prstGeom>
          <a:solidFill>
            <a:srgbClr val="E9F1EB"/>
          </a:solidFill>
          <a:ln w="12700">
            <a:solidFill>
              <a:srgbClr val="E9F1EB"/>
            </a:solidFill>
            <a:prstDash val="solid"/>
          </a:ln>
          <a:effectLst>
            <a:outerShdw blurRad="127000" dist="25400" dir="5400000" algn="bl" rotWithShape="0">
              <a:srgbClr val="11302A">
                <a:alpha val="10000"/>
              </a:srgbClr>
            </a:outerShdw>
          </a:effectLst>
        </p:spPr>
      </p:sp>
      <p:sp>
        <p:nvSpPr>
          <p:cNvPr id="15" name="Shape 12"/>
          <p:cNvSpPr/>
          <p:nvPr/>
        </p:nvSpPr>
        <p:spPr>
          <a:xfrm>
            <a:off x="6643116" y="2212848"/>
            <a:ext cx="548640" cy="548640"/>
          </a:xfrm>
          <a:prstGeom prst="ellipse">
            <a:avLst/>
          </a:prstGeom>
          <a:solidFill>
            <a:srgbClr val="0E7C86"/>
          </a:solidFill>
          <a:ln w="12700">
            <a:solidFill>
              <a:srgbClr val="0E7C86"/>
            </a:solidFill>
            <a:prstDash val="solid"/>
          </a:ln>
        </p:spPr>
      </p:sp>
      <p:pic>
        <p:nvPicPr>
          <p:cNvPr id="16" name="Image 1" descr="preencoded.png"/>
          <p:cNvPicPr>
            <a:picLocks noChangeAspect="1"/>
          </p:cNvPicPr>
          <p:nvPr/>
        </p:nvPicPr>
        <p:blipFill>
          <a:blip r:embed="rId4"/>
          <a:stretch>
            <a:fillRect/>
          </a:stretch>
        </p:blipFill>
        <p:spPr>
          <a:xfrm>
            <a:off x="6807708" y="2377440"/>
            <a:ext cx="219456" cy="219456"/>
          </a:xfrm>
          <a:prstGeom prst="rect">
            <a:avLst/>
          </a:prstGeom>
        </p:spPr>
      </p:pic>
      <p:sp>
        <p:nvSpPr>
          <p:cNvPr id="17" name="Text 13"/>
          <p:cNvSpPr txBox="1"/>
          <p:nvPr/>
        </p:nvSpPr>
        <p:spPr>
          <a:xfrm>
            <a:off x="7328916" y="2286000"/>
            <a:ext cx="3854196" cy="411480"/>
          </a:xfrm>
          <a:prstGeom prst="rect">
            <a:avLst/>
          </a:prstGeom>
          <a:noFill/>
          <a:ln/>
        </p:spPr>
        <p:txBody>
          <a:bodyPr wrap="square" lIns="0" tIns="0" rIns="0" bIns="0" rtlCol="0" anchor="ctr"/>
          <a:lstStyle/>
          <a:p>
            <a:pPr marL="0" indent="0">
              <a:buNone/>
            </a:pPr>
            <a:r>
              <a:rPr lang="en-US" sz="1450" b="1" dirty="0">
                <a:solidFill>
                  <a:srgbClr val="13312A"/>
                </a:solidFill>
                <a:latin typeface="Calibri" pitchFamily="34" charset="0"/>
                <a:ea typeface="Calibri" pitchFamily="34" charset="-122"/>
                <a:cs typeface="Calibri" pitchFamily="34" charset="-120"/>
              </a:rPr>
              <a:t>VitiAI — mirada satelital</a:t>
            </a:r>
            <a:endParaRPr lang="en-US" sz="1450" dirty="0"/>
          </a:p>
        </p:txBody>
      </p:sp>
      <p:sp>
        <p:nvSpPr>
          <p:cNvPr id="18" name="Text 14"/>
          <p:cNvSpPr txBox="1"/>
          <p:nvPr/>
        </p:nvSpPr>
        <p:spPr>
          <a:xfrm>
            <a:off x="6643116" y="2880360"/>
            <a:ext cx="4539996" cy="411480"/>
          </a:xfrm>
          <a:prstGeom prst="rect">
            <a:avLst/>
          </a:prstGeom>
          <a:noFill/>
          <a:ln/>
        </p:spPr>
        <p:txBody>
          <a:bodyPr wrap="square" lIns="0" tIns="0" rIns="0" bIns="0" rtlCol="0" anchor="ctr"/>
          <a:lstStyle/>
          <a:p>
            <a:pPr marL="0" indent="0">
              <a:lnSpc>
                <a:spcPct val="110000"/>
              </a:lnSpc>
              <a:buNone/>
            </a:pPr>
            <a:r>
              <a:rPr lang="en-US" sz="1200" dirty="0">
                <a:solidFill>
                  <a:srgbClr val="5F6F69"/>
                </a:solidFill>
                <a:latin typeface="Calibri" pitchFamily="34" charset="0"/>
                <a:ea typeface="Calibri" pitchFamily="34" charset="-122"/>
                <a:cs typeface="Calibri" pitchFamily="34" charset="-120"/>
              </a:rPr>
              <a:t>Transforma imágenes de GOES y Sentinel-2 en variables numéricas.</a:t>
            </a:r>
            <a:endParaRPr lang="en-US" sz="1200" dirty="0"/>
          </a:p>
        </p:txBody>
      </p:sp>
      <p:sp>
        <p:nvSpPr>
          <p:cNvPr id="19" name="Text 15"/>
          <p:cNvSpPr txBox="1"/>
          <p:nvPr/>
        </p:nvSpPr>
        <p:spPr>
          <a:xfrm>
            <a:off x="6643116" y="3383280"/>
            <a:ext cx="4539996" cy="1051560"/>
          </a:xfrm>
          <a:prstGeom prst="rect">
            <a:avLst/>
          </a:prstGeom>
          <a:noFill/>
          <a:ln/>
        </p:spPr>
        <p:txBody>
          <a:bodyPr wrap="square" lIns="0" tIns="0" rIns="0" bIns="0" rtlCol="0" anchor="ctr"/>
          <a:lstStyle/>
          <a:p>
            <a:pPr marL="342900" indent="-342900">
              <a:lnSpc>
                <a:spcPct val="105000"/>
              </a:lnSpc>
              <a:spcAft>
                <a:spcPts val="500"/>
              </a:spcAft>
              <a:buSzPct val="100000"/>
              <a:buChar char="•"/>
            </a:pPr>
            <a:r>
              <a:rPr lang="en-US" sz="1250" dirty="0">
                <a:solidFill>
                  <a:srgbClr val="1F2A26"/>
                </a:solidFill>
                <a:latin typeface="Calibri" pitchFamily="34" charset="0"/>
                <a:ea typeface="Calibri" pitchFamily="34" charset="-122"/>
                <a:cs typeface="Calibri" pitchFamily="34" charset="-120"/>
              </a:rPr>
              <a:t>GOES: nubosidad, temperatura del tope de nube y su evolución</a:t>
            </a:r>
            <a:endParaRPr lang="en-US" sz="1250" dirty="0"/>
          </a:p>
          <a:p>
            <a:pPr marL="342900" indent="-342900">
              <a:lnSpc>
                <a:spcPct val="105000"/>
              </a:lnSpc>
              <a:spcAft>
                <a:spcPts val="500"/>
              </a:spcAft>
              <a:buSzPct val="100000"/>
              <a:buChar char="•"/>
            </a:pPr>
            <a:r>
              <a:rPr lang="en-US" sz="1250" dirty="0">
                <a:solidFill>
                  <a:srgbClr val="1F2A26"/>
                </a:solidFill>
                <a:latin typeface="Calibri" pitchFamily="34" charset="0"/>
                <a:ea typeface="Calibri" pitchFamily="34" charset="-122"/>
                <a:cs typeface="Calibri" pitchFamily="34" charset="-120"/>
              </a:rPr>
              <a:t>Sentinel-2: NDVI y NDMI</a:t>
            </a:r>
            <a:endParaRPr lang="en-US" sz="1250" dirty="0"/>
          </a:p>
          <a:p>
            <a:pPr marL="342900" indent="-342900">
              <a:lnSpc>
                <a:spcPct val="105000"/>
              </a:lnSpc>
              <a:spcAft>
                <a:spcPts val="500"/>
              </a:spcAft>
              <a:buSzPct val="100000"/>
              <a:buChar char="•"/>
            </a:pPr>
            <a:r>
              <a:rPr lang="en-US" sz="1250" dirty="0">
                <a:solidFill>
                  <a:srgbClr val="1F2A26"/>
                </a:solidFill>
                <a:latin typeface="Calibri" pitchFamily="34" charset="0"/>
                <a:ea typeface="Calibri" pitchFamily="34" charset="-122"/>
                <a:cs typeface="Calibri" pitchFamily="34" charset="-120"/>
              </a:rPr>
              <a:t>Vigor vegetal y humedad de la vegetación</a:t>
            </a:r>
            <a:endParaRPr lang="en-US" sz="1250" dirty="0"/>
          </a:p>
          <a:p>
            <a:pPr marL="342900" indent="-342900">
              <a:lnSpc>
                <a:spcPct val="105000"/>
              </a:lnSpc>
              <a:spcAft>
                <a:spcPts val="500"/>
              </a:spcAft>
              <a:buSzPct val="100000"/>
              <a:buChar char="•"/>
            </a:pPr>
            <a:r>
              <a:rPr lang="en-US" sz="1250" dirty="0">
                <a:solidFill>
                  <a:srgbClr val="1F2A26"/>
                </a:solidFill>
                <a:latin typeface="Calibri" pitchFamily="34" charset="0"/>
                <a:ea typeface="Calibri" pitchFamily="34" charset="-122"/>
                <a:cs typeface="Calibri" pitchFamily="34" charset="-120"/>
              </a:rPr>
              <a:t>Estado espacial del cultivo dentro del lote</a:t>
            </a:r>
            <a:endParaRPr lang="en-US" sz="1250" dirty="0"/>
          </a:p>
        </p:txBody>
      </p:sp>
      <p:sp>
        <p:nvSpPr>
          <p:cNvPr id="20" name="Text 16"/>
          <p:cNvSpPr txBox="1"/>
          <p:nvPr/>
        </p:nvSpPr>
        <p:spPr>
          <a:xfrm>
            <a:off x="6643116" y="4526280"/>
            <a:ext cx="4539996" cy="457200"/>
          </a:xfrm>
          <a:prstGeom prst="rect">
            <a:avLst/>
          </a:prstGeom>
          <a:noFill/>
          <a:ln/>
        </p:spPr>
        <p:txBody>
          <a:bodyPr wrap="square" lIns="0" tIns="0" rIns="0" bIns="0" rtlCol="0" anchor="ctr"/>
          <a:lstStyle/>
          <a:p>
            <a:pPr marL="0" indent="0">
              <a:lnSpc>
                <a:spcPct val="110000"/>
              </a:lnSpc>
              <a:buNone/>
            </a:pPr>
            <a:r>
              <a:rPr lang="en-US" sz="1250" i="1" dirty="0">
                <a:solidFill>
                  <a:srgbClr val="0A5D65"/>
                </a:solidFill>
                <a:latin typeface="Calibri" pitchFamily="34" charset="0"/>
                <a:ea typeface="Calibri" pitchFamily="34" charset="-122"/>
                <a:cs typeface="Calibri" pitchFamily="34" charset="-120"/>
              </a:rPr>
              <a:t>«¿Cómo se ven la atmósfera y el cultivo desde arriba?»</a:t>
            </a:r>
            <a:endParaRPr lang="en-US" sz="1250" dirty="0"/>
          </a:p>
        </p:txBody>
      </p:sp>
      <p:sp>
        <p:nvSpPr>
          <p:cNvPr id="21" name="Shape 17"/>
          <p:cNvSpPr/>
          <p:nvPr/>
        </p:nvSpPr>
        <p:spPr>
          <a:xfrm>
            <a:off x="640080" y="5303520"/>
            <a:ext cx="10908792" cy="777240"/>
          </a:xfrm>
          <a:prstGeom prst="roundRect">
            <a:avLst>
              <a:gd name="adj" fmla="val 14118"/>
            </a:avLst>
          </a:prstGeom>
          <a:solidFill>
            <a:srgbClr val="FAEEDA"/>
          </a:solidFill>
          <a:ln w="12700">
            <a:solidFill>
              <a:srgbClr val="FAEEDA"/>
            </a:solidFill>
            <a:prstDash val="solid"/>
          </a:ln>
          <a:effectLst>
            <a:outerShdw blurRad="127000" dist="25400" dir="5400000" algn="bl" rotWithShape="0">
              <a:srgbClr val="11302A">
                <a:alpha val="10000"/>
              </a:srgbClr>
            </a:outerShdw>
          </a:effectLst>
        </p:spPr>
      </p:sp>
      <p:sp>
        <p:nvSpPr>
          <p:cNvPr id="22" name="Text 18"/>
          <p:cNvSpPr txBox="1"/>
          <p:nvPr/>
        </p:nvSpPr>
        <p:spPr>
          <a:xfrm>
            <a:off x="1005840" y="5303520"/>
            <a:ext cx="10177272" cy="777240"/>
          </a:xfrm>
          <a:prstGeom prst="rect">
            <a:avLst/>
          </a:prstGeom>
          <a:noFill/>
          <a:ln/>
        </p:spPr>
        <p:txBody>
          <a:bodyPr wrap="square" lIns="0" tIns="0" rIns="0" bIns="0" rtlCol="0" anchor="ctr"/>
          <a:lstStyle/>
          <a:p>
            <a:pPr marL="0" indent="0">
              <a:buNone/>
            </a:pPr>
            <a:r>
              <a:rPr lang="en-US" sz="1300" dirty="0">
                <a:solidFill>
                  <a:srgbClr val="1F2A26"/>
                </a:solidFill>
                <a:latin typeface="Calibri" pitchFamily="34" charset="0"/>
                <a:ea typeface="Calibri" pitchFamily="34" charset="-122"/>
                <a:cs typeface="Calibri" pitchFamily="34" charset="-120"/>
              </a:rPr>
              <a:t>Ninguno de los dos decide el riego ni controla la válvula: ambos entregan variables que después se integran con el resto de las fuentes.</a:t>
            </a:r>
            <a:endParaRPr lang="en-US" sz="1300" dirty="0"/>
          </a:p>
        </p:txBody>
      </p:sp>
      <p:sp>
        <p:nvSpPr>
          <p:cNvPr id="23" name="Text 19"/>
          <p:cNvSpPr txBox="1"/>
          <p:nvPr/>
        </p:nvSpPr>
        <p:spPr>
          <a:xfrm>
            <a:off x="640080" y="6382512"/>
            <a:ext cx="7315200" cy="274320"/>
          </a:xfrm>
          <a:prstGeom prst="rect">
            <a:avLst/>
          </a:prstGeom>
          <a:noFill/>
          <a:ln/>
        </p:spPr>
        <p:txBody>
          <a:bodyPr wrap="square" lIns="0" tIns="0" rIns="0" bIns="0" rtlCol="0" anchor="ctr"/>
          <a:lstStyle/>
          <a:p>
            <a:pPr marL="0" indent="0">
              <a:buNone/>
            </a:pPr>
            <a:r>
              <a:rPr lang="en-US" sz="950" dirty="0">
                <a:solidFill>
                  <a:srgbClr val="9AAAA4"/>
                </a:solidFill>
                <a:latin typeface="Calibri" pitchFamily="34" charset="0"/>
                <a:ea typeface="Calibri" pitchFamily="34" charset="-122"/>
                <a:cs typeface="Calibri" pitchFamily="34" charset="-120"/>
              </a:rPr>
              <a:t>Vitic AI · Tesis — Licenciatura en Análisis de Datos</a:t>
            </a:r>
            <a:endParaRPr lang="en-US" sz="950" dirty="0"/>
          </a:p>
        </p:txBody>
      </p:sp>
      <p:sp>
        <p:nvSpPr>
          <p:cNvPr id="24" name="Text 20"/>
          <p:cNvSpPr txBox="1"/>
          <p:nvPr/>
        </p:nvSpPr>
        <p:spPr>
          <a:xfrm>
            <a:off x="10634472" y="6382512"/>
            <a:ext cx="914400" cy="274320"/>
          </a:xfrm>
          <a:prstGeom prst="rect">
            <a:avLst/>
          </a:prstGeom>
          <a:noFill/>
          <a:ln/>
        </p:spPr>
        <p:txBody>
          <a:bodyPr wrap="square" lIns="0" tIns="0" rIns="0" bIns="0" rtlCol="0" anchor="ctr"/>
          <a:lstStyle/>
          <a:p>
            <a:pPr marL="0" indent="0" algn="r">
              <a:buNone/>
            </a:pPr>
            <a:r>
              <a:rPr lang="en-US" sz="950" dirty="0">
                <a:solidFill>
                  <a:srgbClr val="9AAAA4"/>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8686800" cy="237744"/>
          </a:xfrm>
          <a:prstGeom prst="rect">
            <a:avLst/>
          </a:prstGeom>
          <a:noFill/>
          <a:ln/>
        </p:spPr>
        <p:txBody>
          <a:bodyPr wrap="square" lIns="0" tIns="0" rIns="0" bIns="0" rtlCol="0" anchor="ctr"/>
          <a:lstStyle/>
          <a:p>
            <a:pPr marL="0" indent="0">
              <a:buNone/>
            </a:pPr>
            <a:r>
              <a:rPr lang="en-US" sz="1150" b="1" kern="0" spc="200" dirty="0">
                <a:solidFill>
                  <a:srgbClr val="0E7C86"/>
                </a:solidFill>
                <a:latin typeface="Calibri" pitchFamily="34" charset="0"/>
                <a:ea typeface="Calibri" pitchFamily="34" charset="-122"/>
                <a:cs typeface="Calibri" pitchFamily="34" charset="-120"/>
              </a:rPr>
              <a:t>COMPONENTE 4 · BACKEND</a:t>
            </a:r>
            <a:endParaRPr lang="en-US" sz="1150" dirty="0"/>
          </a:p>
        </p:txBody>
      </p:sp>
      <p:sp>
        <p:nvSpPr>
          <p:cNvPr id="3" name="Text 1"/>
          <p:cNvSpPr txBox="1"/>
          <p:nvPr/>
        </p:nvSpPr>
        <p:spPr>
          <a:xfrm>
            <a:off x="640080" y="640080"/>
            <a:ext cx="10607040" cy="566928"/>
          </a:xfrm>
          <a:prstGeom prst="rect">
            <a:avLst/>
          </a:prstGeom>
          <a:noFill/>
          <a:ln/>
        </p:spPr>
        <p:txBody>
          <a:bodyPr wrap="square" lIns="0" tIns="0" rIns="0" bIns="0" rtlCol="0" anchor="ctr"/>
          <a:lstStyle/>
          <a:p>
            <a:pPr marL="0" indent="0">
              <a:buNone/>
            </a:pPr>
            <a:r>
              <a:rPr lang="en-US" sz="3200" b="1" dirty="0">
                <a:solidFill>
                  <a:srgbClr val="13312A"/>
                </a:solidFill>
                <a:latin typeface="Cambria" pitchFamily="34" charset="0"/>
                <a:ea typeface="Cambria" pitchFamily="34" charset="-122"/>
                <a:cs typeface="Cambria" pitchFamily="34" charset="-120"/>
              </a:rPr>
              <a:t>El punto de encuentro de la información</a:t>
            </a:r>
            <a:endParaRPr lang="en-US" sz="3200" dirty="0"/>
          </a:p>
        </p:txBody>
      </p:sp>
      <p:sp>
        <p:nvSpPr>
          <p:cNvPr id="4" name="Text 2"/>
          <p:cNvSpPr txBox="1"/>
          <p:nvPr/>
        </p:nvSpPr>
        <p:spPr>
          <a:xfrm>
            <a:off x="640080" y="1261872"/>
            <a:ext cx="10241280" cy="457200"/>
          </a:xfrm>
          <a:prstGeom prst="rect">
            <a:avLst/>
          </a:prstGeom>
          <a:noFill/>
          <a:ln/>
        </p:spPr>
        <p:txBody>
          <a:bodyPr wrap="square" lIns="0" tIns="0" rIns="0" bIns="0" rtlCol="0" anchor="ctr"/>
          <a:lstStyle/>
          <a:p>
            <a:pPr marL="0" indent="0">
              <a:lnSpc>
                <a:spcPct val="110000"/>
              </a:lnSpc>
              <a:buNone/>
            </a:pPr>
            <a:r>
              <a:rPr lang="en-US" sz="1450" dirty="0">
                <a:solidFill>
                  <a:srgbClr val="5F6F69"/>
                </a:solidFill>
                <a:latin typeface="Calibri" pitchFamily="34" charset="0"/>
                <a:ea typeface="Calibri" pitchFamily="34" charset="-122"/>
                <a:cs typeface="Calibri" pitchFamily="34" charset="-120"/>
              </a:rPr>
              <a:t>Recibe las tres fuentes, las ordena en una línea de tiempo común y arma el conjunto de variables del modelo.</a:t>
            </a:r>
            <a:endParaRPr lang="en-US" sz="1450" dirty="0"/>
          </a:p>
        </p:txBody>
      </p:sp>
      <p:sp>
        <p:nvSpPr>
          <p:cNvPr id="5" name="Shape 3"/>
          <p:cNvSpPr/>
          <p:nvPr/>
        </p:nvSpPr>
        <p:spPr>
          <a:xfrm>
            <a:off x="9674352" y="402336"/>
            <a:ext cx="1874520" cy="310896"/>
          </a:xfrm>
          <a:prstGeom prst="roundRect">
            <a:avLst>
              <a:gd name="adj" fmla="val 50000"/>
            </a:avLst>
          </a:prstGeom>
          <a:solidFill>
            <a:srgbClr val="0E7C86"/>
          </a:solidFill>
          <a:ln w="12700">
            <a:solidFill>
              <a:srgbClr val="0E7C86"/>
            </a:solidFill>
            <a:prstDash val="solid"/>
          </a:ln>
        </p:spPr>
      </p:sp>
      <p:sp>
        <p:nvSpPr>
          <p:cNvPr id="6" name="Text 4"/>
          <p:cNvSpPr txBox="1"/>
          <p:nvPr/>
        </p:nvSpPr>
        <p:spPr>
          <a:xfrm>
            <a:off x="9674352" y="402336"/>
            <a:ext cx="1874520"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Base implementada</a:t>
            </a:r>
            <a:endParaRPr lang="en-US" sz="1050" dirty="0"/>
          </a:p>
        </p:txBody>
      </p:sp>
      <p:sp>
        <p:nvSpPr>
          <p:cNvPr id="7" name="Shape 5"/>
          <p:cNvSpPr/>
          <p:nvPr/>
        </p:nvSpPr>
        <p:spPr>
          <a:xfrm>
            <a:off x="315468" y="2057400"/>
            <a:ext cx="2697480" cy="2148840"/>
          </a:xfrm>
          <a:prstGeom prst="roundRect">
            <a:avLst>
              <a:gd name="adj" fmla="val 5106"/>
            </a:avLst>
          </a:prstGeom>
          <a:solidFill>
            <a:srgbClr val="E9F1EB"/>
          </a:solidFill>
          <a:ln w="12700">
            <a:solidFill>
              <a:srgbClr val="E9F1EB"/>
            </a:solidFill>
            <a:prstDash val="solid"/>
          </a:ln>
          <a:effectLst>
            <a:outerShdw blurRad="127000" dist="25400" dir="5400000" algn="bl" rotWithShape="0">
              <a:srgbClr val="11302A">
                <a:alpha val="10000"/>
              </a:srgbClr>
            </a:outerShdw>
          </a:effectLst>
        </p:spPr>
      </p:sp>
      <p:sp>
        <p:nvSpPr>
          <p:cNvPr id="8" name="Shape 6"/>
          <p:cNvSpPr/>
          <p:nvPr/>
        </p:nvSpPr>
        <p:spPr>
          <a:xfrm>
            <a:off x="571500" y="2304288"/>
            <a:ext cx="548640" cy="548640"/>
          </a:xfrm>
          <a:prstGeom prst="ellipse">
            <a:avLst/>
          </a:prstGeom>
          <a:solidFill>
            <a:srgbClr val="0E7C86"/>
          </a:solidFill>
          <a:ln w="12700">
            <a:solidFill>
              <a:srgbClr val="0E7C86"/>
            </a:solidFill>
            <a:prstDash val="solid"/>
          </a:ln>
        </p:spPr>
      </p:sp>
      <p:pic>
        <p:nvPicPr>
          <p:cNvPr id="9" name="Image 0" descr="preencoded.png"/>
          <p:cNvPicPr>
            <a:picLocks noChangeAspect="1"/>
          </p:cNvPicPr>
          <p:nvPr/>
        </p:nvPicPr>
        <p:blipFill>
          <a:blip r:embed="rId3"/>
          <a:stretch>
            <a:fillRect/>
          </a:stretch>
        </p:blipFill>
        <p:spPr>
          <a:xfrm>
            <a:off x="736092" y="2468880"/>
            <a:ext cx="219456" cy="219456"/>
          </a:xfrm>
          <a:prstGeom prst="rect">
            <a:avLst/>
          </a:prstGeom>
        </p:spPr>
      </p:pic>
      <p:sp>
        <p:nvSpPr>
          <p:cNvPr id="10" name="Text 7"/>
          <p:cNvSpPr txBox="1"/>
          <p:nvPr/>
        </p:nvSpPr>
        <p:spPr>
          <a:xfrm>
            <a:off x="571500" y="2971800"/>
            <a:ext cx="2185416" cy="320040"/>
          </a:xfrm>
          <a:prstGeom prst="rect">
            <a:avLst/>
          </a:prstGeom>
          <a:noFill/>
          <a:ln/>
        </p:spPr>
        <p:txBody>
          <a:bodyPr wrap="square" lIns="0" tIns="0" rIns="0" bIns="0" rtlCol="0" anchor="ctr"/>
          <a:lstStyle/>
          <a:p>
            <a:pPr marL="0" indent="0">
              <a:buNone/>
            </a:pPr>
            <a:r>
              <a:rPr lang="en-US" sz="1350" b="1" dirty="0">
                <a:solidFill>
                  <a:srgbClr val="13312A"/>
                </a:solidFill>
                <a:latin typeface="Calibri" pitchFamily="34" charset="0"/>
                <a:ea typeface="Calibri" pitchFamily="34" charset="-122"/>
                <a:cs typeface="Calibri" pitchFamily="34" charset="-120"/>
              </a:rPr>
              <a:t>Recibe y almacena</a:t>
            </a:r>
            <a:endParaRPr lang="en-US" sz="1350" dirty="0"/>
          </a:p>
        </p:txBody>
      </p:sp>
      <p:sp>
        <p:nvSpPr>
          <p:cNvPr id="11" name="Text 8"/>
          <p:cNvSpPr txBox="1"/>
          <p:nvPr/>
        </p:nvSpPr>
        <p:spPr>
          <a:xfrm>
            <a:off x="571500" y="3310128"/>
            <a:ext cx="2185416" cy="731520"/>
          </a:xfrm>
          <a:prstGeom prst="rect">
            <a:avLst/>
          </a:prstGeom>
          <a:noFill/>
          <a:ln/>
        </p:spPr>
        <p:txBody>
          <a:bodyPr wrap="square" lIns="0" tIns="0" rIns="0" bIns="0" rtlCol="0" anchor="ctr"/>
          <a:lstStyle/>
          <a:p>
            <a:pPr marL="0" indent="0">
              <a:lnSpc>
                <a:spcPct val="110000"/>
              </a:lnSpc>
              <a:buNone/>
            </a:pPr>
            <a:r>
              <a:rPr lang="en-US" sz="1150" dirty="0">
                <a:solidFill>
                  <a:srgbClr val="5F6F69"/>
                </a:solidFill>
                <a:latin typeface="Calibri" pitchFamily="34" charset="0"/>
                <a:ea typeface="Calibri" pitchFamily="34" charset="-122"/>
                <a:cs typeface="Calibri" pitchFamily="34" charset="-120"/>
              </a:rPr>
              <a:t>Telemetría del nodo IoT, guardada de forma trazable.</a:t>
            </a:r>
            <a:endParaRPr lang="en-US" sz="1150" dirty="0"/>
          </a:p>
        </p:txBody>
      </p:sp>
      <p:sp>
        <p:nvSpPr>
          <p:cNvPr id="12" name="Shape 9"/>
          <p:cNvSpPr/>
          <p:nvPr/>
        </p:nvSpPr>
        <p:spPr>
          <a:xfrm>
            <a:off x="3268980" y="2057400"/>
            <a:ext cx="2697480" cy="2148840"/>
          </a:xfrm>
          <a:prstGeom prst="roundRect">
            <a:avLst>
              <a:gd name="adj" fmla="val 5106"/>
            </a:avLst>
          </a:prstGeom>
          <a:solidFill>
            <a:srgbClr val="E9F1EB"/>
          </a:solidFill>
          <a:ln w="12700">
            <a:solidFill>
              <a:srgbClr val="E9F1EB"/>
            </a:solidFill>
            <a:prstDash val="solid"/>
          </a:ln>
          <a:effectLst>
            <a:outerShdw blurRad="127000" dist="25400" dir="5400000" algn="bl" rotWithShape="0">
              <a:srgbClr val="11302A">
                <a:alpha val="10000"/>
              </a:srgbClr>
            </a:outerShdw>
          </a:effectLst>
        </p:spPr>
      </p:sp>
      <p:sp>
        <p:nvSpPr>
          <p:cNvPr id="13" name="Shape 10"/>
          <p:cNvSpPr/>
          <p:nvPr/>
        </p:nvSpPr>
        <p:spPr>
          <a:xfrm>
            <a:off x="3525012" y="2304288"/>
            <a:ext cx="548640" cy="548640"/>
          </a:xfrm>
          <a:prstGeom prst="ellipse">
            <a:avLst/>
          </a:prstGeom>
          <a:solidFill>
            <a:srgbClr val="0E7C86"/>
          </a:solidFill>
          <a:ln w="12700">
            <a:solidFill>
              <a:srgbClr val="0E7C86"/>
            </a:solidFill>
            <a:prstDash val="solid"/>
          </a:ln>
        </p:spPr>
      </p:sp>
      <p:pic>
        <p:nvPicPr>
          <p:cNvPr id="14" name="Image 1" descr="preencoded.png"/>
          <p:cNvPicPr>
            <a:picLocks noChangeAspect="1"/>
          </p:cNvPicPr>
          <p:nvPr/>
        </p:nvPicPr>
        <p:blipFill>
          <a:blip r:embed="rId4"/>
          <a:stretch>
            <a:fillRect/>
          </a:stretch>
        </p:blipFill>
        <p:spPr>
          <a:xfrm>
            <a:off x="3689604" y="2468880"/>
            <a:ext cx="219456" cy="219456"/>
          </a:xfrm>
          <a:prstGeom prst="rect">
            <a:avLst/>
          </a:prstGeom>
        </p:spPr>
      </p:pic>
      <p:sp>
        <p:nvSpPr>
          <p:cNvPr id="15" name="Text 11"/>
          <p:cNvSpPr txBox="1"/>
          <p:nvPr/>
        </p:nvSpPr>
        <p:spPr>
          <a:xfrm>
            <a:off x="3525012" y="2971800"/>
            <a:ext cx="2185416" cy="320040"/>
          </a:xfrm>
          <a:prstGeom prst="rect">
            <a:avLst/>
          </a:prstGeom>
          <a:noFill/>
          <a:ln/>
        </p:spPr>
        <p:txBody>
          <a:bodyPr wrap="square" lIns="0" tIns="0" rIns="0" bIns="0" rtlCol="0" anchor="ctr"/>
          <a:lstStyle/>
          <a:p>
            <a:pPr marL="0" indent="0">
              <a:buNone/>
            </a:pPr>
            <a:r>
              <a:rPr lang="en-US" sz="1350" b="1" dirty="0">
                <a:solidFill>
                  <a:srgbClr val="13312A"/>
                </a:solidFill>
                <a:latin typeface="Calibri" pitchFamily="34" charset="0"/>
                <a:ea typeface="Calibri" pitchFamily="34" charset="-122"/>
                <a:cs typeface="Calibri" pitchFamily="34" charset="-120"/>
              </a:rPr>
              <a:t>Registra el riego</a:t>
            </a:r>
            <a:endParaRPr lang="en-US" sz="1350" dirty="0"/>
          </a:p>
        </p:txBody>
      </p:sp>
      <p:sp>
        <p:nvSpPr>
          <p:cNvPr id="16" name="Text 12"/>
          <p:cNvSpPr txBox="1"/>
          <p:nvPr/>
        </p:nvSpPr>
        <p:spPr>
          <a:xfrm>
            <a:off x="3525012" y="3310128"/>
            <a:ext cx="2185416" cy="731520"/>
          </a:xfrm>
          <a:prstGeom prst="rect">
            <a:avLst/>
          </a:prstGeom>
          <a:noFill/>
          <a:ln/>
        </p:spPr>
        <p:txBody>
          <a:bodyPr wrap="square" lIns="0" tIns="0" rIns="0" bIns="0" rtlCol="0" anchor="ctr"/>
          <a:lstStyle/>
          <a:p>
            <a:pPr marL="0" indent="0">
              <a:lnSpc>
                <a:spcPct val="110000"/>
              </a:lnSpc>
              <a:buNone/>
            </a:pPr>
            <a:r>
              <a:rPr lang="en-US" sz="1150" dirty="0">
                <a:solidFill>
                  <a:srgbClr val="5F6F69"/>
                </a:solidFill>
                <a:latin typeface="Calibri" pitchFamily="34" charset="0"/>
                <a:ea typeface="Calibri" pitchFamily="34" charset="-122"/>
                <a:cs typeface="Calibri" pitchFamily="34" charset="-120"/>
              </a:rPr>
              <a:t>Eventos de riego, caudal y volumen realmente aplicado.</a:t>
            </a:r>
            <a:endParaRPr lang="en-US" sz="1150" dirty="0"/>
          </a:p>
        </p:txBody>
      </p:sp>
      <p:sp>
        <p:nvSpPr>
          <p:cNvPr id="17" name="Shape 13"/>
          <p:cNvSpPr/>
          <p:nvPr/>
        </p:nvSpPr>
        <p:spPr>
          <a:xfrm>
            <a:off x="6222492" y="2057400"/>
            <a:ext cx="2697480" cy="2148840"/>
          </a:xfrm>
          <a:prstGeom prst="roundRect">
            <a:avLst>
              <a:gd name="adj" fmla="val 5106"/>
            </a:avLst>
          </a:prstGeom>
          <a:solidFill>
            <a:srgbClr val="E9F1EB"/>
          </a:solidFill>
          <a:ln w="12700">
            <a:solidFill>
              <a:srgbClr val="E9F1EB"/>
            </a:solidFill>
            <a:prstDash val="solid"/>
          </a:ln>
          <a:effectLst>
            <a:outerShdw blurRad="127000" dist="25400" dir="5400000" algn="bl" rotWithShape="0">
              <a:srgbClr val="11302A">
                <a:alpha val="10000"/>
              </a:srgbClr>
            </a:outerShdw>
          </a:effectLst>
        </p:spPr>
      </p:sp>
      <p:sp>
        <p:nvSpPr>
          <p:cNvPr id="18" name="Shape 14"/>
          <p:cNvSpPr/>
          <p:nvPr/>
        </p:nvSpPr>
        <p:spPr>
          <a:xfrm>
            <a:off x="6478524" y="2304288"/>
            <a:ext cx="548640" cy="548640"/>
          </a:xfrm>
          <a:prstGeom prst="ellipse">
            <a:avLst/>
          </a:prstGeom>
          <a:solidFill>
            <a:srgbClr val="0E7C86"/>
          </a:solidFill>
          <a:ln w="12700">
            <a:solidFill>
              <a:srgbClr val="0E7C86"/>
            </a:solidFill>
            <a:prstDash val="solid"/>
          </a:ln>
        </p:spPr>
      </p:sp>
      <p:pic>
        <p:nvPicPr>
          <p:cNvPr id="19" name="Image 2" descr="preencoded.png"/>
          <p:cNvPicPr>
            <a:picLocks noChangeAspect="1"/>
          </p:cNvPicPr>
          <p:nvPr/>
        </p:nvPicPr>
        <p:blipFill>
          <a:blip r:embed="rId5"/>
          <a:stretch>
            <a:fillRect/>
          </a:stretch>
        </p:blipFill>
        <p:spPr>
          <a:xfrm>
            <a:off x="6643116" y="2468880"/>
            <a:ext cx="219456" cy="219456"/>
          </a:xfrm>
          <a:prstGeom prst="rect">
            <a:avLst/>
          </a:prstGeom>
        </p:spPr>
      </p:pic>
      <p:sp>
        <p:nvSpPr>
          <p:cNvPr id="20" name="Text 15"/>
          <p:cNvSpPr txBox="1"/>
          <p:nvPr/>
        </p:nvSpPr>
        <p:spPr>
          <a:xfrm>
            <a:off x="6478524" y="2971800"/>
            <a:ext cx="2185416" cy="320040"/>
          </a:xfrm>
          <a:prstGeom prst="rect">
            <a:avLst/>
          </a:prstGeom>
          <a:noFill/>
          <a:ln/>
        </p:spPr>
        <p:txBody>
          <a:bodyPr wrap="square" lIns="0" tIns="0" rIns="0" bIns="0" rtlCol="0" anchor="ctr"/>
          <a:lstStyle/>
          <a:p>
            <a:pPr marL="0" indent="0">
              <a:buNone/>
            </a:pPr>
            <a:r>
              <a:rPr lang="en-US" sz="1350" b="1" dirty="0">
                <a:solidFill>
                  <a:srgbClr val="13312A"/>
                </a:solidFill>
                <a:latin typeface="Calibri" pitchFamily="34" charset="0"/>
                <a:ea typeface="Calibri" pitchFamily="34" charset="-122"/>
                <a:cs typeface="Calibri" pitchFamily="34" charset="-120"/>
              </a:rPr>
              <a:t>Incorpora el contexto</a:t>
            </a:r>
            <a:endParaRPr lang="en-US" sz="1350" dirty="0"/>
          </a:p>
        </p:txBody>
      </p:sp>
      <p:sp>
        <p:nvSpPr>
          <p:cNvPr id="21" name="Text 16"/>
          <p:cNvSpPr txBox="1"/>
          <p:nvPr/>
        </p:nvSpPr>
        <p:spPr>
          <a:xfrm>
            <a:off x="6478524" y="3310128"/>
            <a:ext cx="2185416" cy="731520"/>
          </a:xfrm>
          <a:prstGeom prst="rect">
            <a:avLst/>
          </a:prstGeom>
          <a:noFill/>
          <a:ln/>
        </p:spPr>
        <p:txBody>
          <a:bodyPr wrap="square" lIns="0" tIns="0" rIns="0" bIns="0" rtlCol="0" anchor="ctr"/>
          <a:lstStyle/>
          <a:p>
            <a:pPr marL="0" indent="0">
              <a:lnSpc>
                <a:spcPct val="110000"/>
              </a:lnSpc>
              <a:buNone/>
            </a:pPr>
            <a:r>
              <a:rPr lang="en-US" sz="1150" dirty="0">
                <a:solidFill>
                  <a:srgbClr val="5F6F69"/>
                </a:solidFill>
                <a:latin typeface="Calibri" pitchFamily="34" charset="0"/>
                <a:ea typeface="Calibri" pitchFamily="34" charset="-122"/>
                <a:cs typeface="Calibri" pitchFamily="34" charset="-120"/>
              </a:rPr>
              <a:t>Consume la meteorología y consulta las variables satelitales.</a:t>
            </a:r>
            <a:endParaRPr lang="en-US" sz="1150" dirty="0"/>
          </a:p>
        </p:txBody>
      </p:sp>
      <p:sp>
        <p:nvSpPr>
          <p:cNvPr id="22" name="Shape 17"/>
          <p:cNvSpPr/>
          <p:nvPr/>
        </p:nvSpPr>
        <p:spPr>
          <a:xfrm>
            <a:off x="9176004" y="2057400"/>
            <a:ext cx="2697480" cy="2148840"/>
          </a:xfrm>
          <a:prstGeom prst="roundRect">
            <a:avLst>
              <a:gd name="adj" fmla="val 5106"/>
            </a:avLst>
          </a:prstGeom>
          <a:solidFill>
            <a:srgbClr val="E9F1EB"/>
          </a:solidFill>
          <a:ln w="12700">
            <a:solidFill>
              <a:srgbClr val="E9F1EB"/>
            </a:solidFill>
            <a:prstDash val="solid"/>
          </a:ln>
          <a:effectLst>
            <a:outerShdw blurRad="127000" dist="25400" dir="5400000" algn="bl" rotWithShape="0">
              <a:srgbClr val="11302A">
                <a:alpha val="10000"/>
              </a:srgbClr>
            </a:outerShdw>
          </a:effectLst>
        </p:spPr>
      </p:sp>
      <p:sp>
        <p:nvSpPr>
          <p:cNvPr id="23" name="Shape 18"/>
          <p:cNvSpPr/>
          <p:nvPr/>
        </p:nvSpPr>
        <p:spPr>
          <a:xfrm>
            <a:off x="9432036" y="2304288"/>
            <a:ext cx="548640" cy="548640"/>
          </a:xfrm>
          <a:prstGeom prst="ellipse">
            <a:avLst/>
          </a:prstGeom>
          <a:solidFill>
            <a:srgbClr val="0E7C86"/>
          </a:solidFill>
          <a:ln w="12700">
            <a:solidFill>
              <a:srgbClr val="0E7C86"/>
            </a:solidFill>
            <a:prstDash val="solid"/>
          </a:ln>
        </p:spPr>
      </p:sp>
      <p:pic>
        <p:nvPicPr>
          <p:cNvPr id="24" name="Image 3" descr="preencoded.png"/>
          <p:cNvPicPr>
            <a:picLocks noChangeAspect="1"/>
          </p:cNvPicPr>
          <p:nvPr/>
        </p:nvPicPr>
        <p:blipFill>
          <a:blip r:embed="rId6"/>
          <a:stretch>
            <a:fillRect/>
          </a:stretch>
        </p:blipFill>
        <p:spPr>
          <a:xfrm>
            <a:off x="9596628" y="2468880"/>
            <a:ext cx="219456" cy="219456"/>
          </a:xfrm>
          <a:prstGeom prst="rect">
            <a:avLst/>
          </a:prstGeom>
        </p:spPr>
      </p:pic>
      <p:sp>
        <p:nvSpPr>
          <p:cNvPr id="25" name="Text 19"/>
          <p:cNvSpPr txBox="1"/>
          <p:nvPr/>
        </p:nvSpPr>
        <p:spPr>
          <a:xfrm>
            <a:off x="9432036" y="2971800"/>
            <a:ext cx="2185416" cy="320040"/>
          </a:xfrm>
          <a:prstGeom prst="rect">
            <a:avLst/>
          </a:prstGeom>
          <a:noFill/>
          <a:ln/>
        </p:spPr>
        <p:txBody>
          <a:bodyPr wrap="square" lIns="0" tIns="0" rIns="0" bIns="0" rtlCol="0" anchor="ctr"/>
          <a:lstStyle/>
          <a:p>
            <a:pPr marL="0" indent="0">
              <a:buNone/>
            </a:pPr>
            <a:r>
              <a:rPr lang="en-US" sz="1350" b="1" dirty="0">
                <a:solidFill>
                  <a:srgbClr val="13312A"/>
                </a:solidFill>
                <a:latin typeface="Calibri" pitchFamily="34" charset="0"/>
                <a:ea typeface="Calibri" pitchFamily="34" charset="-122"/>
                <a:cs typeface="Calibri" pitchFamily="34" charset="-120"/>
              </a:rPr>
              <a:t>Organiza en el tiempo</a:t>
            </a:r>
            <a:endParaRPr lang="en-US" sz="1350" dirty="0"/>
          </a:p>
        </p:txBody>
      </p:sp>
      <p:sp>
        <p:nvSpPr>
          <p:cNvPr id="26" name="Text 20"/>
          <p:cNvSpPr txBox="1"/>
          <p:nvPr/>
        </p:nvSpPr>
        <p:spPr>
          <a:xfrm>
            <a:off x="9432036" y="3310128"/>
            <a:ext cx="2185416" cy="731520"/>
          </a:xfrm>
          <a:prstGeom prst="rect">
            <a:avLst/>
          </a:prstGeom>
          <a:noFill/>
          <a:ln/>
        </p:spPr>
        <p:txBody>
          <a:bodyPr wrap="square" lIns="0" tIns="0" rIns="0" bIns="0" rtlCol="0" anchor="ctr"/>
          <a:lstStyle/>
          <a:p>
            <a:pPr marL="0" indent="0">
              <a:lnSpc>
                <a:spcPct val="110000"/>
              </a:lnSpc>
              <a:buNone/>
            </a:pPr>
            <a:r>
              <a:rPr lang="en-US" sz="1150" dirty="0">
                <a:solidFill>
                  <a:srgbClr val="5F6F69"/>
                </a:solidFill>
                <a:latin typeface="Calibri" pitchFamily="34" charset="0"/>
                <a:ea typeface="Calibri" pitchFamily="34" charset="-122"/>
                <a:cs typeface="Calibri" pitchFamily="34" charset="-120"/>
              </a:rPr>
              <a:t>Alinea fuentes con frecuencias distintas y arma el dataset.</a:t>
            </a:r>
            <a:endParaRPr lang="en-US" sz="1150" dirty="0"/>
          </a:p>
        </p:txBody>
      </p:sp>
      <p:sp>
        <p:nvSpPr>
          <p:cNvPr id="27" name="Shape 21"/>
          <p:cNvSpPr/>
          <p:nvPr/>
        </p:nvSpPr>
        <p:spPr>
          <a:xfrm>
            <a:off x="640080" y="4434840"/>
            <a:ext cx="10908792" cy="1234440"/>
          </a:xfrm>
          <a:prstGeom prst="roundRect">
            <a:avLst>
              <a:gd name="adj" fmla="val 8889"/>
            </a:avLst>
          </a:prstGeom>
          <a:solidFill>
            <a:srgbClr val="E2F1F2"/>
          </a:solidFill>
          <a:ln w="12700">
            <a:solidFill>
              <a:srgbClr val="E2F1F2"/>
            </a:solidFill>
            <a:prstDash val="solid"/>
          </a:ln>
          <a:effectLst>
            <a:outerShdw blurRad="127000" dist="25400" dir="5400000" algn="bl" rotWithShape="0">
              <a:srgbClr val="11302A">
                <a:alpha val="10000"/>
              </a:srgbClr>
            </a:outerShdw>
          </a:effectLst>
        </p:spPr>
      </p:sp>
      <p:sp>
        <p:nvSpPr>
          <p:cNvPr id="28" name="Text 22"/>
          <p:cNvSpPr txBox="1"/>
          <p:nvPr/>
        </p:nvSpPr>
        <p:spPr>
          <a:xfrm>
            <a:off x="1051560" y="4590288"/>
            <a:ext cx="10085832" cy="365760"/>
          </a:xfrm>
          <a:prstGeom prst="rect">
            <a:avLst/>
          </a:prstGeom>
          <a:noFill/>
          <a:ln/>
        </p:spPr>
        <p:txBody>
          <a:bodyPr wrap="square" lIns="0" tIns="0" rIns="0" bIns="0" rtlCol="0" anchor="ctr"/>
          <a:lstStyle/>
          <a:p>
            <a:pPr marL="0" indent="0">
              <a:buNone/>
            </a:pPr>
            <a:r>
              <a:rPr lang="en-US" sz="1400" b="1" dirty="0">
                <a:solidFill>
                  <a:srgbClr val="13312A"/>
                </a:solidFill>
                <a:latin typeface="Calibri" pitchFamily="34" charset="0"/>
                <a:ea typeface="Calibri" pitchFamily="34" charset="-122"/>
                <a:cs typeface="Calibri" pitchFamily="34" charset="-120"/>
              </a:rPr>
              <a:t>Después consulta al modelo y devuelve la recomendación al sistema.</a:t>
            </a:r>
            <a:endParaRPr lang="en-US" sz="1400" dirty="0"/>
          </a:p>
        </p:txBody>
      </p:sp>
      <p:sp>
        <p:nvSpPr>
          <p:cNvPr id="29" name="Text 23"/>
          <p:cNvSpPr txBox="1"/>
          <p:nvPr/>
        </p:nvSpPr>
        <p:spPr>
          <a:xfrm>
            <a:off x="1051560" y="4956048"/>
            <a:ext cx="10085832" cy="594360"/>
          </a:xfrm>
          <a:prstGeom prst="rect">
            <a:avLst/>
          </a:prstGeom>
          <a:noFill/>
          <a:ln/>
        </p:spPr>
        <p:txBody>
          <a:bodyPr wrap="square" lIns="0" tIns="0" rIns="0" bIns="0" rtlCol="0" anchor="ctr"/>
          <a:lstStyle/>
          <a:p>
            <a:pPr marL="0" indent="0">
              <a:lnSpc>
                <a:spcPct val="110000"/>
              </a:lnSpc>
              <a:buNone/>
            </a:pPr>
            <a:r>
              <a:rPr lang="en-US" sz="1250" dirty="0">
                <a:solidFill>
                  <a:srgbClr val="5F6F69"/>
                </a:solidFill>
                <a:latin typeface="Calibri" pitchFamily="34" charset="0"/>
                <a:ea typeface="Calibri" pitchFamily="34" charset="-122"/>
                <a:cs typeface="Calibri" pitchFamily="34" charset="-120"/>
              </a:rPr>
              <a:t>Es la infraestructura que hace posible el análisis, no la contribución académica principal de la tesis: sin este punto de encuentro, las fuentes quedarían aisladas y no habría dataset que analizar.</a:t>
            </a:r>
            <a:endParaRPr lang="en-US" sz="1250" dirty="0"/>
          </a:p>
        </p:txBody>
      </p:sp>
      <p:sp>
        <p:nvSpPr>
          <p:cNvPr id="30" name="Text 24"/>
          <p:cNvSpPr txBox="1"/>
          <p:nvPr/>
        </p:nvSpPr>
        <p:spPr>
          <a:xfrm>
            <a:off x="640080" y="6382512"/>
            <a:ext cx="7315200" cy="274320"/>
          </a:xfrm>
          <a:prstGeom prst="rect">
            <a:avLst/>
          </a:prstGeom>
          <a:noFill/>
          <a:ln/>
        </p:spPr>
        <p:txBody>
          <a:bodyPr wrap="square" lIns="0" tIns="0" rIns="0" bIns="0" rtlCol="0" anchor="ctr"/>
          <a:lstStyle/>
          <a:p>
            <a:pPr marL="0" indent="0">
              <a:buNone/>
            </a:pPr>
            <a:r>
              <a:rPr lang="en-US" sz="950" dirty="0">
                <a:solidFill>
                  <a:srgbClr val="9AAAA4"/>
                </a:solidFill>
                <a:latin typeface="Calibri" pitchFamily="34" charset="0"/>
                <a:ea typeface="Calibri" pitchFamily="34" charset="-122"/>
                <a:cs typeface="Calibri" pitchFamily="34" charset="-120"/>
              </a:rPr>
              <a:t>Vitic AI · Tesis — Licenciatura en Análisis de Datos</a:t>
            </a:r>
            <a:endParaRPr lang="en-US" sz="950" dirty="0"/>
          </a:p>
        </p:txBody>
      </p:sp>
      <p:sp>
        <p:nvSpPr>
          <p:cNvPr id="31" name="Text 25"/>
          <p:cNvSpPr txBox="1"/>
          <p:nvPr/>
        </p:nvSpPr>
        <p:spPr>
          <a:xfrm>
            <a:off x="10634472" y="6382512"/>
            <a:ext cx="914400" cy="274320"/>
          </a:xfrm>
          <a:prstGeom prst="rect">
            <a:avLst/>
          </a:prstGeom>
          <a:noFill/>
          <a:ln/>
        </p:spPr>
        <p:txBody>
          <a:bodyPr wrap="square" lIns="0" tIns="0" rIns="0" bIns="0" rtlCol="0" anchor="ctr"/>
          <a:lstStyle/>
          <a:p>
            <a:pPr marL="0" indent="0" algn="r">
              <a:buNone/>
            </a:pPr>
            <a:r>
              <a:rPr lang="en-US" sz="950" dirty="0">
                <a:solidFill>
                  <a:srgbClr val="9AAAA4"/>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8686800" cy="237744"/>
          </a:xfrm>
          <a:prstGeom prst="rect">
            <a:avLst/>
          </a:prstGeom>
          <a:noFill/>
          <a:ln/>
        </p:spPr>
        <p:txBody>
          <a:bodyPr wrap="square" lIns="0" tIns="0" rIns="0" bIns="0" rtlCol="0" anchor="ctr"/>
          <a:lstStyle/>
          <a:p>
            <a:pPr marL="0" indent="0">
              <a:buNone/>
            </a:pPr>
            <a:r>
              <a:rPr lang="en-US" sz="1150" b="1" kern="0" spc="200" dirty="0">
                <a:solidFill>
                  <a:srgbClr val="0E7C86"/>
                </a:solidFill>
                <a:latin typeface="Calibri" pitchFamily="34" charset="0"/>
                <a:ea typeface="Calibri" pitchFamily="34" charset="-122"/>
                <a:cs typeface="Calibri" pitchFamily="34" charset="-120"/>
              </a:rPr>
              <a:t>CIENCIA DE DATOS</a:t>
            </a:r>
            <a:endParaRPr lang="en-US" sz="1150" dirty="0"/>
          </a:p>
        </p:txBody>
      </p:sp>
      <p:sp>
        <p:nvSpPr>
          <p:cNvPr id="3" name="Text 1"/>
          <p:cNvSpPr txBox="1"/>
          <p:nvPr/>
        </p:nvSpPr>
        <p:spPr>
          <a:xfrm>
            <a:off x="640080" y="640080"/>
            <a:ext cx="10607040" cy="566928"/>
          </a:xfrm>
          <a:prstGeom prst="rect">
            <a:avLst/>
          </a:prstGeom>
          <a:noFill/>
          <a:ln/>
        </p:spPr>
        <p:txBody>
          <a:bodyPr wrap="square" lIns="0" tIns="0" rIns="0" bIns="0" rtlCol="0" anchor="ctr"/>
          <a:lstStyle/>
          <a:p>
            <a:pPr marL="0" indent="0">
              <a:buNone/>
            </a:pPr>
            <a:r>
              <a:rPr lang="en-US" sz="3200" b="1" dirty="0">
                <a:solidFill>
                  <a:srgbClr val="13312A"/>
                </a:solidFill>
                <a:latin typeface="Cambria" pitchFamily="34" charset="0"/>
                <a:ea typeface="Cambria" pitchFamily="34" charset="-122"/>
                <a:cs typeface="Cambria" pitchFamily="34" charset="-120"/>
              </a:rPr>
              <a:t>Del dato disperso al dataset multimodal</a:t>
            </a:r>
            <a:endParaRPr lang="en-US" sz="3200" dirty="0"/>
          </a:p>
        </p:txBody>
      </p:sp>
      <p:sp>
        <p:nvSpPr>
          <p:cNvPr id="4" name="Shape 2"/>
          <p:cNvSpPr/>
          <p:nvPr/>
        </p:nvSpPr>
        <p:spPr>
          <a:xfrm>
            <a:off x="9674352" y="402336"/>
            <a:ext cx="1874520" cy="310896"/>
          </a:xfrm>
          <a:prstGeom prst="roundRect">
            <a:avLst>
              <a:gd name="adj" fmla="val 50000"/>
            </a:avLst>
          </a:prstGeom>
          <a:solidFill>
            <a:srgbClr val="FAEEDA"/>
          </a:solidFill>
          <a:ln w="12700">
            <a:solidFill>
              <a:srgbClr val="FAEEDA"/>
            </a:solidFill>
            <a:prstDash val="solid"/>
          </a:ln>
        </p:spPr>
      </p:sp>
      <p:sp>
        <p:nvSpPr>
          <p:cNvPr id="5" name="Text 3"/>
          <p:cNvSpPr txBox="1"/>
          <p:nvPr/>
        </p:nvSpPr>
        <p:spPr>
          <a:xfrm>
            <a:off x="9674352" y="402336"/>
            <a:ext cx="1874520" cy="310896"/>
          </a:xfrm>
          <a:prstGeom prst="rect">
            <a:avLst/>
          </a:prstGeom>
          <a:noFill/>
          <a:ln/>
        </p:spPr>
        <p:txBody>
          <a:bodyPr wrap="square" lIns="0" tIns="0" rIns="0" bIns="0" rtlCol="0" anchor="ctr"/>
          <a:lstStyle/>
          <a:p>
            <a:pPr marL="0" indent="0" algn="ctr">
              <a:buNone/>
            </a:pPr>
            <a:r>
              <a:rPr lang="en-US" sz="1050" b="1" dirty="0">
                <a:solidFill>
                  <a:srgbClr val="7A5310"/>
                </a:solidFill>
                <a:latin typeface="Calibri" pitchFamily="34" charset="0"/>
                <a:ea typeface="Calibri" pitchFamily="34" charset="-122"/>
                <a:cs typeface="Calibri" pitchFamily="34" charset="-120"/>
              </a:rPr>
              <a:t>En desarrollo</a:t>
            </a:r>
            <a:endParaRPr lang="en-US" sz="1050" dirty="0"/>
          </a:p>
        </p:txBody>
      </p:sp>
      <p:sp>
        <p:nvSpPr>
          <p:cNvPr id="6" name="Shape 4"/>
          <p:cNvSpPr/>
          <p:nvPr/>
        </p:nvSpPr>
        <p:spPr>
          <a:xfrm>
            <a:off x="315468" y="1417320"/>
            <a:ext cx="2697480" cy="1234440"/>
          </a:xfrm>
          <a:prstGeom prst="roundRect">
            <a:avLst>
              <a:gd name="adj" fmla="val 8889"/>
            </a:avLst>
          </a:prstGeom>
          <a:solidFill>
            <a:srgbClr val="E9F1EB"/>
          </a:solidFill>
          <a:ln w="12700">
            <a:solidFill>
              <a:srgbClr val="E9F1EB"/>
            </a:solidFill>
            <a:prstDash val="solid"/>
          </a:ln>
          <a:effectLst>
            <a:outerShdw blurRad="127000" dist="25400" dir="5400000" algn="bl" rotWithShape="0">
              <a:srgbClr val="11302A">
                <a:alpha val="10000"/>
              </a:srgbClr>
            </a:outerShdw>
          </a:effectLst>
        </p:spPr>
      </p:sp>
      <p:sp>
        <p:nvSpPr>
          <p:cNvPr id="7" name="Text 5"/>
          <p:cNvSpPr txBox="1"/>
          <p:nvPr/>
        </p:nvSpPr>
        <p:spPr>
          <a:xfrm>
            <a:off x="516636" y="1536192"/>
            <a:ext cx="2295144" cy="292608"/>
          </a:xfrm>
          <a:prstGeom prst="rect">
            <a:avLst/>
          </a:prstGeom>
          <a:noFill/>
          <a:ln/>
        </p:spPr>
        <p:txBody>
          <a:bodyPr wrap="square" lIns="0" tIns="0" rIns="0" bIns="0" rtlCol="0" anchor="ctr"/>
          <a:lstStyle/>
          <a:p>
            <a:pPr marL="0" indent="0">
              <a:buNone/>
            </a:pPr>
            <a:r>
              <a:rPr lang="en-US" sz="1250" b="1" dirty="0">
                <a:solidFill>
                  <a:srgbClr val="0A5D65"/>
                </a:solidFill>
                <a:latin typeface="Calibri" pitchFamily="34" charset="0"/>
                <a:ea typeface="Calibri" pitchFamily="34" charset="-122"/>
                <a:cs typeface="Calibri" pitchFamily="34" charset="-120"/>
              </a:rPr>
              <a:t>IoT · suelo y ambiente</a:t>
            </a:r>
            <a:endParaRPr lang="en-US" sz="1250" dirty="0"/>
          </a:p>
        </p:txBody>
      </p:sp>
      <p:sp>
        <p:nvSpPr>
          <p:cNvPr id="8" name="Text 6"/>
          <p:cNvSpPr txBox="1"/>
          <p:nvPr/>
        </p:nvSpPr>
        <p:spPr>
          <a:xfrm>
            <a:off x="516636" y="1847088"/>
            <a:ext cx="2295144" cy="685800"/>
          </a:xfrm>
          <a:prstGeom prst="rect">
            <a:avLst/>
          </a:prstGeom>
          <a:noFill/>
          <a:ln/>
        </p:spPr>
        <p:txBody>
          <a:bodyPr wrap="square" lIns="0" tIns="0" rIns="0" bIns="0" rtlCol="0" anchor="ctr"/>
          <a:lstStyle/>
          <a:p>
            <a:pPr marL="0" indent="0">
              <a:lnSpc>
                <a:spcPct val="110000"/>
              </a:lnSpc>
              <a:buNone/>
            </a:pPr>
            <a:r>
              <a:rPr lang="en-US" sz="1100" dirty="0">
                <a:solidFill>
                  <a:srgbClr val="5F6F69"/>
                </a:solidFill>
                <a:latin typeface="Calibri" pitchFamily="34" charset="0"/>
                <a:ea typeface="Calibri" pitchFamily="34" charset="-122"/>
                <a:cs typeface="Calibri" pitchFamily="34" charset="-120"/>
              </a:rPr>
              <a:t>humedad del suelo, temperatura,</a:t>
            </a:r>
            <a:endParaRPr lang="en-US" sz="1100" dirty="0"/>
          </a:p>
          <a:p>
            <a:pPr marL="0" indent="0">
              <a:lnSpc>
                <a:spcPct val="110000"/>
              </a:lnSpc>
              <a:buNone/>
            </a:pPr>
            <a:r>
              <a:rPr lang="en-US" sz="1100" dirty="0">
                <a:solidFill>
                  <a:srgbClr val="5F6F69"/>
                </a:solidFill>
                <a:latin typeface="Calibri" pitchFamily="34" charset="0"/>
                <a:ea typeface="Calibri" pitchFamily="34" charset="-122"/>
                <a:cs typeface="Calibri" pitchFamily="34" charset="-120"/>
              </a:rPr>
              <a:t>humedad relativa, viento</a:t>
            </a:r>
            <a:endParaRPr lang="en-US" sz="1100" dirty="0"/>
          </a:p>
        </p:txBody>
      </p:sp>
      <p:sp>
        <p:nvSpPr>
          <p:cNvPr id="9" name="Shape 7"/>
          <p:cNvSpPr/>
          <p:nvPr/>
        </p:nvSpPr>
        <p:spPr>
          <a:xfrm>
            <a:off x="3268980" y="1417320"/>
            <a:ext cx="2697480" cy="1234440"/>
          </a:xfrm>
          <a:prstGeom prst="roundRect">
            <a:avLst>
              <a:gd name="adj" fmla="val 8889"/>
            </a:avLst>
          </a:prstGeom>
          <a:solidFill>
            <a:srgbClr val="E9F1EB"/>
          </a:solidFill>
          <a:ln w="12700">
            <a:solidFill>
              <a:srgbClr val="E9F1EB"/>
            </a:solidFill>
            <a:prstDash val="solid"/>
          </a:ln>
          <a:effectLst>
            <a:outerShdw blurRad="127000" dist="25400" dir="5400000" algn="bl" rotWithShape="0">
              <a:srgbClr val="11302A">
                <a:alpha val="10000"/>
              </a:srgbClr>
            </a:outerShdw>
          </a:effectLst>
        </p:spPr>
      </p:sp>
      <p:sp>
        <p:nvSpPr>
          <p:cNvPr id="10" name="Text 8"/>
          <p:cNvSpPr txBox="1"/>
          <p:nvPr/>
        </p:nvSpPr>
        <p:spPr>
          <a:xfrm>
            <a:off x="3470148" y="1536192"/>
            <a:ext cx="2295144" cy="292608"/>
          </a:xfrm>
          <a:prstGeom prst="rect">
            <a:avLst/>
          </a:prstGeom>
          <a:noFill/>
          <a:ln/>
        </p:spPr>
        <p:txBody>
          <a:bodyPr wrap="square" lIns="0" tIns="0" rIns="0" bIns="0" rtlCol="0" anchor="ctr"/>
          <a:lstStyle/>
          <a:p>
            <a:pPr marL="0" indent="0">
              <a:buNone/>
            </a:pPr>
            <a:r>
              <a:rPr lang="en-US" sz="1250" b="1" dirty="0">
                <a:solidFill>
                  <a:srgbClr val="0A5D65"/>
                </a:solidFill>
                <a:latin typeface="Calibri" pitchFamily="34" charset="0"/>
                <a:ea typeface="Calibri" pitchFamily="34" charset="-122"/>
                <a:cs typeface="Calibri" pitchFamily="34" charset="-120"/>
              </a:rPr>
              <a:t>Riego</a:t>
            </a:r>
            <a:endParaRPr lang="en-US" sz="1250" dirty="0"/>
          </a:p>
        </p:txBody>
      </p:sp>
      <p:sp>
        <p:nvSpPr>
          <p:cNvPr id="11" name="Text 9"/>
          <p:cNvSpPr txBox="1"/>
          <p:nvPr/>
        </p:nvSpPr>
        <p:spPr>
          <a:xfrm>
            <a:off x="3470148" y="1847088"/>
            <a:ext cx="2295144" cy="685800"/>
          </a:xfrm>
          <a:prstGeom prst="rect">
            <a:avLst/>
          </a:prstGeom>
          <a:noFill/>
          <a:ln/>
        </p:spPr>
        <p:txBody>
          <a:bodyPr wrap="square" lIns="0" tIns="0" rIns="0" bIns="0" rtlCol="0" anchor="ctr"/>
          <a:lstStyle/>
          <a:p>
            <a:pPr marL="0" indent="0">
              <a:lnSpc>
                <a:spcPct val="110000"/>
              </a:lnSpc>
              <a:buNone/>
            </a:pPr>
            <a:r>
              <a:rPr lang="en-US" sz="1100" dirty="0">
                <a:solidFill>
                  <a:srgbClr val="5F6F69"/>
                </a:solidFill>
                <a:latin typeface="Calibri" pitchFamily="34" charset="0"/>
                <a:ea typeface="Calibri" pitchFamily="34" charset="-122"/>
                <a:cs typeface="Calibri" pitchFamily="34" charset="-120"/>
              </a:rPr>
              <a:t>caudal, volumen aplicado,</a:t>
            </a:r>
            <a:endParaRPr lang="en-US" sz="1100" dirty="0"/>
          </a:p>
          <a:p>
            <a:pPr marL="0" indent="0">
              <a:lnSpc>
                <a:spcPct val="110000"/>
              </a:lnSpc>
              <a:buNone/>
            </a:pPr>
            <a:r>
              <a:rPr lang="en-US" sz="1100" dirty="0">
                <a:solidFill>
                  <a:srgbClr val="5F6F69"/>
                </a:solidFill>
                <a:latin typeface="Calibri" pitchFamily="34" charset="0"/>
                <a:ea typeface="Calibri" pitchFamily="34" charset="-122"/>
                <a:cs typeface="Calibri" pitchFamily="34" charset="-120"/>
              </a:rPr>
              <a:t>eventos de riego</a:t>
            </a:r>
            <a:endParaRPr lang="en-US" sz="1100" dirty="0"/>
          </a:p>
        </p:txBody>
      </p:sp>
      <p:sp>
        <p:nvSpPr>
          <p:cNvPr id="12" name="Shape 10"/>
          <p:cNvSpPr/>
          <p:nvPr/>
        </p:nvSpPr>
        <p:spPr>
          <a:xfrm>
            <a:off x="6222492" y="1417320"/>
            <a:ext cx="2697480" cy="1234440"/>
          </a:xfrm>
          <a:prstGeom prst="roundRect">
            <a:avLst>
              <a:gd name="adj" fmla="val 8889"/>
            </a:avLst>
          </a:prstGeom>
          <a:solidFill>
            <a:srgbClr val="E9F1EB"/>
          </a:solidFill>
          <a:ln w="12700">
            <a:solidFill>
              <a:srgbClr val="E9F1EB"/>
            </a:solidFill>
            <a:prstDash val="solid"/>
          </a:ln>
          <a:effectLst>
            <a:outerShdw blurRad="127000" dist="25400" dir="5400000" algn="bl" rotWithShape="0">
              <a:srgbClr val="11302A">
                <a:alpha val="10000"/>
              </a:srgbClr>
            </a:outerShdw>
          </a:effectLst>
        </p:spPr>
      </p:sp>
      <p:sp>
        <p:nvSpPr>
          <p:cNvPr id="13" name="Text 11"/>
          <p:cNvSpPr txBox="1"/>
          <p:nvPr/>
        </p:nvSpPr>
        <p:spPr>
          <a:xfrm>
            <a:off x="6423660" y="1536192"/>
            <a:ext cx="2295144" cy="292608"/>
          </a:xfrm>
          <a:prstGeom prst="rect">
            <a:avLst/>
          </a:prstGeom>
          <a:noFill/>
          <a:ln/>
        </p:spPr>
        <p:txBody>
          <a:bodyPr wrap="square" lIns="0" tIns="0" rIns="0" bIns="0" rtlCol="0" anchor="ctr"/>
          <a:lstStyle/>
          <a:p>
            <a:pPr marL="0" indent="0">
              <a:buNone/>
            </a:pPr>
            <a:r>
              <a:rPr lang="en-US" sz="1250" b="1" dirty="0">
                <a:solidFill>
                  <a:srgbClr val="0A5D65"/>
                </a:solidFill>
                <a:latin typeface="Calibri" pitchFamily="34" charset="0"/>
                <a:ea typeface="Calibri" pitchFamily="34" charset="-122"/>
                <a:cs typeface="Calibri" pitchFamily="34" charset="-120"/>
              </a:rPr>
              <a:t>Meteorología</a:t>
            </a:r>
            <a:endParaRPr lang="en-US" sz="1250" dirty="0"/>
          </a:p>
        </p:txBody>
      </p:sp>
      <p:sp>
        <p:nvSpPr>
          <p:cNvPr id="14" name="Text 12"/>
          <p:cNvSpPr txBox="1"/>
          <p:nvPr/>
        </p:nvSpPr>
        <p:spPr>
          <a:xfrm>
            <a:off x="6423660" y="1847088"/>
            <a:ext cx="2295144" cy="685800"/>
          </a:xfrm>
          <a:prstGeom prst="rect">
            <a:avLst/>
          </a:prstGeom>
          <a:noFill/>
          <a:ln/>
        </p:spPr>
        <p:txBody>
          <a:bodyPr wrap="square" lIns="0" tIns="0" rIns="0" bIns="0" rtlCol="0" anchor="ctr"/>
          <a:lstStyle/>
          <a:p>
            <a:pPr marL="0" indent="0">
              <a:lnSpc>
                <a:spcPct val="110000"/>
              </a:lnSpc>
              <a:buNone/>
            </a:pPr>
            <a:r>
              <a:rPr lang="en-US" sz="1100" dirty="0">
                <a:solidFill>
                  <a:srgbClr val="5F6F69"/>
                </a:solidFill>
                <a:latin typeface="Calibri" pitchFamily="34" charset="0"/>
                <a:ea typeface="Calibri" pitchFamily="34" charset="-122"/>
                <a:cs typeface="Calibri" pitchFamily="34" charset="-120"/>
              </a:rPr>
              <a:t>precipitación, ET0,</a:t>
            </a:r>
            <a:endParaRPr lang="en-US" sz="1100" dirty="0"/>
          </a:p>
          <a:p>
            <a:pPr marL="0" indent="0">
              <a:lnSpc>
                <a:spcPct val="110000"/>
              </a:lnSpc>
              <a:buNone/>
            </a:pPr>
            <a:r>
              <a:rPr lang="en-US" sz="1100" dirty="0">
                <a:solidFill>
                  <a:srgbClr val="5F6F69"/>
                </a:solidFill>
                <a:latin typeface="Calibri" pitchFamily="34" charset="0"/>
                <a:ea typeface="Calibri" pitchFamily="34" charset="-122"/>
                <a:cs typeface="Calibri" pitchFamily="34" charset="-120"/>
              </a:rPr>
              <a:t>VPD, radiación</a:t>
            </a:r>
            <a:endParaRPr lang="en-US" sz="1100" dirty="0"/>
          </a:p>
        </p:txBody>
      </p:sp>
      <p:sp>
        <p:nvSpPr>
          <p:cNvPr id="15" name="Shape 13"/>
          <p:cNvSpPr/>
          <p:nvPr/>
        </p:nvSpPr>
        <p:spPr>
          <a:xfrm>
            <a:off x="9176004" y="1417320"/>
            <a:ext cx="2697480" cy="1234440"/>
          </a:xfrm>
          <a:prstGeom prst="roundRect">
            <a:avLst>
              <a:gd name="adj" fmla="val 8889"/>
            </a:avLst>
          </a:prstGeom>
          <a:solidFill>
            <a:srgbClr val="E9F1EB"/>
          </a:solidFill>
          <a:ln w="12700">
            <a:solidFill>
              <a:srgbClr val="E9F1EB"/>
            </a:solidFill>
            <a:prstDash val="solid"/>
          </a:ln>
          <a:effectLst>
            <a:outerShdw blurRad="127000" dist="25400" dir="5400000" algn="bl" rotWithShape="0">
              <a:srgbClr val="11302A">
                <a:alpha val="10000"/>
              </a:srgbClr>
            </a:outerShdw>
          </a:effectLst>
        </p:spPr>
      </p:sp>
      <p:sp>
        <p:nvSpPr>
          <p:cNvPr id="16" name="Text 14"/>
          <p:cNvSpPr txBox="1"/>
          <p:nvPr/>
        </p:nvSpPr>
        <p:spPr>
          <a:xfrm>
            <a:off x="9377172" y="1536192"/>
            <a:ext cx="2295144" cy="292608"/>
          </a:xfrm>
          <a:prstGeom prst="rect">
            <a:avLst/>
          </a:prstGeom>
          <a:noFill/>
          <a:ln/>
        </p:spPr>
        <p:txBody>
          <a:bodyPr wrap="square" lIns="0" tIns="0" rIns="0" bIns="0" rtlCol="0" anchor="ctr"/>
          <a:lstStyle/>
          <a:p>
            <a:pPr marL="0" indent="0">
              <a:buNone/>
            </a:pPr>
            <a:r>
              <a:rPr lang="en-US" sz="1250" b="1" dirty="0">
                <a:solidFill>
                  <a:srgbClr val="0A5D65"/>
                </a:solidFill>
                <a:latin typeface="Calibri" pitchFamily="34" charset="0"/>
                <a:ea typeface="Calibri" pitchFamily="34" charset="-122"/>
                <a:cs typeface="Calibri" pitchFamily="34" charset="-120"/>
              </a:rPr>
              <a:t>Satélite</a:t>
            </a:r>
            <a:endParaRPr lang="en-US" sz="1250" dirty="0"/>
          </a:p>
        </p:txBody>
      </p:sp>
      <p:sp>
        <p:nvSpPr>
          <p:cNvPr id="17" name="Text 15"/>
          <p:cNvSpPr txBox="1"/>
          <p:nvPr/>
        </p:nvSpPr>
        <p:spPr>
          <a:xfrm>
            <a:off x="9377172" y="1847088"/>
            <a:ext cx="2295144" cy="685800"/>
          </a:xfrm>
          <a:prstGeom prst="rect">
            <a:avLst/>
          </a:prstGeom>
          <a:noFill/>
          <a:ln/>
        </p:spPr>
        <p:txBody>
          <a:bodyPr wrap="square" lIns="0" tIns="0" rIns="0" bIns="0" rtlCol="0" anchor="ctr"/>
          <a:lstStyle/>
          <a:p>
            <a:pPr marL="0" indent="0">
              <a:lnSpc>
                <a:spcPct val="110000"/>
              </a:lnSpc>
              <a:buNone/>
            </a:pPr>
            <a:r>
              <a:rPr lang="en-US" sz="1100" dirty="0">
                <a:solidFill>
                  <a:srgbClr val="5F6F69"/>
                </a:solidFill>
                <a:latin typeface="Calibri" pitchFamily="34" charset="0"/>
                <a:ea typeface="Calibri" pitchFamily="34" charset="-122"/>
                <a:cs typeface="Calibri" pitchFamily="34" charset="-120"/>
              </a:rPr>
              <a:t>NDVI, NDMI,</a:t>
            </a:r>
            <a:endParaRPr lang="en-US" sz="1100" dirty="0"/>
          </a:p>
          <a:p>
            <a:pPr marL="0" indent="0">
              <a:lnSpc>
                <a:spcPct val="110000"/>
              </a:lnSpc>
              <a:buNone/>
            </a:pPr>
            <a:r>
              <a:rPr lang="en-US" sz="1100" dirty="0">
                <a:solidFill>
                  <a:srgbClr val="5F6F69"/>
                </a:solidFill>
                <a:latin typeface="Calibri" pitchFamily="34" charset="0"/>
                <a:ea typeface="Calibri" pitchFamily="34" charset="-122"/>
                <a:cs typeface="Calibri" pitchFamily="34" charset="-120"/>
              </a:rPr>
              <a:t>variables de nubosidad</a:t>
            </a:r>
            <a:endParaRPr lang="en-US" sz="1100" dirty="0"/>
          </a:p>
        </p:txBody>
      </p:sp>
      <p:sp>
        <p:nvSpPr>
          <p:cNvPr id="18" name="Shape 16"/>
          <p:cNvSpPr/>
          <p:nvPr/>
        </p:nvSpPr>
        <p:spPr>
          <a:xfrm>
            <a:off x="6094476" y="2651760"/>
            <a:ext cx="0" cy="228600"/>
          </a:xfrm>
          <a:prstGeom prst="line">
            <a:avLst/>
          </a:prstGeom>
          <a:noFill/>
          <a:ln w="19050">
            <a:solidFill>
              <a:srgbClr val="0E7C86"/>
            </a:solidFill>
            <a:prstDash val="solid"/>
            <a:tailEnd type="triangle"/>
          </a:ln>
        </p:spPr>
      </p:sp>
      <p:sp>
        <p:nvSpPr>
          <p:cNvPr id="19" name="Shape 17"/>
          <p:cNvSpPr/>
          <p:nvPr/>
        </p:nvSpPr>
        <p:spPr>
          <a:xfrm>
            <a:off x="3259836" y="2880360"/>
            <a:ext cx="5669280" cy="502920"/>
          </a:xfrm>
          <a:prstGeom prst="roundRect">
            <a:avLst>
              <a:gd name="adj" fmla="val 18182"/>
            </a:avLst>
          </a:prstGeom>
          <a:solidFill>
            <a:srgbClr val="FFFFFF"/>
          </a:solidFill>
          <a:ln w="12700">
            <a:solidFill>
              <a:srgbClr val="C9D6D1"/>
            </a:solidFill>
            <a:prstDash val="solid"/>
          </a:ln>
          <a:effectLst>
            <a:outerShdw blurRad="127000" dist="25400" dir="5400000" algn="bl" rotWithShape="0">
              <a:srgbClr val="11302A">
                <a:alpha val="10000"/>
              </a:srgbClr>
            </a:outerShdw>
          </a:effectLst>
        </p:spPr>
      </p:sp>
      <p:sp>
        <p:nvSpPr>
          <p:cNvPr id="20" name="Text 18"/>
          <p:cNvSpPr txBox="1"/>
          <p:nvPr/>
        </p:nvSpPr>
        <p:spPr>
          <a:xfrm>
            <a:off x="3351276" y="2880360"/>
            <a:ext cx="5486400" cy="502920"/>
          </a:xfrm>
          <a:prstGeom prst="rect">
            <a:avLst/>
          </a:prstGeom>
          <a:noFill/>
          <a:ln/>
        </p:spPr>
        <p:txBody>
          <a:bodyPr wrap="square" lIns="0" tIns="0" rIns="0" bIns="0" rtlCol="0" anchor="ctr"/>
          <a:lstStyle/>
          <a:p>
            <a:pPr marL="0" indent="0" algn="ctr">
              <a:lnSpc>
                <a:spcPct val="105000"/>
              </a:lnSpc>
              <a:buNone/>
            </a:pPr>
            <a:r>
              <a:rPr lang="en-US" sz="1300" b="1" dirty="0">
                <a:solidFill>
                  <a:srgbClr val="13312A"/>
                </a:solidFill>
                <a:latin typeface="Calibri" pitchFamily="34" charset="0"/>
                <a:ea typeface="Calibri" pitchFamily="34" charset="-122"/>
                <a:cs typeface="Calibri" pitchFamily="34" charset="-120"/>
              </a:rPr>
              <a:t>Dataset multimodal · variables alineadas en el tiempo</a:t>
            </a:r>
            <a:endParaRPr lang="en-US" sz="1300" dirty="0"/>
          </a:p>
        </p:txBody>
      </p:sp>
      <p:sp>
        <p:nvSpPr>
          <p:cNvPr id="21" name="Shape 19"/>
          <p:cNvSpPr/>
          <p:nvPr/>
        </p:nvSpPr>
        <p:spPr>
          <a:xfrm>
            <a:off x="6094476" y="3383280"/>
            <a:ext cx="0" cy="228600"/>
          </a:xfrm>
          <a:prstGeom prst="line">
            <a:avLst/>
          </a:prstGeom>
          <a:noFill/>
          <a:ln w="19050">
            <a:solidFill>
              <a:srgbClr val="0E7C86"/>
            </a:solidFill>
            <a:prstDash val="solid"/>
            <a:tailEnd type="triangle"/>
          </a:ln>
        </p:spPr>
      </p:sp>
      <p:sp>
        <p:nvSpPr>
          <p:cNvPr id="22" name="Shape 20"/>
          <p:cNvSpPr/>
          <p:nvPr/>
        </p:nvSpPr>
        <p:spPr>
          <a:xfrm>
            <a:off x="3259836" y="3611880"/>
            <a:ext cx="5669280" cy="502920"/>
          </a:xfrm>
          <a:prstGeom prst="roundRect">
            <a:avLst>
              <a:gd name="adj" fmla="val 18182"/>
            </a:avLst>
          </a:prstGeom>
          <a:solidFill>
            <a:srgbClr val="0E7C86"/>
          </a:solidFill>
          <a:ln w="12700">
            <a:solidFill>
              <a:srgbClr val="0E7C86"/>
            </a:solidFill>
            <a:prstDash val="solid"/>
          </a:ln>
          <a:effectLst>
            <a:outerShdw blurRad="127000" dist="25400" dir="5400000" algn="bl" rotWithShape="0">
              <a:srgbClr val="11302A">
                <a:alpha val="10000"/>
              </a:srgbClr>
            </a:outerShdw>
          </a:effectLst>
        </p:spPr>
      </p:sp>
      <p:sp>
        <p:nvSpPr>
          <p:cNvPr id="23" name="Text 21"/>
          <p:cNvSpPr txBox="1"/>
          <p:nvPr/>
        </p:nvSpPr>
        <p:spPr>
          <a:xfrm>
            <a:off x="3351276" y="3611880"/>
            <a:ext cx="5486400" cy="502920"/>
          </a:xfrm>
          <a:prstGeom prst="rect">
            <a:avLst/>
          </a:prstGeom>
          <a:noFill/>
          <a:ln/>
        </p:spPr>
        <p:txBody>
          <a:bodyPr wrap="square" lIns="0" tIns="0" rIns="0" bIns="0" rtlCol="0" anchor="ctr"/>
          <a:lstStyle/>
          <a:p>
            <a:pPr marL="0" indent="0" algn="ctr">
              <a:lnSpc>
                <a:spcPct val="105000"/>
              </a:lnSpc>
              <a:buNone/>
            </a:pPr>
            <a:r>
              <a:rPr lang="en-US" sz="1300" b="1" dirty="0">
                <a:solidFill>
                  <a:srgbClr val="FFFFFF"/>
                </a:solidFill>
                <a:latin typeface="Calibri" pitchFamily="34" charset="0"/>
                <a:ea typeface="Calibri" pitchFamily="34" charset="-122"/>
                <a:cs typeface="Calibri" pitchFamily="34" charset="-120"/>
              </a:rPr>
              <a:t>Modelo de Ciencia de Datos</a:t>
            </a:r>
            <a:endParaRPr lang="en-US" sz="1300" dirty="0"/>
          </a:p>
        </p:txBody>
      </p:sp>
      <p:sp>
        <p:nvSpPr>
          <p:cNvPr id="24" name="Shape 22"/>
          <p:cNvSpPr/>
          <p:nvPr/>
        </p:nvSpPr>
        <p:spPr>
          <a:xfrm>
            <a:off x="6094476" y="4114800"/>
            <a:ext cx="0" cy="228600"/>
          </a:xfrm>
          <a:prstGeom prst="line">
            <a:avLst/>
          </a:prstGeom>
          <a:noFill/>
          <a:ln w="19050">
            <a:solidFill>
              <a:srgbClr val="0E7C86"/>
            </a:solidFill>
            <a:prstDash val="solid"/>
            <a:tailEnd type="triangle"/>
          </a:ln>
        </p:spPr>
      </p:sp>
      <p:sp>
        <p:nvSpPr>
          <p:cNvPr id="25" name="Shape 23"/>
          <p:cNvSpPr/>
          <p:nvPr/>
        </p:nvSpPr>
        <p:spPr>
          <a:xfrm>
            <a:off x="2985516" y="4343400"/>
            <a:ext cx="6217920" cy="566928"/>
          </a:xfrm>
          <a:prstGeom prst="roundRect">
            <a:avLst>
              <a:gd name="adj" fmla="val 16129"/>
            </a:avLst>
          </a:prstGeom>
          <a:solidFill>
            <a:srgbClr val="C68B18"/>
          </a:solidFill>
          <a:ln w="12700">
            <a:solidFill>
              <a:srgbClr val="C68B18"/>
            </a:solidFill>
            <a:prstDash val="solid"/>
          </a:ln>
          <a:effectLst>
            <a:outerShdw blurRad="127000" dist="25400" dir="5400000" algn="bl" rotWithShape="0">
              <a:srgbClr val="11302A">
                <a:alpha val="10000"/>
              </a:srgbClr>
            </a:outerShdw>
          </a:effectLst>
        </p:spPr>
      </p:sp>
      <p:sp>
        <p:nvSpPr>
          <p:cNvPr id="26" name="Text 24"/>
          <p:cNvSpPr txBox="1"/>
          <p:nvPr/>
        </p:nvSpPr>
        <p:spPr>
          <a:xfrm>
            <a:off x="3076956" y="4343400"/>
            <a:ext cx="6035040" cy="566928"/>
          </a:xfrm>
          <a:prstGeom prst="rect">
            <a:avLst/>
          </a:prstGeom>
          <a:noFill/>
          <a:ln/>
        </p:spPr>
        <p:txBody>
          <a:bodyPr wrap="square" lIns="0" tIns="0" rIns="0" bIns="0" rtlCol="0" anchor="ctr"/>
          <a:lstStyle/>
          <a:p>
            <a:pPr marL="0" indent="0" algn="ctr">
              <a:lnSpc>
                <a:spcPct val="105000"/>
              </a:lnSpc>
              <a:buNone/>
            </a:pPr>
            <a:r>
              <a:rPr lang="en-US" sz="1300" b="1" dirty="0">
                <a:solidFill>
                  <a:srgbClr val="FFFFFF"/>
                </a:solidFill>
                <a:latin typeface="Calibri" pitchFamily="34" charset="0"/>
                <a:ea typeface="Calibri" pitchFamily="34" charset="-122"/>
                <a:cs typeface="Calibri" pitchFamily="34" charset="-120"/>
              </a:rPr>
              <a:t>Humedad del suelo estimada a 24 h</a:t>
            </a:r>
            <a:endParaRPr lang="en-US" sz="1300" dirty="0"/>
          </a:p>
          <a:p>
            <a:pPr marL="0" indent="0" algn="ctr">
              <a:lnSpc>
                <a:spcPct val="105000"/>
              </a:lnSpc>
              <a:buNone/>
            </a:pPr>
            <a:r>
              <a:rPr lang="en-US" sz="1050" dirty="0">
                <a:solidFill>
                  <a:srgbClr val="F2F7F6"/>
                </a:solidFill>
                <a:latin typeface="Calibri" pitchFamily="34" charset="0"/>
                <a:ea typeface="Calibri" pitchFamily="34" charset="-122"/>
                <a:cs typeface="Calibri" pitchFamily="34" charset="-120"/>
              </a:rPr>
              <a:t>target propuesto</a:t>
            </a:r>
            <a:endParaRPr lang="en-US" sz="1300" dirty="0"/>
          </a:p>
        </p:txBody>
      </p:sp>
      <p:sp>
        <p:nvSpPr>
          <p:cNvPr id="27" name="Shape 25"/>
          <p:cNvSpPr/>
          <p:nvPr/>
        </p:nvSpPr>
        <p:spPr>
          <a:xfrm>
            <a:off x="640080" y="5166360"/>
            <a:ext cx="10908792" cy="960120"/>
          </a:xfrm>
          <a:prstGeom prst="roundRect">
            <a:avLst>
              <a:gd name="adj" fmla="val 11429"/>
            </a:avLst>
          </a:prstGeom>
          <a:solidFill>
            <a:srgbClr val="E2F1F2"/>
          </a:solidFill>
          <a:ln w="12700">
            <a:solidFill>
              <a:srgbClr val="E2F1F2"/>
            </a:solidFill>
            <a:prstDash val="solid"/>
          </a:ln>
          <a:effectLst>
            <a:outerShdw blurRad="127000" dist="25400" dir="5400000" algn="bl" rotWithShape="0">
              <a:srgbClr val="11302A">
                <a:alpha val="10000"/>
              </a:srgbClr>
            </a:outerShdw>
          </a:effectLst>
        </p:spPr>
      </p:sp>
      <p:sp>
        <p:nvSpPr>
          <p:cNvPr id="28" name="Text 26"/>
          <p:cNvSpPr txBox="1"/>
          <p:nvPr/>
        </p:nvSpPr>
        <p:spPr>
          <a:xfrm>
            <a:off x="1051560" y="5166360"/>
            <a:ext cx="10085832" cy="960120"/>
          </a:xfrm>
          <a:prstGeom prst="rect">
            <a:avLst/>
          </a:prstGeom>
          <a:noFill/>
          <a:ln/>
        </p:spPr>
        <p:txBody>
          <a:bodyPr wrap="square" lIns="0" tIns="0" rIns="0" bIns="0" rtlCol="0" anchor="ctr"/>
          <a:lstStyle/>
          <a:p>
            <a:pPr marL="0" indent="0">
              <a:lnSpc>
                <a:spcPct val="110000"/>
              </a:lnSpc>
              <a:buNone/>
            </a:pPr>
            <a:r>
              <a:rPr lang="en-US" sz="1450" i="1" dirty="0">
                <a:solidFill>
                  <a:srgbClr val="13312A"/>
                </a:solidFill>
                <a:latin typeface="Cambria" pitchFamily="34" charset="0"/>
                <a:ea typeface="Cambria" pitchFamily="34" charset="-122"/>
                <a:cs typeface="Cambria" pitchFamily="34" charset="-120"/>
              </a:rPr>
              <a:t>«Dadas las condiciones actuales del suelo, el clima, el riego realizado y la información satelital, ¿cuál será el estado de humedad del suelo durante las próximas 24 horas?»</a:t>
            </a:r>
            <a:endParaRPr lang="en-US" sz="1450" dirty="0"/>
          </a:p>
        </p:txBody>
      </p:sp>
      <p:sp>
        <p:nvSpPr>
          <p:cNvPr id="29" name="Text 27"/>
          <p:cNvSpPr txBox="1"/>
          <p:nvPr/>
        </p:nvSpPr>
        <p:spPr>
          <a:xfrm>
            <a:off x="640080" y="6382512"/>
            <a:ext cx="7315200" cy="274320"/>
          </a:xfrm>
          <a:prstGeom prst="rect">
            <a:avLst/>
          </a:prstGeom>
          <a:noFill/>
          <a:ln/>
        </p:spPr>
        <p:txBody>
          <a:bodyPr wrap="square" lIns="0" tIns="0" rIns="0" bIns="0" rtlCol="0" anchor="ctr"/>
          <a:lstStyle/>
          <a:p>
            <a:pPr marL="0" indent="0">
              <a:buNone/>
            </a:pPr>
            <a:r>
              <a:rPr lang="en-US" sz="950" dirty="0">
                <a:solidFill>
                  <a:srgbClr val="9AAAA4"/>
                </a:solidFill>
                <a:latin typeface="Calibri" pitchFamily="34" charset="0"/>
                <a:ea typeface="Calibri" pitchFamily="34" charset="-122"/>
                <a:cs typeface="Calibri" pitchFamily="34" charset="-120"/>
              </a:rPr>
              <a:t>Vitic AI · Tesis — Licenciatura en Análisis de Datos</a:t>
            </a:r>
            <a:endParaRPr lang="en-US" sz="950" dirty="0"/>
          </a:p>
        </p:txBody>
      </p:sp>
      <p:sp>
        <p:nvSpPr>
          <p:cNvPr id="30" name="Text 28"/>
          <p:cNvSpPr txBox="1"/>
          <p:nvPr/>
        </p:nvSpPr>
        <p:spPr>
          <a:xfrm>
            <a:off x="10634472" y="6382512"/>
            <a:ext cx="914400" cy="274320"/>
          </a:xfrm>
          <a:prstGeom prst="rect">
            <a:avLst/>
          </a:prstGeom>
          <a:noFill/>
          <a:ln/>
        </p:spPr>
        <p:txBody>
          <a:bodyPr wrap="square" lIns="0" tIns="0" rIns="0" bIns="0" rtlCol="0" anchor="ctr"/>
          <a:lstStyle/>
          <a:p>
            <a:pPr marL="0" indent="0" algn="r">
              <a:buNone/>
            </a:pPr>
            <a:r>
              <a:rPr lang="en-US" sz="950" dirty="0">
                <a:solidFill>
                  <a:srgbClr val="9AAAA4"/>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8686800" cy="237744"/>
          </a:xfrm>
          <a:prstGeom prst="rect">
            <a:avLst/>
          </a:prstGeom>
          <a:noFill/>
          <a:ln/>
        </p:spPr>
        <p:txBody>
          <a:bodyPr wrap="square" lIns="0" tIns="0" rIns="0" bIns="0" rtlCol="0" anchor="ctr"/>
          <a:lstStyle/>
          <a:p>
            <a:pPr marL="0" indent="0">
              <a:buNone/>
            </a:pPr>
            <a:r>
              <a:rPr lang="en-US" sz="1150" b="1" kern="0" spc="200" dirty="0">
                <a:solidFill>
                  <a:srgbClr val="0E7C86"/>
                </a:solidFill>
                <a:latin typeface="Calibri" pitchFamily="34" charset="0"/>
                <a:ea typeface="Calibri" pitchFamily="34" charset="-122"/>
                <a:cs typeface="Calibri" pitchFamily="34" charset="-120"/>
              </a:rPr>
              <a:t>NUESTRO APORTE</a:t>
            </a:r>
            <a:endParaRPr lang="en-US" sz="1150" dirty="0"/>
          </a:p>
        </p:txBody>
      </p:sp>
      <p:sp>
        <p:nvSpPr>
          <p:cNvPr id="3" name="Text 1"/>
          <p:cNvSpPr txBox="1"/>
          <p:nvPr/>
        </p:nvSpPr>
        <p:spPr>
          <a:xfrm>
            <a:off x="640080" y="640080"/>
            <a:ext cx="10607040" cy="566928"/>
          </a:xfrm>
          <a:prstGeom prst="rect">
            <a:avLst/>
          </a:prstGeom>
          <a:noFill/>
          <a:ln/>
        </p:spPr>
        <p:txBody>
          <a:bodyPr wrap="square" lIns="0" tIns="0" rIns="0" bIns="0" rtlCol="0" anchor="ctr"/>
          <a:lstStyle/>
          <a:p>
            <a:pPr marL="0" indent="0">
              <a:buNone/>
            </a:pPr>
            <a:r>
              <a:rPr lang="en-US" sz="3200" b="1" dirty="0">
                <a:solidFill>
                  <a:srgbClr val="13312A"/>
                </a:solidFill>
                <a:latin typeface="Cambria" pitchFamily="34" charset="0"/>
                <a:ea typeface="Cambria" pitchFamily="34" charset="-122"/>
                <a:cs typeface="Cambria" pitchFamily="34" charset="-120"/>
              </a:rPr>
              <a:t>Dónde está el trabajo de Análisis de Datos</a:t>
            </a:r>
            <a:endParaRPr lang="en-US" sz="3200" dirty="0"/>
          </a:p>
        </p:txBody>
      </p:sp>
      <p:sp>
        <p:nvSpPr>
          <p:cNvPr id="4" name="Text 2"/>
          <p:cNvSpPr txBox="1"/>
          <p:nvPr/>
        </p:nvSpPr>
        <p:spPr>
          <a:xfrm>
            <a:off x="640080" y="1261872"/>
            <a:ext cx="10241280" cy="457200"/>
          </a:xfrm>
          <a:prstGeom prst="rect">
            <a:avLst/>
          </a:prstGeom>
          <a:noFill/>
          <a:ln/>
        </p:spPr>
        <p:txBody>
          <a:bodyPr wrap="square" lIns="0" tIns="0" rIns="0" bIns="0" rtlCol="0" anchor="ctr"/>
          <a:lstStyle/>
          <a:p>
            <a:pPr marL="0" indent="0">
              <a:lnSpc>
                <a:spcPct val="110000"/>
              </a:lnSpc>
              <a:buNone/>
            </a:pPr>
            <a:r>
              <a:rPr lang="en-US" sz="1450" dirty="0">
                <a:solidFill>
                  <a:srgbClr val="5F6F69"/>
                </a:solidFill>
                <a:latin typeface="Calibri" pitchFamily="34" charset="0"/>
                <a:ea typeface="Calibri" pitchFamily="34" charset="-122"/>
                <a:cs typeface="Calibri" pitchFamily="34" charset="-120"/>
              </a:rPr>
              <a:t>El IoT, el backend y las APIs son herramientas para conseguir y operar los datos. El trabajo académico es el que sigue.</a:t>
            </a:r>
            <a:endParaRPr lang="en-US" sz="1450" dirty="0"/>
          </a:p>
        </p:txBody>
      </p:sp>
      <p:sp>
        <p:nvSpPr>
          <p:cNvPr id="5" name="Shape 3"/>
          <p:cNvSpPr/>
          <p:nvPr/>
        </p:nvSpPr>
        <p:spPr>
          <a:xfrm>
            <a:off x="640080" y="1920240"/>
            <a:ext cx="5294376" cy="1371600"/>
          </a:xfrm>
          <a:prstGeom prst="roundRect">
            <a:avLst>
              <a:gd name="adj" fmla="val 8000"/>
            </a:avLst>
          </a:prstGeom>
          <a:solidFill>
            <a:srgbClr val="E9F1EB"/>
          </a:solidFill>
          <a:ln w="12700">
            <a:solidFill>
              <a:srgbClr val="E9F1EB"/>
            </a:solidFill>
            <a:prstDash val="solid"/>
          </a:ln>
          <a:effectLst>
            <a:outerShdw blurRad="127000" dist="25400" dir="5400000" algn="bl" rotWithShape="0">
              <a:srgbClr val="11302A">
                <a:alpha val="10000"/>
              </a:srgbClr>
            </a:outerShdw>
          </a:effectLst>
        </p:spPr>
      </p:sp>
      <p:sp>
        <p:nvSpPr>
          <p:cNvPr id="6" name="Shape 4"/>
          <p:cNvSpPr/>
          <p:nvPr/>
        </p:nvSpPr>
        <p:spPr>
          <a:xfrm>
            <a:off x="932688" y="2304288"/>
            <a:ext cx="603504" cy="603504"/>
          </a:xfrm>
          <a:prstGeom prst="ellipse">
            <a:avLst/>
          </a:prstGeom>
          <a:solidFill>
            <a:srgbClr val="0E7C86"/>
          </a:solidFill>
          <a:ln w="12700">
            <a:solidFill>
              <a:srgbClr val="0E7C86"/>
            </a:solidFill>
            <a:prstDash val="solid"/>
          </a:ln>
        </p:spPr>
      </p:sp>
      <p:pic>
        <p:nvPicPr>
          <p:cNvPr id="7" name="Image 0" descr="preencoded.png"/>
          <p:cNvPicPr>
            <a:picLocks noChangeAspect="1"/>
          </p:cNvPicPr>
          <p:nvPr/>
        </p:nvPicPr>
        <p:blipFill>
          <a:blip r:embed="rId3"/>
          <a:stretch>
            <a:fillRect/>
          </a:stretch>
        </p:blipFill>
        <p:spPr>
          <a:xfrm>
            <a:off x="1113739" y="2485339"/>
            <a:ext cx="241402" cy="241402"/>
          </a:xfrm>
          <a:prstGeom prst="rect">
            <a:avLst/>
          </a:prstGeom>
        </p:spPr>
      </p:pic>
      <p:sp>
        <p:nvSpPr>
          <p:cNvPr id="8" name="Text 5"/>
          <p:cNvSpPr txBox="1"/>
          <p:nvPr/>
        </p:nvSpPr>
        <p:spPr>
          <a:xfrm>
            <a:off x="1691640" y="2176272"/>
            <a:ext cx="3968496" cy="320040"/>
          </a:xfrm>
          <a:prstGeom prst="rect">
            <a:avLst/>
          </a:prstGeom>
          <a:noFill/>
          <a:ln/>
        </p:spPr>
        <p:txBody>
          <a:bodyPr wrap="square" lIns="0" tIns="0" rIns="0" bIns="0" rtlCol="0" anchor="ctr"/>
          <a:lstStyle/>
          <a:p>
            <a:pPr marL="0" indent="0">
              <a:buNone/>
            </a:pPr>
            <a:r>
              <a:rPr lang="en-US" sz="1450" b="1" dirty="0">
                <a:solidFill>
                  <a:srgbClr val="13312A"/>
                </a:solidFill>
                <a:latin typeface="Calibri" pitchFamily="34" charset="0"/>
                <a:ea typeface="Calibri" pitchFamily="34" charset="-122"/>
                <a:cs typeface="Calibri" pitchFamily="34" charset="-120"/>
              </a:rPr>
              <a:t>Adquisición e integración</a:t>
            </a:r>
            <a:endParaRPr lang="en-US" sz="1450" dirty="0"/>
          </a:p>
        </p:txBody>
      </p:sp>
      <p:sp>
        <p:nvSpPr>
          <p:cNvPr id="9" name="Text 6"/>
          <p:cNvSpPr txBox="1"/>
          <p:nvPr/>
        </p:nvSpPr>
        <p:spPr>
          <a:xfrm>
            <a:off x="1691640" y="2523744"/>
            <a:ext cx="3968496" cy="640080"/>
          </a:xfrm>
          <a:prstGeom prst="rect">
            <a:avLst/>
          </a:prstGeom>
          <a:noFill/>
          <a:ln/>
        </p:spPr>
        <p:txBody>
          <a:bodyPr wrap="square" lIns="0" tIns="0" rIns="0" bIns="0" rtlCol="0" anchor="ctr"/>
          <a:lstStyle/>
          <a:p>
            <a:pPr marL="0" indent="0">
              <a:lnSpc>
                <a:spcPct val="110000"/>
              </a:lnSpc>
              <a:buNone/>
            </a:pPr>
            <a:r>
              <a:rPr lang="en-US" sz="1200" dirty="0">
                <a:solidFill>
                  <a:srgbClr val="5F6F69"/>
                </a:solidFill>
                <a:latin typeface="Calibri" pitchFamily="34" charset="0"/>
                <a:ea typeface="Calibri" pitchFamily="34" charset="-122"/>
                <a:cs typeface="Calibri" pitchFamily="34" charset="-120"/>
              </a:rPr>
              <a:t>Fuentes heterogéneas · limpieza · sincronización temporal</a:t>
            </a:r>
            <a:endParaRPr lang="en-US" sz="1200" dirty="0"/>
          </a:p>
        </p:txBody>
      </p:sp>
      <p:sp>
        <p:nvSpPr>
          <p:cNvPr id="10" name="Shape 7"/>
          <p:cNvSpPr/>
          <p:nvPr/>
        </p:nvSpPr>
        <p:spPr>
          <a:xfrm>
            <a:off x="6254496" y="1920240"/>
            <a:ext cx="5294376" cy="1371600"/>
          </a:xfrm>
          <a:prstGeom prst="roundRect">
            <a:avLst>
              <a:gd name="adj" fmla="val 8000"/>
            </a:avLst>
          </a:prstGeom>
          <a:solidFill>
            <a:srgbClr val="E9F1EB"/>
          </a:solidFill>
          <a:ln w="12700">
            <a:solidFill>
              <a:srgbClr val="E9F1EB"/>
            </a:solidFill>
            <a:prstDash val="solid"/>
          </a:ln>
          <a:effectLst>
            <a:outerShdw blurRad="127000" dist="25400" dir="5400000" algn="bl" rotWithShape="0">
              <a:srgbClr val="11302A">
                <a:alpha val="10000"/>
              </a:srgbClr>
            </a:outerShdw>
          </a:effectLst>
        </p:spPr>
      </p:sp>
      <p:sp>
        <p:nvSpPr>
          <p:cNvPr id="11" name="Shape 8"/>
          <p:cNvSpPr/>
          <p:nvPr/>
        </p:nvSpPr>
        <p:spPr>
          <a:xfrm>
            <a:off x="6547104" y="2304288"/>
            <a:ext cx="603504" cy="603504"/>
          </a:xfrm>
          <a:prstGeom prst="ellipse">
            <a:avLst/>
          </a:prstGeom>
          <a:solidFill>
            <a:srgbClr val="0E7C86"/>
          </a:solidFill>
          <a:ln w="12700">
            <a:solidFill>
              <a:srgbClr val="0E7C86"/>
            </a:solidFill>
            <a:prstDash val="solid"/>
          </a:ln>
        </p:spPr>
      </p:sp>
      <p:pic>
        <p:nvPicPr>
          <p:cNvPr id="12" name="Image 1" descr="preencoded.png"/>
          <p:cNvPicPr>
            <a:picLocks noChangeAspect="1"/>
          </p:cNvPicPr>
          <p:nvPr/>
        </p:nvPicPr>
        <p:blipFill>
          <a:blip r:embed="rId4"/>
          <a:stretch>
            <a:fillRect/>
          </a:stretch>
        </p:blipFill>
        <p:spPr>
          <a:xfrm>
            <a:off x="6728155" y="2485339"/>
            <a:ext cx="241402" cy="241402"/>
          </a:xfrm>
          <a:prstGeom prst="rect">
            <a:avLst/>
          </a:prstGeom>
        </p:spPr>
      </p:pic>
      <p:sp>
        <p:nvSpPr>
          <p:cNvPr id="13" name="Text 9"/>
          <p:cNvSpPr txBox="1"/>
          <p:nvPr/>
        </p:nvSpPr>
        <p:spPr>
          <a:xfrm>
            <a:off x="7306056" y="2176272"/>
            <a:ext cx="3968496" cy="320040"/>
          </a:xfrm>
          <a:prstGeom prst="rect">
            <a:avLst/>
          </a:prstGeom>
          <a:noFill/>
          <a:ln/>
        </p:spPr>
        <p:txBody>
          <a:bodyPr wrap="square" lIns="0" tIns="0" rIns="0" bIns="0" rtlCol="0" anchor="ctr"/>
          <a:lstStyle/>
          <a:p>
            <a:pPr marL="0" indent="0">
              <a:buNone/>
            </a:pPr>
            <a:r>
              <a:rPr lang="en-US" sz="1450" b="1" dirty="0">
                <a:solidFill>
                  <a:srgbClr val="13312A"/>
                </a:solidFill>
                <a:latin typeface="Calibri" pitchFamily="34" charset="0"/>
                <a:ea typeface="Calibri" pitchFamily="34" charset="-122"/>
                <a:cs typeface="Calibri" pitchFamily="34" charset="-120"/>
              </a:rPr>
              <a:t>Construcción del dataset</a:t>
            </a:r>
            <a:endParaRPr lang="en-US" sz="1450" dirty="0"/>
          </a:p>
        </p:txBody>
      </p:sp>
      <p:sp>
        <p:nvSpPr>
          <p:cNvPr id="14" name="Text 10"/>
          <p:cNvSpPr txBox="1"/>
          <p:nvPr/>
        </p:nvSpPr>
        <p:spPr>
          <a:xfrm>
            <a:off x="7306056" y="2523744"/>
            <a:ext cx="3968496" cy="640080"/>
          </a:xfrm>
          <a:prstGeom prst="rect">
            <a:avLst/>
          </a:prstGeom>
          <a:noFill/>
          <a:ln/>
        </p:spPr>
        <p:txBody>
          <a:bodyPr wrap="square" lIns="0" tIns="0" rIns="0" bIns="0" rtlCol="0" anchor="ctr"/>
          <a:lstStyle/>
          <a:p>
            <a:pPr marL="0" indent="0">
              <a:lnSpc>
                <a:spcPct val="110000"/>
              </a:lnSpc>
              <a:buNone/>
            </a:pPr>
            <a:r>
              <a:rPr lang="en-US" sz="1200" dirty="0">
                <a:solidFill>
                  <a:srgbClr val="5F6F69"/>
                </a:solidFill>
                <a:latin typeface="Calibri" pitchFamily="34" charset="0"/>
                <a:ea typeface="Calibri" pitchFamily="34" charset="-122"/>
                <a:cs typeface="Calibri" pitchFamily="34" charset="-120"/>
              </a:rPr>
              <a:t>Ingeniería de características · análisis exploratorio · dataset multimodal</a:t>
            </a:r>
            <a:endParaRPr lang="en-US" sz="1200" dirty="0"/>
          </a:p>
        </p:txBody>
      </p:sp>
      <p:sp>
        <p:nvSpPr>
          <p:cNvPr id="15" name="Shape 11"/>
          <p:cNvSpPr/>
          <p:nvPr/>
        </p:nvSpPr>
        <p:spPr>
          <a:xfrm>
            <a:off x="640080" y="3566160"/>
            <a:ext cx="5294376" cy="1371600"/>
          </a:xfrm>
          <a:prstGeom prst="roundRect">
            <a:avLst>
              <a:gd name="adj" fmla="val 8000"/>
            </a:avLst>
          </a:prstGeom>
          <a:solidFill>
            <a:srgbClr val="E9F1EB"/>
          </a:solidFill>
          <a:ln w="12700">
            <a:solidFill>
              <a:srgbClr val="E9F1EB"/>
            </a:solidFill>
            <a:prstDash val="solid"/>
          </a:ln>
          <a:effectLst>
            <a:outerShdw blurRad="127000" dist="25400" dir="5400000" algn="bl" rotWithShape="0">
              <a:srgbClr val="11302A">
                <a:alpha val="10000"/>
              </a:srgbClr>
            </a:outerShdw>
          </a:effectLst>
        </p:spPr>
      </p:sp>
      <p:sp>
        <p:nvSpPr>
          <p:cNvPr id="16" name="Shape 12"/>
          <p:cNvSpPr/>
          <p:nvPr/>
        </p:nvSpPr>
        <p:spPr>
          <a:xfrm>
            <a:off x="932688" y="3950208"/>
            <a:ext cx="603504" cy="603504"/>
          </a:xfrm>
          <a:prstGeom prst="ellipse">
            <a:avLst/>
          </a:prstGeom>
          <a:solidFill>
            <a:srgbClr val="0E7C86"/>
          </a:solidFill>
          <a:ln w="12700">
            <a:solidFill>
              <a:srgbClr val="0E7C86"/>
            </a:solidFill>
            <a:prstDash val="solid"/>
          </a:ln>
        </p:spPr>
      </p:sp>
      <p:pic>
        <p:nvPicPr>
          <p:cNvPr id="17" name="Image 2" descr="preencoded.png"/>
          <p:cNvPicPr>
            <a:picLocks noChangeAspect="1"/>
          </p:cNvPicPr>
          <p:nvPr/>
        </p:nvPicPr>
        <p:blipFill>
          <a:blip r:embed="rId5"/>
          <a:stretch>
            <a:fillRect/>
          </a:stretch>
        </p:blipFill>
        <p:spPr>
          <a:xfrm>
            <a:off x="1113739" y="4131259"/>
            <a:ext cx="241402" cy="241402"/>
          </a:xfrm>
          <a:prstGeom prst="rect">
            <a:avLst/>
          </a:prstGeom>
        </p:spPr>
      </p:pic>
      <p:sp>
        <p:nvSpPr>
          <p:cNvPr id="18" name="Text 13"/>
          <p:cNvSpPr txBox="1"/>
          <p:nvPr/>
        </p:nvSpPr>
        <p:spPr>
          <a:xfrm>
            <a:off x="1691640" y="3822192"/>
            <a:ext cx="3968496" cy="320040"/>
          </a:xfrm>
          <a:prstGeom prst="rect">
            <a:avLst/>
          </a:prstGeom>
          <a:noFill/>
          <a:ln/>
        </p:spPr>
        <p:txBody>
          <a:bodyPr wrap="square" lIns="0" tIns="0" rIns="0" bIns="0" rtlCol="0" anchor="ctr"/>
          <a:lstStyle/>
          <a:p>
            <a:pPr marL="0" indent="0">
              <a:buNone/>
            </a:pPr>
            <a:r>
              <a:rPr lang="en-US" sz="1450" b="1" dirty="0">
                <a:solidFill>
                  <a:srgbClr val="13312A"/>
                </a:solidFill>
                <a:latin typeface="Calibri" pitchFamily="34" charset="0"/>
                <a:ea typeface="Calibri" pitchFamily="34" charset="-122"/>
                <a:cs typeface="Calibri" pitchFamily="34" charset="-120"/>
              </a:rPr>
              <a:t>Modelado y validación</a:t>
            </a:r>
            <a:endParaRPr lang="en-US" sz="1450" dirty="0"/>
          </a:p>
        </p:txBody>
      </p:sp>
      <p:sp>
        <p:nvSpPr>
          <p:cNvPr id="19" name="Text 14"/>
          <p:cNvSpPr txBox="1"/>
          <p:nvPr/>
        </p:nvSpPr>
        <p:spPr>
          <a:xfrm>
            <a:off x="1691640" y="4169664"/>
            <a:ext cx="3968496" cy="640080"/>
          </a:xfrm>
          <a:prstGeom prst="rect">
            <a:avLst/>
          </a:prstGeom>
          <a:noFill/>
          <a:ln/>
        </p:spPr>
        <p:txBody>
          <a:bodyPr wrap="square" lIns="0" tIns="0" rIns="0" bIns="0" rtlCol="0" anchor="ctr"/>
          <a:lstStyle/>
          <a:p>
            <a:pPr marL="0" indent="0">
              <a:lnSpc>
                <a:spcPct val="110000"/>
              </a:lnSpc>
              <a:buNone/>
            </a:pPr>
            <a:r>
              <a:rPr lang="en-US" sz="1200" dirty="0">
                <a:solidFill>
                  <a:srgbClr val="5F6F69"/>
                </a:solidFill>
                <a:latin typeface="Calibri" pitchFamily="34" charset="0"/>
                <a:ea typeface="Calibri" pitchFamily="34" charset="-122"/>
                <a:cs typeface="Calibri" pitchFamily="34" charset="-120"/>
              </a:rPr>
              <a:t>Selección y entrenamiento · comparación de modelos · medición del error</a:t>
            </a:r>
            <a:endParaRPr lang="en-US" sz="1200" dirty="0"/>
          </a:p>
        </p:txBody>
      </p:sp>
      <p:sp>
        <p:nvSpPr>
          <p:cNvPr id="20" name="Shape 15"/>
          <p:cNvSpPr/>
          <p:nvPr/>
        </p:nvSpPr>
        <p:spPr>
          <a:xfrm>
            <a:off x="6254496" y="3566160"/>
            <a:ext cx="5294376" cy="1371600"/>
          </a:xfrm>
          <a:prstGeom prst="roundRect">
            <a:avLst>
              <a:gd name="adj" fmla="val 8000"/>
            </a:avLst>
          </a:prstGeom>
          <a:solidFill>
            <a:srgbClr val="E9F1EB"/>
          </a:solidFill>
          <a:ln w="12700">
            <a:solidFill>
              <a:srgbClr val="E9F1EB"/>
            </a:solidFill>
            <a:prstDash val="solid"/>
          </a:ln>
          <a:effectLst>
            <a:outerShdw blurRad="127000" dist="25400" dir="5400000" algn="bl" rotWithShape="0">
              <a:srgbClr val="11302A">
                <a:alpha val="10000"/>
              </a:srgbClr>
            </a:outerShdw>
          </a:effectLst>
        </p:spPr>
      </p:sp>
      <p:sp>
        <p:nvSpPr>
          <p:cNvPr id="21" name="Shape 16"/>
          <p:cNvSpPr/>
          <p:nvPr/>
        </p:nvSpPr>
        <p:spPr>
          <a:xfrm>
            <a:off x="6547104" y="3950208"/>
            <a:ext cx="603504" cy="603504"/>
          </a:xfrm>
          <a:prstGeom prst="ellipse">
            <a:avLst/>
          </a:prstGeom>
          <a:solidFill>
            <a:srgbClr val="0E7C86"/>
          </a:solidFill>
          <a:ln w="12700">
            <a:solidFill>
              <a:srgbClr val="0E7C86"/>
            </a:solidFill>
            <a:prstDash val="solid"/>
          </a:ln>
        </p:spPr>
      </p:sp>
      <p:pic>
        <p:nvPicPr>
          <p:cNvPr id="22" name="Image 3" descr="preencoded.png"/>
          <p:cNvPicPr>
            <a:picLocks noChangeAspect="1"/>
          </p:cNvPicPr>
          <p:nvPr/>
        </p:nvPicPr>
        <p:blipFill>
          <a:blip r:embed="rId6"/>
          <a:stretch>
            <a:fillRect/>
          </a:stretch>
        </p:blipFill>
        <p:spPr>
          <a:xfrm>
            <a:off x="6728155" y="4131259"/>
            <a:ext cx="241402" cy="241402"/>
          </a:xfrm>
          <a:prstGeom prst="rect">
            <a:avLst/>
          </a:prstGeom>
        </p:spPr>
      </p:pic>
      <p:sp>
        <p:nvSpPr>
          <p:cNvPr id="23" name="Text 17"/>
          <p:cNvSpPr txBox="1"/>
          <p:nvPr/>
        </p:nvSpPr>
        <p:spPr>
          <a:xfrm>
            <a:off x="7306056" y="3822192"/>
            <a:ext cx="3968496" cy="320040"/>
          </a:xfrm>
          <a:prstGeom prst="rect">
            <a:avLst/>
          </a:prstGeom>
          <a:noFill/>
          <a:ln/>
        </p:spPr>
        <p:txBody>
          <a:bodyPr wrap="square" lIns="0" tIns="0" rIns="0" bIns="0" rtlCol="0" anchor="ctr"/>
          <a:lstStyle/>
          <a:p>
            <a:pPr marL="0" indent="0">
              <a:buNone/>
            </a:pPr>
            <a:r>
              <a:rPr lang="en-US" sz="1450" b="1" dirty="0">
                <a:solidFill>
                  <a:srgbClr val="13312A"/>
                </a:solidFill>
                <a:latin typeface="Calibri" pitchFamily="34" charset="0"/>
                <a:ea typeface="Calibri" pitchFamily="34" charset="-122"/>
                <a:cs typeface="Calibri" pitchFamily="34" charset="-120"/>
              </a:rPr>
              <a:t>Interpretación y decisión</a:t>
            </a:r>
            <a:endParaRPr lang="en-US" sz="1450" dirty="0"/>
          </a:p>
        </p:txBody>
      </p:sp>
      <p:sp>
        <p:nvSpPr>
          <p:cNvPr id="24" name="Text 18"/>
          <p:cNvSpPr txBox="1"/>
          <p:nvPr/>
        </p:nvSpPr>
        <p:spPr>
          <a:xfrm>
            <a:off x="7306056" y="4169664"/>
            <a:ext cx="3968496" cy="640080"/>
          </a:xfrm>
          <a:prstGeom prst="rect">
            <a:avLst/>
          </a:prstGeom>
          <a:noFill/>
          <a:ln/>
        </p:spPr>
        <p:txBody>
          <a:bodyPr wrap="square" lIns="0" tIns="0" rIns="0" bIns="0" rtlCol="0" anchor="ctr"/>
          <a:lstStyle/>
          <a:p>
            <a:pPr marL="0" indent="0">
              <a:lnSpc>
                <a:spcPct val="110000"/>
              </a:lnSpc>
              <a:buNone/>
            </a:pPr>
            <a:r>
              <a:rPr lang="en-US" sz="1200" dirty="0">
                <a:solidFill>
                  <a:srgbClr val="5F6F69"/>
                </a:solidFill>
                <a:latin typeface="Calibri" pitchFamily="34" charset="0"/>
                <a:ea typeface="Calibri" pitchFamily="34" charset="-122"/>
                <a:cs typeface="Calibri" pitchFamily="34" charset="-120"/>
              </a:rPr>
              <a:t>Interpretación de resultados · utilidad real del modelo · explicación de la recomendación</a:t>
            </a:r>
            <a:endParaRPr lang="en-US" sz="1200" dirty="0"/>
          </a:p>
        </p:txBody>
      </p:sp>
      <p:sp>
        <p:nvSpPr>
          <p:cNvPr id="25" name="Shape 19"/>
          <p:cNvSpPr/>
          <p:nvPr/>
        </p:nvSpPr>
        <p:spPr>
          <a:xfrm>
            <a:off x="640080" y="5257800"/>
            <a:ext cx="1874520" cy="502920"/>
          </a:xfrm>
          <a:prstGeom prst="roundRect">
            <a:avLst>
              <a:gd name="adj" fmla="val 18182"/>
            </a:avLst>
          </a:prstGeom>
          <a:solidFill>
            <a:srgbClr val="0E7C86"/>
          </a:solidFill>
          <a:ln w="12700">
            <a:solidFill>
              <a:srgbClr val="0E7C86"/>
            </a:solidFill>
            <a:prstDash val="solid"/>
          </a:ln>
        </p:spPr>
      </p:sp>
      <p:sp>
        <p:nvSpPr>
          <p:cNvPr id="26" name="Text 20"/>
          <p:cNvSpPr txBox="1"/>
          <p:nvPr/>
        </p:nvSpPr>
        <p:spPr>
          <a:xfrm>
            <a:off x="640080" y="5257800"/>
            <a:ext cx="1874520" cy="502920"/>
          </a:xfrm>
          <a:prstGeom prst="rect">
            <a:avLst/>
          </a:prstGeom>
          <a:noFill/>
          <a:ln/>
        </p:spPr>
        <p:txBody>
          <a:bodyPr wrap="square" lIns="0" tIns="0" rIns="0" bIns="0" rtlCol="0" anchor="ctr"/>
          <a:lstStyle/>
          <a:p>
            <a:pPr marL="0" indent="0" algn="ctr">
              <a:buNone/>
            </a:pPr>
            <a:r>
              <a:rPr lang="en-US" sz="1250" b="1" kern="0" spc="100" dirty="0">
                <a:solidFill>
                  <a:srgbClr val="FFFFFF"/>
                </a:solidFill>
                <a:latin typeface="Calibri" pitchFamily="34" charset="0"/>
                <a:ea typeface="Calibri" pitchFamily="34" charset="-122"/>
                <a:cs typeface="Calibri" pitchFamily="34" charset="-120"/>
              </a:rPr>
              <a:t>DATOS</a:t>
            </a:r>
            <a:endParaRPr lang="en-US" sz="1250" dirty="0"/>
          </a:p>
        </p:txBody>
      </p:sp>
      <p:sp>
        <p:nvSpPr>
          <p:cNvPr id="27" name="Text 21"/>
          <p:cNvSpPr txBox="1"/>
          <p:nvPr/>
        </p:nvSpPr>
        <p:spPr>
          <a:xfrm>
            <a:off x="2514600" y="5257800"/>
            <a:ext cx="384048" cy="502920"/>
          </a:xfrm>
          <a:prstGeom prst="rect">
            <a:avLst/>
          </a:prstGeom>
          <a:noFill/>
          <a:ln/>
        </p:spPr>
        <p:txBody>
          <a:bodyPr wrap="square" lIns="0" tIns="0" rIns="0" bIns="0" rtlCol="0" anchor="ctr"/>
          <a:lstStyle/>
          <a:p>
            <a:pPr marL="0" indent="0" algn="ctr">
              <a:buNone/>
            </a:pPr>
            <a:r>
              <a:rPr lang="en-US" sz="1600" dirty="0">
                <a:solidFill>
                  <a:srgbClr val="5F6F69"/>
                </a:solidFill>
                <a:latin typeface="Calibri" pitchFamily="34" charset="0"/>
                <a:ea typeface="Calibri" pitchFamily="34" charset="-122"/>
                <a:cs typeface="Calibri" pitchFamily="34" charset="-120"/>
              </a:rPr>
              <a:t>→</a:t>
            </a:r>
            <a:endParaRPr lang="en-US" sz="1600" dirty="0"/>
          </a:p>
        </p:txBody>
      </p:sp>
      <p:sp>
        <p:nvSpPr>
          <p:cNvPr id="28" name="Shape 22"/>
          <p:cNvSpPr/>
          <p:nvPr/>
        </p:nvSpPr>
        <p:spPr>
          <a:xfrm>
            <a:off x="2898648" y="5257800"/>
            <a:ext cx="1874520" cy="502920"/>
          </a:xfrm>
          <a:prstGeom prst="roundRect">
            <a:avLst>
              <a:gd name="adj" fmla="val 18182"/>
            </a:avLst>
          </a:prstGeom>
          <a:solidFill>
            <a:srgbClr val="0E7C86"/>
          </a:solidFill>
          <a:ln w="12700">
            <a:solidFill>
              <a:srgbClr val="0E7C86"/>
            </a:solidFill>
            <a:prstDash val="solid"/>
          </a:ln>
        </p:spPr>
      </p:sp>
      <p:sp>
        <p:nvSpPr>
          <p:cNvPr id="29" name="Text 23"/>
          <p:cNvSpPr txBox="1"/>
          <p:nvPr/>
        </p:nvSpPr>
        <p:spPr>
          <a:xfrm>
            <a:off x="2898648" y="5257800"/>
            <a:ext cx="1874520" cy="502920"/>
          </a:xfrm>
          <a:prstGeom prst="rect">
            <a:avLst/>
          </a:prstGeom>
          <a:noFill/>
          <a:ln/>
        </p:spPr>
        <p:txBody>
          <a:bodyPr wrap="square" lIns="0" tIns="0" rIns="0" bIns="0" rtlCol="0" anchor="ctr"/>
          <a:lstStyle/>
          <a:p>
            <a:pPr marL="0" indent="0" algn="ctr">
              <a:buNone/>
            </a:pPr>
            <a:r>
              <a:rPr lang="en-US" sz="1250" b="1" kern="0" spc="100" dirty="0">
                <a:solidFill>
                  <a:srgbClr val="FFFFFF"/>
                </a:solidFill>
                <a:latin typeface="Calibri" pitchFamily="34" charset="0"/>
                <a:ea typeface="Calibri" pitchFamily="34" charset="-122"/>
                <a:cs typeface="Calibri" pitchFamily="34" charset="-120"/>
              </a:rPr>
              <a:t>ANÁLISIS</a:t>
            </a:r>
            <a:endParaRPr lang="en-US" sz="1250" dirty="0"/>
          </a:p>
        </p:txBody>
      </p:sp>
      <p:sp>
        <p:nvSpPr>
          <p:cNvPr id="30" name="Text 24"/>
          <p:cNvSpPr txBox="1"/>
          <p:nvPr/>
        </p:nvSpPr>
        <p:spPr>
          <a:xfrm>
            <a:off x="4773168" y="5257800"/>
            <a:ext cx="384048" cy="502920"/>
          </a:xfrm>
          <a:prstGeom prst="rect">
            <a:avLst/>
          </a:prstGeom>
          <a:noFill/>
          <a:ln/>
        </p:spPr>
        <p:txBody>
          <a:bodyPr wrap="square" lIns="0" tIns="0" rIns="0" bIns="0" rtlCol="0" anchor="ctr"/>
          <a:lstStyle/>
          <a:p>
            <a:pPr marL="0" indent="0" algn="ctr">
              <a:buNone/>
            </a:pPr>
            <a:r>
              <a:rPr lang="en-US" sz="1600" dirty="0">
                <a:solidFill>
                  <a:srgbClr val="5F6F69"/>
                </a:solidFill>
                <a:latin typeface="Calibri" pitchFamily="34" charset="0"/>
                <a:ea typeface="Calibri" pitchFamily="34" charset="-122"/>
                <a:cs typeface="Calibri" pitchFamily="34" charset="-120"/>
              </a:rPr>
              <a:t>→</a:t>
            </a:r>
            <a:endParaRPr lang="en-US" sz="1600" dirty="0"/>
          </a:p>
        </p:txBody>
      </p:sp>
      <p:sp>
        <p:nvSpPr>
          <p:cNvPr id="31" name="Shape 25"/>
          <p:cNvSpPr/>
          <p:nvPr/>
        </p:nvSpPr>
        <p:spPr>
          <a:xfrm>
            <a:off x="5157216" y="5257800"/>
            <a:ext cx="1874520" cy="502920"/>
          </a:xfrm>
          <a:prstGeom prst="roundRect">
            <a:avLst>
              <a:gd name="adj" fmla="val 18182"/>
            </a:avLst>
          </a:prstGeom>
          <a:solidFill>
            <a:srgbClr val="0E7C86"/>
          </a:solidFill>
          <a:ln w="12700">
            <a:solidFill>
              <a:srgbClr val="0E7C86"/>
            </a:solidFill>
            <a:prstDash val="solid"/>
          </a:ln>
        </p:spPr>
      </p:sp>
      <p:sp>
        <p:nvSpPr>
          <p:cNvPr id="32" name="Text 26"/>
          <p:cNvSpPr txBox="1"/>
          <p:nvPr/>
        </p:nvSpPr>
        <p:spPr>
          <a:xfrm>
            <a:off x="5157216" y="5257800"/>
            <a:ext cx="1874520" cy="502920"/>
          </a:xfrm>
          <a:prstGeom prst="rect">
            <a:avLst/>
          </a:prstGeom>
          <a:noFill/>
          <a:ln/>
        </p:spPr>
        <p:txBody>
          <a:bodyPr wrap="square" lIns="0" tIns="0" rIns="0" bIns="0" rtlCol="0" anchor="ctr"/>
          <a:lstStyle/>
          <a:p>
            <a:pPr marL="0" indent="0" algn="ctr">
              <a:buNone/>
            </a:pPr>
            <a:r>
              <a:rPr lang="en-US" sz="1250" b="1" kern="0" spc="100" dirty="0">
                <a:solidFill>
                  <a:srgbClr val="FFFFFF"/>
                </a:solidFill>
                <a:latin typeface="Calibri" pitchFamily="34" charset="0"/>
                <a:ea typeface="Calibri" pitchFamily="34" charset="-122"/>
                <a:cs typeface="Calibri" pitchFamily="34" charset="-120"/>
              </a:rPr>
              <a:t>MODELO</a:t>
            </a:r>
            <a:endParaRPr lang="en-US" sz="1250" dirty="0"/>
          </a:p>
        </p:txBody>
      </p:sp>
      <p:sp>
        <p:nvSpPr>
          <p:cNvPr id="33" name="Text 27"/>
          <p:cNvSpPr txBox="1"/>
          <p:nvPr/>
        </p:nvSpPr>
        <p:spPr>
          <a:xfrm>
            <a:off x="7031736" y="5257800"/>
            <a:ext cx="384048" cy="502920"/>
          </a:xfrm>
          <a:prstGeom prst="rect">
            <a:avLst/>
          </a:prstGeom>
          <a:noFill/>
          <a:ln/>
        </p:spPr>
        <p:txBody>
          <a:bodyPr wrap="square" lIns="0" tIns="0" rIns="0" bIns="0" rtlCol="0" anchor="ctr"/>
          <a:lstStyle/>
          <a:p>
            <a:pPr marL="0" indent="0" algn="ctr">
              <a:buNone/>
            </a:pPr>
            <a:r>
              <a:rPr lang="en-US" sz="1600" dirty="0">
                <a:solidFill>
                  <a:srgbClr val="5F6F69"/>
                </a:solidFill>
                <a:latin typeface="Calibri" pitchFamily="34" charset="0"/>
                <a:ea typeface="Calibri" pitchFamily="34" charset="-122"/>
                <a:cs typeface="Calibri" pitchFamily="34" charset="-120"/>
              </a:rPr>
              <a:t>→</a:t>
            </a:r>
            <a:endParaRPr lang="en-US" sz="1600" dirty="0"/>
          </a:p>
        </p:txBody>
      </p:sp>
      <p:sp>
        <p:nvSpPr>
          <p:cNvPr id="34" name="Shape 28"/>
          <p:cNvSpPr/>
          <p:nvPr/>
        </p:nvSpPr>
        <p:spPr>
          <a:xfrm>
            <a:off x="7415784" y="5257800"/>
            <a:ext cx="1874520" cy="502920"/>
          </a:xfrm>
          <a:prstGeom prst="roundRect">
            <a:avLst>
              <a:gd name="adj" fmla="val 18182"/>
            </a:avLst>
          </a:prstGeom>
          <a:solidFill>
            <a:srgbClr val="0E7C86"/>
          </a:solidFill>
          <a:ln w="12700">
            <a:solidFill>
              <a:srgbClr val="0E7C86"/>
            </a:solidFill>
            <a:prstDash val="solid"/>
          </a:ln>
        </p:spPr>
      </p:sp>
      <p:sp>
        <p:nvSpPr>
          <p:cNvPr id="35" name="Text 29"/>
          <p:cNvSpPr txBox="1"/>
          <p:nvPr/>
        </p:nvSpPr>
        <p:spPr>
          <a:xfrm>
            <a:off x="7415784" y="5257800"/>
            <a:ext cx="1874520" cy="502920"/>
          </a:xfrm>
          <a:prstGeom prst="rect">
            <a:avLst/>
          </a:prstGeom>
          <a:noFill/>
          <a:ln/>
        </p:spPr>
        <p:txBody>
          <a:bodyPr wrap="square" lIns="0" tIns="0" rIns="0" bIns="0" rtlCol="0" anchor="ctr"/>
          <a:lstStyle/>
          <a:p>
            <a:pPr marL="0" indent="0" algn="ctr">
              <a:buNone/>
            </a:pPr>
            <a:r>
              <a:rPr lang="en-US" sz="1250" b="1" kern="0" spc="100" dirty="0">
                <a:solidFill>
                  <a:srgbClr val="FFFFFF"/>
                </a:solidFill>
                <a:latin typeface="Calibri" pitchFamily="34" charset="0"/>
                <a:ea typeface="Calibri" pitchFamily="34" charset="-122"/>
                <a:cs typeface="Calibri" pitchFamily="34" charset="-120"/>
              </a:rPr>
              <a:t>VALIDACIÓN</a:t>
            </a:r>
            <a:endParaRPr lang="en-US" sz="1250" dirty="0"/>
          </a:p>
        </p:txBody>
      </p:sp>
      <p:sp>
        <p:nvSpPr>
          <p:cNvPr id="36" name="Text 30"/>
          <p:cNvSpPr txBox="1"/>
          <p:nvPr/>
        </p:nvSpPr>
        <p:spPr>
          <a:xfrm>
            <a:off x="9290304" y="5257800"/>
            <a:ext cx="384048" cy="502920"/>
          </a:xfrm>
          <a:prstGeom prst="rect">
            <a:avLst/>
          </a:prstGeom>
          <a:noFill/>
          <a:ln/>
        </p:spPr>
        <p:txBody>
          <a:bodyPr wrap="square" lIns="0" tIns="0" rIns="0" bIns="0" rtlCol="0" anchor="ctr"/>
          <a:lstStyle/>
          <a:p>
            <a:pPr marL="0" indent="0" algn="ctr">
              <a:buNone/>
            </a:pPr>
            <a:r>
              <a:rPr lang="en-US" sz="1600" dirty="0">
                <a:solidFill>
                  <a:srgbClr val="5F6F69"/>
                </a:solidFill>
                <a:latin typeface="Calibri" pitchFamily="34" charset="0"/>
                <a:ea typeface="Calibri" pitchFamily="34" charset="-122"/>
                <a:cs typeface="Calibri" pitchFamily="34" charset="-120"/>
              </a:rPr>
              <a:t>→</a:t>
            </a:r>
            <a:endParaRPr lang="en-US" sz="1600" dirty="0"/>
          </a:p>
        </p:txBody>
      </p:sp>
      <p:sp>
        <p:nvSpPr>
          <p:cNvPr id="37" name="Shape 31"/>
          <p:cNvSpPr/>
          <p:nvPr/>
        </p:nvSpPr>
        <p:spPr>
          <a:xfrm>
            <a:off x="9674352" y="5257800"/>
            <a:ext cx="1874520" cy="502920"/>
          </a:xfrm>
          <a:prstGeom prst="roundRect">
            <a:avLst>
              <a:gd name="adj" fmla="val 18182"/>
            </a:avLst>
          </a:prstGeom>
          <a:solidFill>
            <a:srgbClr val="C68B18"/>
          </a:solidFill>
          <a:ln w="12700">
            <a:solidFill>
              <a:srgbClr val="C68B18"/>
            </a:solidFill>
            <a:prstDash val="solid"/>
          </a:ln>
        </p:spPr>
      </p:sp>
      <p:sp>
        <p:nvSpPr>
          <p:cNvPr id="38" name="Text 32"/>
          <p:cNvSpPr txBox="1"/>
          <p:nvPr/>
        </p:nvSpPr>
        <p:spPr>
          <a:xfrm>
            <a:off x="9674352" y="5257800"/>
            <a:ext cx="1874520" cy="502920"/>
          </a:xfrm>
          <a:prstGeom prst="rect">
            <a:avLst/>
          </a:prstGeom>
          <a:noFill/>
          <a:ln/>
        </p:spPr>
        <p:txBody>
          <a:bodyPr wrap="square" lIns="0" tIns="0" rIns="0" bIns="0" rtlCol="0" anchor="ctr"/>
          <a:lstStyle/>
          <a:p>
            <a:pPr marL="0" indent="0" algn="ctr">
              <a:buNone/>
            </a:pPr>
            <a:r>
              <a:rPr lang="en-US" sz="1250" b="1" kern="0" spc="100" dirty="0">
                <a:solidFill>
                  <a:srgbClr val="FFFFFF"/>
                </a:solidFill>
                <a:latin typeface="Calibri" pitchFamily="34" charset="0"/>
                <a:ea typeface="Calibri" pitchFamily="34" charset="-122"/>
                <a:cs typeface="Calibri" pitchFamily="34" charset="-120"/>
              </a:rPr>
              <a:t>DECISIÓN</a:t>
            </a:r>
            <a:endParaRPr lang="en-US" sz="1250" dirty="0"/>
          </a:p>
        </p:txBody>
      </p:sp>
      <p:sp>
        <p:nvSpPr>
          <p:cNvPr id="39" name="Text 33"/>
          <p:cNvSpPr txBox="1"/>
          <p:nvPr/>
        </p:nvSpPr>
        <p:spPr>
          <a:xfrm>
            <a:off x="640080" y="6382512"/>
            <a:ext cx="7315200" cy="274320"/>
          </a:xfrm>
          <a:prstGeom prst="rect">
            <a:avLst/>
          </a:prstGeom>
          <a:noFill/>
          <a:ln/>
        </p:spPr>
        <p:txBody>
          <a:bodyPr wrap="square" lIns="0" tIns="0" rIns="0" bIns="0" rtlCol="0" anchor="ctr"/>
          <a:lstStyle/>
          <a:p>
            <a:pPr marL="0" indent="0">
              <a:buNone/>
            </a:pPr>
            <a:r>
              <a:rPr lang="en-US" sz="950" dirty="0">
                <a:solidFill>
                  <a:srgbClr val="9AAAA4"/>
                </a:solidFill>
                <a:latin typeface="Calibri" pitchFamily="34" charset="0"/>
                <a:ea typeface="Calibri" pitchFamily="34" charset="-122"/>
                <a:cs typeface="Calibri" pitchFamily="34" charset="-120"/>
              </a:rPr>
              <a:t>Vitic AI · Tesis — Licenciatura en Análisis de Datos</a:t>
            </a:r>
            <a:endParaRPr lang="en-US" sz="950" dirty="0"/>
          </a:p>
        </p:txBody>
      </p:sp>
      <p:sp>
        <p:nvSpPr>
          <p:cNvPr id="40" name="Text 34"/>
          <p:cNvSpPr txBox="1"/>
          <p:nvPr/>
        </p:nvSpPr>
        <p:spPr>
          <a:xfrm>
            <a:off x="10634472" y="6382512"/>
            <a:ext cx="914400" cy="274320"/>
          </a:xfrm>
          <a:prstGeom prst="rect">
            <a:avLst/>
          </a:prstGeom>
          <a:noFill/>
          <a:ln/>
        </p:spPr>
        <p:txBody>
          <a:bodyPr wrap="square" lIns="0" tIns="0" rIns="0" bIns="0" rtlCol="0" anchor="ctr"/>
          <a:lstStyle/>
          <a:p>
            <a:pPr marL="0" indent="0" algn="r">
              <a:buNone/>
            </a:pPr>
            <a:r>
              <a:rPr lang="en-US" sz="950" dirty="0">
                <a:solidFill>
                  <a:srgbClr val="9AAAA4"/>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8686800" cy="237744"/>
          </a:xfrm>
          <a:prstGeom prst="rect">
            <a:avLst/>
          </a:prstGeom>
          <a:noFill/>
          <a:ln/>
        </p:spPr>
        <p:txBody>
          <a:bodyPr wrap="square" lIns="0" tIns="0" rIns="0" bIns="0" rtlCol="0" anchor="ctr"/>
          <a:lstStyle/>
          <a:p>
            <a:pPr marL="0" indent="0">
              <a:buNone/>
            </a:pPr>
            <a:r>
              <a:rPr lang="en-US" sz="1150" b="1" kern="0" spc="200" dirty="0">
                <a:solidFill>
                  <a:srgbClr val="0E7C86"/>
                </a:solidFill>
                <a:latin typeface="Calibri" pitchFamily="34" charset="0"/>
                <a:ea typeface="Calibri" pitchFamily="34" charset="-122"/>
                <a:cs typeface="Calibri" pitchFamily="34" charset="-120"/>
              </a:rPr>
              <a:t>EJEMPLO</a:t>
            </a:r>
            <a:endParaRPr lang="en-US" sz="1150" dirty="0"/>
          </a:p>
        </p:txBody>
      </p:sp>
      <p:sp>
        <p:nvSpPr>
          <p:cNvPr id="3" name="Text 1"/>
          <p:cNvSpPr txBox="1"/>
          <p:nvPr/>
        </p:nvSpPr>
        <p:spPr>
          <a:xfrm>
            <a:off x="640080" y="640080"/>
            <a:ext cx="10607040" cy="566928"/>
          </a:xfrm>
          <a:prstGeom prst="rect">
            <a:avLst/>
          </a:prstGeom>
          <a:noFill/>
          <a:ln/>
        </p:spPr>
        <p:txBody>
          <a:bodyPr wrap="square" lIns="0" tIns="0" rIns="0" bIns="0" rtlCol="0" anchor="ctr"/>
          <a:lstStyle/>
          <a:p>
            <a:pPr marL="0" indent="0">
              <a:buNone/>
            </a:pPr>
            <a:r>
              <a:rPr lang="en-US" sz="3200" b="1" dirty="0">
                <a:solidFill>
                  <a:srgbClr val="13312A"/>
                </a:solidFill>
                <a:latin typeface="Cambria" pitchFamily="34" charset="0"/>
                <a:ea typeface="Cambria" pitchFamily="34" charset="-122"/>
                <a:cs typeface="Cambria" pitchFamily="34" charset="-120"/>
              </a:rPr>
              <a:t>Por qué una sola variable no alcanza</a:t>
            </a:r>
            <a:endParaRPr lang="en-US" sz="3200" dirty="0"/>
          </a:p>
        </p:txBody>
      </p:sp>
      <p:sp>
        <p:nvSpPr>
          <p:cNvPr id="4" name="Shape 2"/>
          <p:cNvSpPr/>
          <p:nvPr/>
        </p:nvSpPr>
        <p:spPr>
          <a:xfrm>
            <a:off x="640080" y="1508760"/>
            <a:ext cx="10908792" cy="658368"/>
          </a:xfrm>
          <a:prstGeom prst="roundRect">
            <a:avLst>
              <a:gd name="adj" fmla="val 16667"/>
            </a:avLst>
          </a:prstGeom>
          <a:solidFill>
            <a:srgbClr val="E2F1F2"/>
          </a:solidFill>
          <a:ln w="12700">
            <a:solidFill>
              <a:srgbClr val="E2F1F2"/>
            </a:solidFill>
            <a:prstDash val="solid"/>
          </a:ln>
          <a:effectLst>
            <a:outerShdw blurRad="127000" dist="25400" dir="5400000" algn="bl" rotWithShape="0">
              <a:srgbClr val="11302A">
                <a:alpha val="10000"/>
              </a:srgbClr>
            </a:outerShdw>
          </a:effectLst>
        </p:spPr>
      </p:sp>
      <p:sp>
        <p:nvSpPr>
          <p:cNvPr id="5" name="Text 3"/>
          <p:cNvSpPr txBox="1"/>
          <p:nvPr/>
        </p:nvSpPr>
        <p:spPr>
          <a:xfrm>
            <a:off x="1051560" y="1508760"/>
            <a:ext cx="10085832" cy="658368"/>
          </a:xfrm>
          <a:prstGeom prst="rect">
            <a:avLst/>
          </a:prstGeom>
          <a:noFill/>
          <a:ln/>
        </p:spPr>
        <p:txBody>
          <a:bodyPr wrap="square" lIns="0" tIns="0" rIns="0" bIns="0" rtlCol="0" anchor="ctr"/>
          <a:lstStyle/>
          <a:p>
            <a:pPr marL="0" indent="0">
              <a:buNone/>
            </a:pPr>
            <a:r>
              <a:rPr lang="en-US" sz="1700" b="1" dirty="0">
                <a:solidFill>
                  <a:srgbClr val="13312A"/>
                </a:solidFill>
                <a:latin typeface="Cambria" pitchFamily="34" charset="0"/>
                <a:ea typeface="Cambria" pitchFamily="34" charset="-122"/>
                <a:cs typeface="Cambria" pitchFamily="34" charset="-120"/>
              </a:rPr>
              <a:t>El sensor indica baja humedad del suelo. ¿Hay que regar?</a:t>
            </a:r>
            <a:endParaRPr lang="en-US" sz="1700" dirty="0"/>
          </a:p>
        </p:txBody>
      </p:sp>
      <p:sp>
        <p:nvSpPr>
          <p:cNvPr id="6" name="Shape 4"/>
          <p:cNvSpPr/>
          <p:nvPr/>
        </p:nvSpPr>
        <p:spPr>
          <a:xfrm>
            <a:off x="640080" y="2377440"/>
            <a:ext cx="5271516" cy="2788920"/>
          </a:xfrm>
          <a:prstGeom prst="roundRect">
            <a:avLst>
              <a:gd name="adj" fmla="val 3934"/>
            </a:avLst>
          </a:prstGeom>
          <a:solidFill>
            <a:srgbClr val="E9F1EB"/>
          </a:solidFill>
          <a:ln w="12700">
            <a:solidFill>
              <a:srgbClr val="E9F1EB"/>
            </a:solidFill>
            <a:prstDash val="solid"/>
          </a:ln>
          <a:effectLst>
            <a:outerShdw blurRad="127000" dist="25400" dir="5400000" algn="bl" rotWithShape="0">
              <a:srgbClr val="11302A">
                <a:alpha val="10000"/>
              </a:srgbClr>
            </a:outerShdw>
          </a:effectLst>
        </p:spPr>
      </p:sp>
      <p:sp>
        <p:nvSpPr>
          <p:cNvPr id="7" name="Shape 5"/>
          <p:cNvSpPr/>
          <p:nvPr/>
        </p:nvSpPr>
        <p:spPr>
          <a:xfrm>
            <a:off x="960120" y="2606040"/>
            <a:ext cx="2286000" cy="320040"/>
          </a:xfrm>
          <a:prstGeom prst="roundRect">
            <a:avLst>
              <a:gd name="adj" fmla="val 48571"/>
            </a:avLst>
          </a:prstGeom>
          <a:solidFill>
            <a:srgbClr val="0E7C86"/>
          </a:solidFill>
          <a:ln w="12700">
            <a:solidFill>
              <a:srgbClr val="0E7C86"/>
            </a:solidFill>
            <a:prstDash val="solid"/>
          </a:ln>
        </p:spPr>
      </p:sp>
      <p:sp>
        <p:nvSpPr>
          <p:cNvPr id="8" name="Text 6"/>
          <p:cNvSpPr txBox="1"/>
          <p:nvPr/>
        </p:nvSpPr>
        <p:spPr>
          <a:xfrm>
            <a:off x="960120" y="2606040"/>
            <a:ext cx="2286000" cy="32004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Escenario A</a:t>
            </a:r>
            <a:endParaRPr lang="en-US" sz="1150" dirty="0"/>
          </a:p>
        </p:txBody>
      </p:sp>
      <p:sp>
        <p:nvSpPr>
          <p:cNvPr id="9" name="Text 7"/>
          <p:cNvSpPr txBox="1"/>
          <p:nvPr/>
        </p:nvSpPr>
        <p:spPr>
          <a:xfrm>
            <a:off x="960120" y="3017520"/>
            <a:ext cx="4631436" cy="320040"/>
          </a:xfrm>
          <a:prstGeom prst="rect">
            <a:avLst/>
          </a:prstGeom>
          <a:noFill/>
          <a:ln/>
        </p:spPr>
        <p:txBody>
          <a:bodyPr wrap="square" lIns="0" tIns="0" rIns="0" bIns="0" rtlCol="0" anchor="ctr"/>
          <a:lstStyle/>
          <a:p>
            <a:pPr marL="0" indent="0">
              <a:buNone/>
            </a:pPr>
            <a:r>
              <a:rPr lang="en-US" sz="1400" b="1" dirty="0">
                <a:solidFill>
                  <a:srgbClr val="13312A"/>
                </a:solidFill>
                <a:latin typeface="Calibri" pitchFamily="34" charset="0"/>
                <a:ea typeface="Calibri" pitchFamily="34" charset="-122"/>
                <a:cs typeface="Calibri" pitchFamily="34" charset="-120"/>
              </a:rPr>
              <a:t>El contexto dice que puede esperar</a:t>
            </a:r>
            <a:endParaRPr lang="en-US" sz="1400" dirty="0"/>
          </a:p>
        </p:txBody>
      </p:sp>
      <p:sp>
        <p:nvSpPr>
          <p:cNvPr id="10" name="Text 8"/>
          <p:cNvSpPr txBox="1"/>
          <p:nvPr/>
        </p:nvSpPr>
        <p:spPr>
          <a:xfrm>
            <a:off x="960120" y="3429000"/>
            <a:ext cx="4631436" cy="1463040"/>
          </a:xfrm>
          <a:prstGeom prst="rect">
            <a:avLst/>
          </a:prstGeom>
          <a:noFill/>
          <a:ln/>
        </p:spPr>
        <p:txBody>
          <a:bodyPr wrap="square" lIns="0" tIns="0" rIns="0" bIns="0" rtlCol="0" anchor="ctr"/>
          <a:lstStyle/>
          <a:p>
            <a:pPr marL="342900" indent="-342900">
              <a:lnSpc>
                <a:spcPct val="105000"/>
              </a:lnSpc>
              <a:spcAft>
                <a:spcPts val="600"/>
              </a:spcAft>
              <a:buSzPct val="100000"/>
              <a:buChar char="•"/>
            </a:pPr>
            <a:r>
              <a:rPr lang="en-US" sz="1250" dirty="0">
                <a:solidFill>
                  <a:srgbClr val="1F2A26"/>
                </a:solidFill>
                <a:latin typeface="Calibri" pitchFamily="34" charset="0"/>
                <a:ea typeface="Calibri" pitchFamily="34" charset="-122"/>
                <a:cs typeface="Calibri" pitchFamily="34" charset="-120"/>
              </a:rPr>
              <a:t>Se realizó un riego recientemente</a:t>
            </a:r>
            <a:endParaRPr lang="en-US" sz="1250" dirty="0"/>
          </a:p>
          <a:p>
            <a:pPr marL="342900" indent="-342900">
              <a:lnSpc>
                <a:spcPct val="105000"/>
              </a:lnSpc>
              <a:spcAft>
                <a:spcPts val="600"/>
              </a:spcAft>
              <a:buSzPct val="100000"/>
              <a:buChar char="•"/>
            </a:pPr>
            <a:r>
              <a:rPr lang="en-US" sz="1250" dirty="0">
                <a:solidFill>
                  <a:srgbClr val="1F2A26"/>
                </a:solidFill>
                <a:latin typeface="Calibri" pitchFamily="34" charset="0"/>
                <a:ea typeface="Calibri" pitchFamily="34" charset="-122"/>
                <a:cs typeface="Calibri" pitchFamily="34" charset="-120"/>
              </a:rPr>
              <a:t>Se espera precipitación</a:t>
            </a:r>
            <a:endParaRPr lang="en-US" sz="1250" dirty="0"/>
          </a:p>
          <a:p>
            <a:pPr marL="342900" indent="-342900">
              <a:lnSpc>
                <a:spcPct val="105000"/>
              </a:lnSpc>
              <a:spcAft>
                <a:spcPts val="600"/>
              </a:spcAft>
              <a:buSzPct val="100000"/>
              <a:buChar char="•"/>
            </a:pPr>
            <a:r>
              <a:rPr lang="en-US" sz="1250" dirty="0">
                <a:solidFill>
                  <a:srgbClr val="1F2A26"/>
                </a:solidFill>
                <a:latin typeface="Calibri" pitchFamily="34" charset="0"/>
                <a:ea typeface="Calibri" pitchFamily="34" charset="-122"/>
                <a:cs typeface="Calibri" pitchFamily="34" charset="-120"/>
              </a:rPr>
              <a:t>La ET0 es baja: poca demanda atmosférica</a:t>
            </a:r>
            <a:endParaRPr lang="en-US" sz="1250" dirty="0"/>
          </a:p>
          <a:p>
            <a:pPr marL="342900" indent="-342900">
              <a:lnSpc>
                <a:spcPct val="105000"/>
              </a:lnSpc>
              <a:spcAft>
                <a:spcPts val="600"/>
              </a:spcAft>
              <a:buSzPct val="100000"/>
              <a:buChar char="•"/>
            </a:pPr>
            <a:r>
              <a:rPr lang="en-US" sz="1250" dirty="0">
                <a:solidFill>
                  <a:srgbClr val="1F2A26"/>
                </a:solidFill>
                <a:latin typeface="Calibri" pitchFamily="34" charset="0"/>
                <a:ea typeface="Calibri" pitchFamily="34" charset="-122"/>
                <a:cs typeface="Calibri" pitchFamily="34" charset="-120"/>
              </a:rPr>
              <a:t>La vegetación mantiene un estado adecuado</a:t>
            </a:r>
            <a:endParaRPr lang="en-US" sz="1250" dirty="0"/>
          </a:p>
        </p:txBody>
      </p:sp>
      <p:sp>
        <p:nvSpPr>
          <p:cNvPr id="11" name="Shape 9"/>
          <p:cNvSpPr/>
          <p:nvPr/>
        </p:nvSpPr>
        <p:spPr>
          <a:xfrm>
            <a:off x="6277356" y="2377440"/>
            <a:ext cx="5271516" cy="2788920"/>
          </a:xfrm>
          <a:prstGeom prst="roundRect">
            <a:avLst>
              <a:gd name="adj" fmla="val 3934"/>
            </a:avLst>
          </a:prstGeom>
          <a:solidFill>
            <a:srgbClr val="FAEEDA"/>
          </a:solidFill>
          <a:ln w="12700">
            <a:solidFill>
              <a:srgbClr val="FAEEDA"/>
            </a:solidFill>
            <a:prstDash val="solid"/>
          </a:ln>
          <a:effectLst>
            <a:outerShdw blurRad="127000" dist="25400" dir="5400000" algn="bl" rotWithShape="0">
              <a:srgbClr val="11302A">
                <a:alpha val="10000"/>
              </a:srgbClr>
            </a:outerShdw>
          </a:effectLst>
        </p:spPr>
      </p:sp>
      <p:sp>
        <p:nvSpPr>
          <p:cNvPr id="12" name="Shape 10"/>
          <p:cNvSpPr/>
          <p:nvPr/>
        </p:nvSpPr>
        <p:spPr>
          <a:xfrm>
            <a:off x="6597396" y="2606040"/>
            <a:ext cx="2286000" cy="320040"/>
          </a:xfrm>
          <a:prstGeom prst="roundRect">
            <a:avLst>
              <a:gd name="adj" fmla="val 48571"/>
            </a:avLst>
          </a:prstGeom>
          <a:solidFill>
            <a:srgbClr val="C68B18"/>
          </a:solidFill>
          <a:ln w="12700">
            <a:solidFill>
              <a:srgbClr val="C68B18"/>
            </a:solidFill>
            <a:prstDash val="solid"/>
          </a:ln>
        </p:spPr>
      </p:sp>
      <p:sp>
        <p:nvSpPr>
          <p:cNvPr id="13" name="Text 11"/>
          <p:cNvSpPr txBox="1"/>
          <p:nvPr/>
        </p:nvSpPr>
        <p:spPr>
          <a:xfrm>
            <a:off x="6597396" y="2606040"/>
            <a:ext cx="2286000" cy="32004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Escenario B</a:t>
            </a:r>
            <a:endParaRPr lang="en-US" sz="1150" dirty="0"/>
          </a:p>
        </p:txBody>
      </p:sp>
      <p:sp>
        <p:nvSpPr>
          <p:cNvPr id="14" name="Text 12"/>
          <p:cNvSpPr txBox="1"/>
          <p:nvPr/>
        </p:nvSpPr>
        <p:spPr>
          <a:xfrm>
            <a:off x="6597396" y="3017520"/>
            <a:ext cx="4631436" cy="320040"/>
          </a:xfrm>
          <a:prstGeom prst="rect">
            <a:avLst/>
          </a:prstGeom>
          <a:noFill/>
          <a:ln/>
        </p:spPr>
        <p:txBody>
          <a:bodyPr wrap="square" lIns="0" tIns="0" rIns="0" bIns="0" rtlCol="0" anchor="ctr"/>
          <a:lstStyle/>
          <a:p>
            <a:pPr marL="0" indent="0">
              <a:buNone/>
            </a:pPr>
            <a:r>
              <a:rPr lang="en-US" sz="1400" b="1" dirty="0">
                <a:solidFill>
                  <a:srgbClr val="13312A"/>
                </a:solidFill>
                <a:latin typeface="Calibri" pitchFamily="34" charset="0"/>
                <a:ea typeface="Calibri" pitchFamily="34" charset="-122"/>
                <a:cs typeface="Calibri" pitchFamily="34" charset="-120"/>
              </a:rPr>
              <a:t>El contexto refuerza la necesidad</a:t>
            </a:r>
            <a:endParaRPr lang="en-US" sz="1400" dirty="0"/>
          </a:p>
        </p:txBody>
      </p:sp>
      <p:sp>
        <p:nvSpPr>
          <p:cNvPr id="15" name="Text 13"/>
          <p:cNvSpPr txBox="1"/>
          <p:nvPr/>
        </p:nvSpPr>
        <p:spPr>
          <a:xfrm>
            <a:off x="6597396" y="3429000"/>
            <a:ext cx="4631436" cy="1463040"/>
          </a:xfrm>
          <a:prstGeom prst="rect">
            <a:avLst/>
          </a:prstGeom>
          <a:noFill/>
          <a:ln/>
        </p:spPr>
        <p:txBody>
          <a:bodyPr wrap="square" lIns="0" tIns="0" rIns="0" bIns="0" rtlCol="0" anchor="ctr"/>
          <a:lstStyle/>
          <a:p>
            <a:pPr marL="342900" indent="-342900">
              <a:lnSpc>
                <a:spcPct val="105000"/>
              </a:lnSpc>
              <a:spcAft>
                <a:spcPts val="600"/>
              </a:spcAft>
              <a:buSzPct val="100000"/>
              <a:buChar char="•"/>
            </a:pPr>
            <a:r>
              <a:rPr lang="en-US" sz="1250" dirty="0">
                <a:solidFill>
                  <a:srgbClr val="1F2A26"/>
                </a:solidFill>
                <a:latin typeface="Calibri" pitchFamily="34" charset="0"/>
                <a:ea typeface="Calibri" pitchFamily="34" charset="-122"/>
                <a:cs typeface="Calibri" pitchFamily="34" charset="-120"/>
              </a:rPr>
              <a:t>El suelo pierde humedad rápidamente</a:t>
            </a:r>
            <a:endParaRPr lang="en-US" sz="1250" dirty="0"/>
          </a:p>
          <a:p>
            <a:pPr marL="342900" indent="-342900">
              <a:lnSpc>
                <a:spcPct val="105000"/>
              </a:lnSpc>
              <a:spcAft>
                <a:spcPts val="600"/>
              </a:spcAft>
              <a:buSzPct val="100000"/>
              <a:buChar char="•"/>
            </a:pPr>
            <a:r>
              <a:rPr lang="en-US" sz="1250" dirty="0">
                <a:solidFill>
                  <a:srgbClr val="1F2A26"/>
                </a:solidFill>
                <a:latin typeface="Calibri" pitchFamily="34" charset="0"/>
                <a:ea typeface="Calibri" pitchFamily="34" charset="-122"/>
                <a:cs typeface="Calibri" pitchFamily="34" charset="-120"/>
              </a:rPr>
              <a:t>La ET0 es elevada y el VPD es alto</a:t>
            </a:r>
            <a:endParaRPr lang="en-US" sz="1250" dirty="0"/>
          </a:p>
          <a:p>
            <a:pPr marL="342900" indent="-342900">
              <a:lnSpc>
                <a:spcPct val="105000"/>
              </a:lnSpc>
              <a:spcAft>
                <a:spcPts val="600"/>
              </a:spcAft>
              <a:buSzPct val="100000"/>
              <a:buChar char="•"/>
            </a:pPr>
            <a:r>
              <a:rPr lang="en-US" sz="1250" dirty="0">
                <a:solidFill>
                  <a:srgbClr val="1F2A26"/>
                </a:solidFill>
                <a:latin typeface="Calibri" pitchFamily="34" charset="0"/>
                <a:ea typeface="Calibri" pitchFamily="34" charset="-122"/>
                <a:cs typeface="Calibri" pitchFamily="34" charset="-120"/>
              </a:rPr>
              <a:t>No se espera precipitación</a:t>
            </a:r>
            <a:endParaRPr lang="en-US" sz="1250" dirty="0"/>
          </a:p>
          <a:p>
            <a:pPr marL="342900" indent="-342900">
              <a:lnSpc>
                <a:spcPct val="105000"/>
              </a:lnSpc>
              <a:spcAft>
                <a:spcPts val="600"/>
              </a:spcAft>
              <a:buSzPct val="100000"/>
              <a:buChar char="•"/>
            </a:pPr>
            <a:r>
              <a:rPr lang="en-US" sz="1250" dirty="0">
                <a:solidFill>
                  <a:srgbClr val="1F2A26"/>
                </a:solidFill>
                <a:latin typeface="Calibri" pitchFamily="34" charset="0"/>
                <a:ea typeface="Calibri" pitchFamily="34" charset="-122"/>
                <a:cs typeface="Calibri" pitchFamily="34" charset="-120"/>
              </a:rPr>
              <a:t>El cultivo muestra signos de menor disponibilidad de agua</a:t>
            </a:r>
            <a:endParaRPr lang="en-US" sz="1250" dirty="0"/>
          </a:p>
        </p:txBody>
      </p:sp>
      <p:sp>
        <p:nvSpPr>
          <p:cNvPr id="16" name="Text 14"/>
          <p:cNvSpPr txBox="1"/>
          <p:nvPr/>
        </p:nvSpPr>
        <p:spPr>
          <a:xfrm>
            <a:off x="640080" y="5349240"/>
            <a:ext cx="10908792" cy="640080"/>
          </a:xfrm>
          <a:prstGeom prst="rect">
            <a:avLst/>
          </a:prstGeom>
          <a:noFill/>
          <a:ln/>
        </p:spPr>
        <p:txBody>
          <a:bodyPr wrap="square" lIns="0" tIns="0" rIns="0" bIns="0" rtlCol="0" anchor="ctr"/>
          <a:lstStyle/>
          <a:p>
            <a:pPr marL="0" indent="0">
              <a:lnSpc>
                <a:spcPct val="110000"/>
              </a:lnSpc>
              <a:buNone/>
            </a:pPr>
            <a:r>
              <a:rPr lang="en-US" sz="1350" i="1" dirty="0">
                <a:solidFill>
                  <a:srgbClr val="0A5D65"/>
                </a:solidFill>
                <a:latin typeface="Calibri" pitchFamily="34" charset="0"/>
                <a:ea typeface="Calibri" pitchFamily="34" charset="-122"/>
                <a:cs typeface="Calibri" pitchFamily="34" charset="-120"/>
              </a:rPr>
              <a:t>Un mismo valor de humedad admite decisiones opuestas: el modelo pesa el conjunto de la información para que la recomendación tenga fundamento.</a:t>
            </a:r>
            <a:endParaRPr lang="en-US" sz="1350" dirty="0"/>
          </a:p>
        </p:txBody>
      </p:sp>
      <p:sp>
        <p:nvSpPr>
          <p:cNvPr id="17" name="Text 15"/>
          <p:cNvSpPr txBox="1"/>
          <p:nvPr/>
        </p:nvSpPr>
        <p:spPr>
          <a:xfrm>
            <a:off x="640080" y="6382512"/>
            <a:ext cx="7315200" cy="274320"/>
          </a:xfrm>
          <a:prstGeom prst="rect">
            <a:avLst/>
          </a:prstGeom>
          <a:noFill/>
          <a:ln/>
        </p:spPr>
        <p:txBody>
          <a:bodyPr wrap="square" lIns="0" tIns="0" rIns="0" bIns="0" rtlCol="0" anchor="ctr"/>
          <a:lstStyle/>
          <a:p>
            <a:pPr marL="0" indent="0">
              <a:buNone/>
            </a:pPr>
            <a:r>
              <a:rPr lang="en-US" sz="950" dirty="0">
                <a:solidFill>
                  <a:srgbClr val="9AAAA4"/>
                </a:solidFill>
                <a:latin typeface="Calibri" pitchFamily="34" charset="0"/>
                <a:ea typeface="Calibri" pitchFamily="34" charset="-122"/>
                <a:cs typeface="Calibri" pitchFamily="34" charset="-120"/>
              </a:rPr>
              <a:t>Vitic AI · Tesis — Licenciatura en Análisis de Datos</a:t>
            </a:r>
            <a:endParaRPr lang="en-US" sz="950" dirty="0"/>
          </a:p>
        </p:txBody>
      </p:sp>
      <p:sp>
        <p:nvSpPr>
          <p:cNvPr id="18" name="Text 16"/>
          <p:cNvSpPr txBox="1"/>
          <p:nvPr/>
        </p:nvSpPr>
        <p:spPr>
          <a:xfrm>
            <a:off x="10634472" y="6382512"/>
            <a:ext cx="914400" cy="274320"/>
          </a:xfrm>
          <a:prstGeom prst="rect">
            <a:avLst/>
          </a:prstGeom>
          <a:noFill/>
          <a:ln/>
        </p:spPr>
        <p:txBody>
          <a:bodyPr wrap="square" lIns="0" tIns="0" rIns="0" bIns="0" rtlCol="0" anchor="ctr"/>
          <a:lstStyle/>
          <a:p>
            <a:pPr marL="0" indent="0" algn="r">
              <a:buNone/>
            </a:pPr>
            <a:r>
              <a:rPr lang="en-US" sz="950" dirty="0">
                <a:solidFill>
                  <a:srgbClr val="9AAAA4"/>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8686800" cy="237744"/>
          </a:xfrm>
          <a:prstGeom prst="rect">
            <a:avLst/>
          </a:prstGeom>
          <a:noFill/>
          <a:ln/>
        </p:spPr>
        <p:txBody>
          <a:bodyPr wrap="square" lIns="0" tIns="0" rIns="0" bIns="0" rtlCol="0" anchor="ctr"/>
          <a:lstStyle/>
          <a:p>
            <a:pPr marL="0" indent="0">
              <a:buNone/>
            </a:pPr>
            <a:r>
              <a:rPr lang="en-US" sz="1150" b="1" kern="0" spc="200" dirty="0">
                <a:solidFill>
                  <a:srgbClr val="0E7C86"/>
                </a:solidFill>
                <a:latin typeface="Calibri" pitchFamily="34" charset="0"/>
                <a:ea typeface="Calibri" pitchFamily="34" charset="-122"/>
                <a:cs typeface="Calibri" pitchFamily="34" charset="-120"/>
              </a:rPr>
              <a:t>ESTADO DEL PROYECTO</a:t>
            </a:r>
            <a:endParaRPr lang="en-US" sz="1150" dirty="0"/>
          </a:p>
        </p:txBody>
      </p:sp>
      <p:sp>
        <p:nvSpPr>
          <p:cNvPr id="3" name="Text 1"/>
          <p:cNvSpPr txBox="1"/>
          <p:nvPr/>
        </p:nvSpPr>
        <p:spPr>
          <a:xfrm>
            <a:off x="640080" y="640080"/>
            <a:ext cx="10607040" cy="566928"/>
          </a:xfrm>
          <a:prstGeom prst="rect">
            <a:avLst/>
          </a:prstGeom>
          <a:noFill/>
          <a:ln/>
        </p:spPr>
        <p:txBody>
          <a:bodyPr wrap="square" lIns="0" tIns="0" rIns="0" bIns="0" rtlCol="0" anchor="ctr"/>
          <a:lstStyle/>
          <a:p>
            <a:pPr marL="0" indent="0">
              <a:buNone/>
            </a:pPr>
            <a:r>
              <a:rPr lang="en-US" sz="3200" b="1" dirty="0">
                <a:solidFill>
                  <a:srgbClr val="13312A"/>
                </a:solidFill>
                <a:latin typeface="Cambria" pitchFamily="34" charset="0"/>
                <a:ea typeface="Cambria" pitchFamily="34" charset="-122"/>
                <a:cs typeface="Cambria" pitchFamily="34" charset="-120"/>
              </a:rPr>
              <a:t>Qué está hecho y qué sigue</a:t>
            </a:r>
            <a:endParaRPr lang="en-US" sz="3200" dirty="0"/>
          </a:p>
        </p:txBody>
      </p:sp>
      <p:sp>
        <p:nvSpPr>
          <p:cNvPr id="4" name="Text 2"/>
          <p:cNvSpPr txBox="1"/>
          <p:nvPr/>
        </p:nvSpPr>
        <p:spPr>
          <a:xfrm>
            <a:off x="640080" y="1261872"/>
            <a:ext cx="10241280" cy="457200"/>
          </a:xfrm>
          <a:prstGeom prst="rect">
            <a:avLst/>
          </a:prstGeom>
          <a:noFill/>
          <a:ln/>
        </p:spPr>
        <p:txBody>
          <a:bodyPr wrap="square" lIns="0" tIns="0" rIns="0" bIns="0" rtlCol="0" anchor="ctr"/>
          <a:lstStyle/>
          <a:p>
            <a:pPr marL="0" indent="0">
              <a:lnSpc>
                <a:spcPct val="110000"/>
              </a:lnSpc>
              <a:buNone/>
            </a:pPr>
            <a:r>
              <a:rPr lang="en-US" sz="1450" dirty="0">
                <a:solidFill>
                  <a:srgbClr val="5F6F69"/>
                </a:solidFill>
                <a:latin typeface="Calibri" pitchFamily="34" charset="0"/>
                <a:ea typeface="Calibri" pitchFamily="34" charset="-122"/>
                <a:cs typeface="Calibri" pitchFamily="34" charset="-120"/>
              </a:rPr>
              <a:t>Queremos ser precisos con el alcance actual: la infraestructura de datos está construida; el modelo es la etapa que viene.</a:t>
            </a:r>
            <a:endParaRPr lang="en-US" sz="1450" dirty="0"/>
          </a:p>
        </p:txBody>
      </p:sp>
      <p:sp>
        <p:nvSpPr>
          <p:cNvPr id="5" name="Shape 3"/>
          <p:cNvSpPr/>
          <p:nvPr/>
        </p:nvSpPr>
        <p:spPr>
          <a:xfrm>
            <a:off x="640080" y="2011680"/>
            <a:ext cx="5271516" cy="3429000"/>
          </a:xfrm>
          <a:prstGeom prst="roundRect">
            <a:avLst>
              <a:gd name="adj" fmla="val 3200"/>
            </a:avLst>
          </a:prstGeom>
          <a:solidFill>
            <a:srgbClr val="E9F1EB"/>
          </a:solidFill>
          <a:ln w="12700">
            <a:solidFill>
              <a:srgbClr val="E9F1EB"/>
            </a:solidFill>
            <a:prstDash val="solid"/>
          </a:ln>
          <a:effectLst>
            <a:outerShdw blurRad="127000" dist="25400" dir="5400000" algn="bl" rotWithShape="0">
              <a:srgbClr val="11302A">
                <a:alpha val="10000"/>
              </a:srgbClr>
            </a:outerShdw>
          </a:effectLst>
        </p:spPr>
      </p:sp>
      <p:sp>
        <p:nvSpPr>
          <p:cNvPr id="6" name="Shape 4"/>
          <p:cNvSpPr/>
          <p:nvPr/>
        </p:nvSpPr>
        <p:spPr>
          <a:xfrm>
            <a:off x="960120" y="2240280"/>
            <a:ext cx="502920" cy="502920"/>
          </a:xfrm>
          <a:prstGeom prst="ellipse">
            <a:avLst/>
          </a:prstGeom>
          <a:solidFill>
            <a:srgbClr val="0E7C86"/>
          </a:solidFill>
          <a:ln w="12700">
            <a:solidFill>
              <a:srgbClr val="0E7C86"/>
            </a:solidFill>
            <a:prstDash val="solid"/>
          </a:ln>
        </p:spPr>
      </p:sp>
      <p:pic>
        <p:nvPicPr>
          <p:cNvPr id="7" name="Image 0" descr="preencoded.png"/>
          <p:cNvPicPr>
            <a:picLocks noChangeAspect="1"/>
          </p:cNvPicPr>
          <p:nvPr/>
        </p:nvPicPr>
        <p:blipFill>
          <a:blip r:embed="rId3"/>
          <a:stretch>
            <a:fillRect/>
          </a:stretch>
        </p:blipFill>
        <p:spPr>
          <a:xfrm>
            <a:off x="1110996" y="2391156"/>
            <a:ext cx="201168" cy="201168"/>
          </a:xfrm>
          <a:prstGeom prst="rect">
            <a:avLst/>
          </a:prstGeom>
        </p:spPr>
      </p:pic>
      <p:sp>
        <p:nvSpPr>
          <p:cNvPr id="8" name="Text 5"/>
          <p:cNvSpPr txBox="1"/>
          <p:nvPr/>
        </p:nvSpPr>
        <p:spPr>
          <a:xfrm>
            <a:off x="1600200" y="2286000"/>
            <a:ext cx="3991356" cy="365760"/>
          </a:xfrm>
          <a:prstGeom prst="rect">
            <a:avLst/>
          </a:prstGeom>
          <a:noFill/>
          <a:ln/>
        </p:spPr>
        <p:txBody>
          <a:bodyPr wrap="square" lIns="0" tIns="0" rIns="0" bIns="0" rtlCol="0" anchor="ctr"/>
          <a:lstStyle/>
          <a:p>
            <a:pPr marL="0" indent="0">
              <a:buNone/>
            </a:pPr>
            <a:r>
              <a:rPr lang="en-US" sz="1500" b="1" dirty="0">
                <a:solidFill>
                  <a:srgbClr val="13312A"/>
                </a:solidFill>
                <a:latin typeface="Calibri" pitchFamily="34" charset="0"/>
                <a:ea typeface="Calibri" pitchFamily="34" charset="-122"/>
                <a:cs typeface="Calibri" pitchFamily="34" charset="-120"/>
              </a:rPr>
              <a:t>Ya implementado</a:t>
            </a:r>
            <a:endParaRPr lang="en-US" sz="1500" dirty="0"/>
          </a:p>
        </p:txBody>
      </p:sp>
      <p:sp>
        <p:nvSpPr>
          <p:cNvPr id="9" name="Text 6"/>
          <p:cNvSpPr txBox="1"/>
          <p:nvPr/>
        </p:nvSpPr>
        <p:spPr>
          <a:xfrm>
            <a:off x="960120" y="2880360"/>
            <a:ext cx="4631436" cy="2286000"/>
          </a:xfrm>
          <a:prstGeom prst="rect">
            <a:avLst/>
          </a:prstGeom>
          <a:noFill/>
          <a:ln/>
        </p:spPr>
        <p:txBody>
          <a:bodyPr wrap="square" lIns="0" tIns="0" rIns="0" bIns="0" rtlCol="0" anchor="ctr"/>
          <a:lstStyle/>
          <a:p>
            <a:pPr marL="342900" indent="-342900">
              <a:lnSpc>
                <a:spcPct val="105000"/>
              </a:lnSpc>
              <a:spcAft>
                <a:spcPts val="800"/>
              </a:spcAft>
              <a:buSzPct val="100000"/>
              <a:buChar char="•"/>
            </a:pPr>
            <a:r>
              <a:rPr lang="en-US" sz="1250" dirty="0">
                <a:solidFill>
                  <a:srgbClr val="1F2A26"/>
                </a:solidFill>
                <a:latin typeface="Calibri" pitchFamily="34" charset="0"/>
                <a:ea typeface="Calibri" pitchFamily="34" charset="-122"/>
                <a:cs typeface="Calibri" pitchFamily="34" charset="-120"/>
              </a:rPr>
              <a:t>Maqueta IoT con sensores y caudalímetro</a:t>
            </a:r>
            <a:endParaRPr lang="en-US" sz="1250" dirty="0"/>
          </a:p>
          <a:p>
            <a:pPr marL="342900" indent="-342900">
              <a:lnSpc>
                <a:spcPct val="105000"/>
              </a:lnSpc>
              <a:spcAft>
                <a:spcPts val="800"/>
              </a:spcAft>
              <a:buSzPct val="100000"/>
              <a:buChar char="•"/>
            </a:pPr>
            <a:r>
              <a:rPr lang="en-US" sz="1250" dirty="0">
                <a:solidFill>
                  <a:srgbClr val="1F2A26"/>
                </a:solidFill>
                <a:latin typeface="Calibri" pitchFamily="34" charset="0"/>
                <a:ea typeface="Calibri" pitchFamily="34" charset="-122"/>
                <a:cs typeface="Calibri" pitchFamily="34" charset="-120"/>
              </a:rPr>
              <a:t>Comunicación del nodo con el backend</a:t>
            </a:r>
            <a:endParaRPr lang="en-US" sz="1250" dirty="0"/>
          </a:p>
          <a:p>
            <a:pPr marL="342900" indent="-342900">
              <a:lnSpc>
                <a:spcPct val="105000"/>
              </a:lnSpc>
              <a:spcAft>
                <a:spcPts val="800"/>
              </a:spcAft>
              <a:buSzPct val="100000"/>
              <a:buChar char="•"/>
            </a:pPr>
            <a:r>
              <a:rPr lang="en-US" sz="1250" dirty="0">
                <a:solidFill>
                  <a:srgbClr val="1F2A26"/>
                </a:solidFill>
                <a:latin typeface="Calibri" pitchFamily="34" charset="0"/>
                <a:ea typeface="Calibri" pitchFamily="34" charset="-122"/>
                <a:cs typeface="Calibri" pitchFamily="34" charset="-120"/>
              </a:rPr>
              <a:t>Data Miner histórico y web scraping</a:t>
            </a:r>
            <a:endParaRPr lang="en-US" sz="1250" dirty="0"/>
          </a:p>
          <a:p>
            <a:pPr marL="342900" indent="-342900">
              <a:lnSpc>
                <a:spcPct val="105000"/>
              </a:lnSpc>
              <a:spcAft>
                <a:spcPts val="800"/>
              </a:spcAft>
              <a:buSzPct val="100000"/>
              <a:buChar char="•"/>
            </a:pPr>
            <a:r>
              <a:rPr lang="en-US" sz="1250" dirty="0">
                <a:solidFill>
                  <a:srgbClr val="1F2A26"/>
                </a:solidFill>
                <a:latin typeface="Calibri" pitchFamily="34" charset="0"/>
                <a:ea typeface="Calibri" pitchFamily="34" charset="-122"/>
                <a:cs typeface="Calibri" pitchFamily="34" charset="-120"/>
              </a:rPr>
              <a:t>Backend Java base: almacenamiento, eventos de riego y exportación de datos</a:t>
            </a:r>
            <a:endParaRPr lang="en-US" sz="1250" dirty="0"/>
          </a:p>
          <a:p>
            <a:pPr marL="342900" indent="-342900">
              <a:lnSpc>
                <a:spcPct val="105000"/>
              </a:lnSpc>
              <a:spcAft>
                <a:spcPts val="800"/>
              </a:spcAft>
              <a:buSzPct val="100000"/>
              <a:buChar char="•"/>
            </a:pPr>
            <a:r>
              <a:rPr lang="en-US" sz="1250" dirty="0">
                <a:solidFill>
                  <a:srgbClr val="1F2A26"/>
                </a:solidFill>
                <a:latin typeface="Calibri" pitchFamily="34" charset="0"/>
                <a:ea typeface="Calibri" pitchFamily="34" charset="-122"/>
                <a:cs typeface="Calibri" pitchFamily="34" charset="-120"/>
              </a:rPr>
              <a:t>Procesamiento satelital GOES y Sentinel-2</a:t>
            </a:r>
            <a:endParaRPr lang="en-US" sz="1250" dirty="0"/>
          </a:p>
        </p:txBody>
      </p:sp>
      <p:sp>
        <p:nvSpPr>
          <p:cNvPr id="10" name="Shape 7"/>
          <p:cNvSpPr/>
          <p:nvPr/>
        </p:nvSpPr>
        <p:spPr>
          <a:xfrm>
            <a:off x="6277356" y="2011680"/>
            <a:ext cx="5271516" cy="3429000"/>
          </a:xfrm>
          <a:prstGeom prst="roundRect">
            <a:avLst>
              <a:gd name="adj" fmla="val 3200"/>
            </a:avLst>
          </a:prstGeom>
          <a:solidFill>
            <a:srgbClr val="FAEEDA"/>
          </a:solidFill>
          <a:ln w="12700">
            <a:solidFill>
              <a:srgbClr val="FAEEDA"/>
            </a:solidFill>
            <a:prstDash val="solid"/>
          </a:ln>
          <a:effectLst>
            <a:outerShdw blurRad="127000" dist="25400" dir="5400000" algn="bl" rotWithShape="0">
              <a:srgbClr val="11302A">
                <a:alpha val="10000"/>
              </a:srgbClr>
            </a:outerShdw>
          </a:effectLst>
        </p:spPr>
      </p:sp>
      <p:sp>
        <p:nvSpPr>
          <p:cNvPr id="11" name="Shape 8"/>
          <p:cNvSpPr/>
          <p:nvPr/>
        </p:nvSpPr>
        <p:spPr>
          <a:xfrm>
            <a:off x="6597396" y="2240280"/>
            <a:ext cx="502920" cy="502920"/>
          </a:xfrm>
          <a:prstGeom prst="ellipse">
            <a:avLst/>
          </a:prstGeom>
          <a:solidFill>
            <a:srgbClr val="C68B18"/>
          </a:solidFill>
          <a:ln w="12700">
            <a:solidFill>
              <a:srgbClr val="C68B18"/>
            </a:solidFill>
            <a:prstDash val="solid"/>
          </a:ln>
        </p:spPr>
      </p:sp>
      <p:pic>
        <p:nvPicPr>
          <p:cNvPr id="12" name="Image 1" descr="preencoded.png"/>
          <p:cNvPicPr>
            <a:picLocks noChangeAspect="1"/>
          </p:cNvPicPr>
          <p:nvPr/>
        </p:nvPicPr>
        <p:blipFill>
          <a:blip r:embed="rId4"/>
          <a:stretch>
            <a:fillRect/>
          </a:stretch>
        </p:blipFill>
        <p:spPr>
          <a:xfrm>
            <a:off x="6748272" y="2391156"/>
            <a:ext cx="201168" cy="201168"/>
          </a:xfrm>
          <a:prstGeom prst="rect">
            <a:avLst/>
          </a:prstGeom>
        </p:spPr>
      </p:pic>
      <p:sp>
        <p:nvSpPr>
          <p:cNvPr id="13" name="Text 9"/>
          <p:cNvSpPr txBox="1"/>
          <p:nvPr/>
        </p:nvSpPr>
        <p:spPr>
          <a:xfrm>
            <a:off x="7237476" y="2286000"/>
            <a:ext cx="3991356" cy="365760"/>
          </a:xfrm>
          <a:prstGeom prst="rect">
            <a:avLst/>
          </a:prstGeom>
          <a:noFill/>
          <a:ln/>
        </p:spPr>
        <p:txBody>
          <a:bodyPr wrap="square" lIns="0" tIns="0" rIns="0" bIns="0" rtlCol="0" anchor="ctr"/>
          <a:lstStyle/>
          <a:p>
            <a:pPr marL="0" indent="0">
              <a:buNone/>
            </a:pPr>
            <a:r>
              <a:rPr lang="en-US" sz="1500" b="1" dirty="0">
                <a:solidFill>
                  <a:srgbClr val="13312A"/>
                </a:solidFill>
                <a:latin typeface="Calibri" pitchFamily="34" charset="0"/>
                <a:ea typeface="Calibri" pitchFamily="34" charset="-122"/>
                <a:cs typeface="Calibri" pitchFamily="34" charset="-120"/>
              </a:rPr>
              <a:t>En desarrollo · próxima etapa</a:t>
            </a:r>
            <a:endParaRPr lang="en-US" sz="1500" dirty="0"/>
          </a:p>
        </p:txBody>
      </p:sp>
      <p:sp>
        <p:nvSpPr>
          <p:cNvPr id="14" name="Text 10"/>
          <p:cNvSpPr txBox="1"/>
          <p:nvPr/>
        </p:nvSpPr>
        <p:spPr>
          <a:xfrm>
            <a:off x="6597396" y="2880360"/>
            <a:ext cx="4631436" cy="2286000"/>
          </a:xfrm>
          <a:prstGeom prst="rect">
            <a:avLst/>
          </a:prstGeom>
          <a:noFill/>
          <a:ln/>
        </p:spPr>
        <p:txBody>
          <a:bodyPr wrap="square" lIns="0" tIns="0" rIns="0" bIns="0" rtlCol="0" anchor="ctr"/>
          <a:lstStyle/>
          <a:p>
            <a:pPr marL="342900" indent="-342900">
              <a:lnSpc>
                <a:spcPct val="105000"/>
              </a:lnSpc>
              <a:spcAft>
                <a:spcPts val="800"/>
              </a:spcAft>
              <a:buSzPct val="100000"/>
              <a:buChar char="•"/>
            </a:pPr>
            <a:r>
              <a:rPr lang="en-US" sz="1250" dirty="0">
                <a:solidFill>
                  <a:srgbClr val="1F2A26"/>
                </a:solidFill>
                <a:latin typeface="Calibri" pitchFamily="34" charset="0"/>
                <a:ea typeface="Calibri" pitchFamily="34" charset="-122"/>
                <a:cs typeface="Calibri" pitchFamily="34" charset="-120"/>
              </a:rPr>
              <a:t>Integración completa de las cuatro fuentes</a:t>
            </a:r>
            <a:endParaRPr lang="en-US" sz="1250" dirty="0"/>
          </a:p>
          <a:p>
            <a:pPr marL="342900" indent="-342900">
              <a:lnSpc>
                <a:spcPct val="105000"/>
              </a:lnSpc>
              <a:spcAft>
                <a:spcPts val="800"/>
              </a:spcAft>
              <a:buSzPct val="100000"/>
              <a:buChar char="•"/>
            </a:pPr>
            <a:r>
              <a:rPr lang="en-US" sz="1250" dirty="0">
                <a:solidFill>
                  <a:srgbClr val="1F2A26"/>
                </a:solidFill>
                <a:latin typeface="Calibri" pitchFamily="34" charset="0"/>
                <a:ea typeface="Calibri" pitchFamily="34" charset="-122"/>
                <a:cs typeface="Calibri" pitchFamily="34" charset="-120"/>
              </a:rPr>
              <a:t>Construcción del dataset multimodal consolidado</a:t>
            </a:r>
            <a:endParaRPr lang="en-US" sz="1250" dirty="0"/>
          </a:p>
          <a:p>
            <a:pPr marL="342900" indent="-342900">
              <a:lnSpc>
                <a:spcPct val="105000"/>
              </a:lnSpc>
              <a:spcAft>
                <a:spcPts val="800"/>
              </a:spcAft>
              <a:buSzPct val="100000"/>
              <a:buChar char="•"/>
            </a:pPr>
            <a:r>
              <a:rPr lang="en-US" sz="1250" dirty="0">
                <a:solidFill>
                  <a:srgbClr val="1F2A26"/>
                </a:solidFill>
                <a:latin typeface="Calibri" pitchFamily="34" charset="0"/>
                <a:ea typeface="Calibri" pitchFamily="34" charset="-122"/>
                <a:cs typeface="Calibri" pitchFamily="34" charset="-120"/>
              </a:rPr>
              <a:t>Entrenamiento del modelo y elección del target</a:t>
            </a:r>
            <a:endParaRPr lang="en-US" sz="1250" dirty="0"/>
          </a:p>
          <a:p>
            <a:pPr marL="342900" indent="-342900">
              <a:lnSpc>
                <a:spcPct val="105000"/>
              </a:lnSpc>
              <a:spcAft>
                <a:spcPts val="800"/>
              </a:spcAft>
              <a:buSzPct val="100000"/>
              <a:buChar char="•"/>
            </a:pPr>
            <a:r>
              <a:rPr lang="en-US" sz="1250" dirty="0">
                <a:solidFill>
                  <a:srgbClr val="1F2A26"/>
                </a:solidFill>
                <a:latin typeface="Calibri" pitchFamily="34" charset="0"/>
                <a:ea typeface="Calibri" pitchFamily="34" charset="-122"/>
                <a:cs typeface="Calibri" pitchFamily="34" charset="-120"/>
              </a:rPr>
              <a:t>Validación, comparación de modelos y medición del error</a:t>
            </a:r>
            <a:endParaRPr lang="en-US" sz="1250" dirty="0"/>
          </a:p>
          <a:p>
            <a:pPr marL="342900" indent="-342900">
              <a:lnSpc>
                <a:spcPct val="105000"/>
              </a:lnSpc>
              <a:spcAft>
                <a:spcPts val="800"/>
              </a:spcAft>
              <a:buSzPct val="100000"/>
              <a:buChar char="•"/>
            </a:pPr>
            <a:r>
              <a:rPr lang="en-US" sz="1250" dirty="0">
                <a:solidFill>
                  <a:srgbClr val="1F2A26"/>
                </a:solidFill>
                <a:latin typeface="Calibri" pitchFamily="34" charset="0"/>
                <a:ea typeface="Calibri" pitchFamily="34" charset="-122"/>
                <a:cs typeface="Calibri" pitchFamily="34" charset="-120"/>
              </a:rPr>
              <a:t>Recomendación hídrica basada en Ciencia de Datos</a:t>
            </a:r>
            <a:endParaRPr lang="en-US" sz="1250" dirty="0"/>
          </a:p>
        </p:txBody>
      </p:sp>
      <p:sp>
        <p:nvSpPr>
          <p:cNvPr id="15" name="Text 11"/>
          <p:cNvSpPr txBox="1"/>
          <p:nvPr/>
        </p:nvSpPr>
        <p:spPr>
          <a:xfrm>
            <a:off x="640080" y="5623560"/>
            <a:ext cx="10908792" cy="365760"/>
          </a:xfrm>
          <a:prstGeom prst="rect">
            <a:avLst/>
          </a:prstGeom>
          <a:noFill/>
          <a:ln/>
        </p:spPr>
        <p:txBody>
          <a:bodyPr wrap="square" lIns="0" tIns="0" rIns="0" bIns="0" rtlCol="0" anchor="ctr"/>
          <a:lstStyle/>
          <a:p>
            <a:pPr marL="0" indent="0">
              <a:buNone/>
            </a:pPr>
            <a:r>
              <a:rPr lang="en-US" sz="1300" i="1" dirty="0">
                <a:solidFill>
                  <a:srgbClr val="5F6F69"/>
                </a:solidFill>
                <a:latin typeface="Calibri" pitchFamily="34" charset="0"/>
                <a:ea typeface="Calibri" pitchFamily="34" charset="-122"/>
                <a:cs typeface="Calibri" pitchFamily="34" charset="-120"/>
              </a:rPr>
              <a:t>Todavía no presentamos resultados del modelo: aún no lo entrenamos sobre el dataset integrado.</a:t>
            </a:r>
            <a:endParaRPr lang="en-US" sz="1300" dirty="0"/>
          </a:p>
        </p:txBody>
      </p:sp>
      <p:sp>
        <p:nvSpPr>
          <p:cNvPr id="16" name="Text 12"/>
          <p:cNvSpPr txBox="1"/>
          <p:nvPr/>
        </p:nvSpPr>
        <p:spPr>
          <a:xfrm>
            <a:off x="640080" y="6382512"/>
            <a:ext cx="7315200" cy="274320"/>
          </a:xfrm>
          <a:prstGeom prst="rect">
            <a:avLst/>
          </a:prstGeom>
          <a:noFill/>
          <a:ln/>
        </p:spPr>
        <p:txBody>
          <a:bodyPr wrap="square" lIns="0" tIns="0" rIns="0" bIns="0" rtlCol="0" anchor="ctr"/>
          <a:lstStyle/>
          <a:p>
            <a:pPr marL="0" indent="0">
              <a:buNone/>
            </a:pPr>
            <a:r>
              <a:rPr lang="en-US" sz="950" dirty="0">
                <a:solidFill>
                  <a:srgbClr val="9AAAA4"/>
                </a:solidFill>
                <a:latin typeface="Calibri" pitchFamily="34" charset="0"/>
                <a:ea typeface="Calibri" pitchFamily="34" charset="-122"/>
                <a:cs typeface="Calibri" pitchFamily="34" charset="-120"/>
              </a:rPr>
              <a:t>Vitic AI · Tesis — Licenciatura en Análisis de Datos</a:t>
            </a:r>
            <a:endParaRPr lang="en-US" sz="950" dirty="0"/>
          </a:p>
        </p:txBody>
      </p:sp>
      <p:sp>
        <p:nvSpPr>
          <p:cNvPr id="17" name="Text 13"/>
          <p:cNvSpPr txBox="1"/>
          <p:nvPr/>
        </p:nvSpPr>
        <p:spPr>
          <a:xfrm>
            <a:off x="10634472" y="6382512"/>
            <a:ext cx="914400" cy="274320"/>
          </a:xfrm>
          <a:prstGeom prst="rect">
            <a:avLst/>
          </a:prstGeom>
          <a:noFill/>
          <a:ln/>
        </p:spPr>
        <p:txBody>
          <a:bodyPr wrap="square" lIns="0" tIns="0" rIns="0" bIns="0" rtlCol="0" anchor="ctr"/>
          <a:lstStyle/>
          <a:p>
            <a:pPr marL="0" indent="0" algn="r">
              <a:buNone/>
            </a:pPr>
            <a:r>
              <a:rPr lang="en-US" sz="950" dirty="0">
                <a:solidFill>
                  <a:srgbClr val="9AAAA4"/>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A24"/>
        </a:solidFill>
        <a:effectLst/>
      </p:bgPr>
    </p:bg>
    <p:spTree>
      <p:nvGrpSpPr>
        <p:cNvPr id="1" name=""/>
        <p:cNvGrpSpPr/>
        <p:nvPr/>
      </p:nvGrpSpPr>
      <p:grpSpPr>
        <a:xfrm>
          <a:off x="0" y="0"/>
          <a:ext cx="0" cy="0"/>
          <a:chOff x="0" y="0"/>
          <a:chExt cx="0" cy="0"/>
        </a:xfrm>
      </p:grpSpPr>
      <p:sp>
        <p:nvSpPr>
          <p:cNvPr id="2" name="Shape 0"/>
          <p:cNvSpPr/>
          <p:nvPr/>
        </p:nvSpPr>
        <p:spPr>
          <a:xfrm>
            <a:off x="9692640" y="4206240"/>
            <a:ext cx="3840480" cy="3840480"/>
          </a:xfrm>
          <a:prstGeom prst="ellipse">
            <a:avLst/>
          </a:prstGeom>
          <a:solidFill>
            <a:srgbClr val="0E7C86">
              <a:alpha val="12000"/>
            </a:srgbClr>
          </a:solidFill>
          <a:ln w="12700">
            <a:solidFill>
              <a:srgbClr val="0E7C86">
                <a:alpha val="12000"/>
              </a:srgbClr>
            </a:solidFill>
            <a:prstDash val="solid"/>
          </a:ln>
        </p:spPr>
      </p:sp>
      <p:sp>
        <p:nvSpPr>
          <p:cNvPr id="3" name="Text 1"/>
          <p:cNvSpPr txBox="1"/>
          <p:nvPr/>
        </p:nvSpPr>
        <p:spPr>
          <a:xfrm>
            <a:off x="640080" y="822960"/>
            <a:ext cx="7315200" cy="274320"/>
          </a:xfrm>
          <a:prstGeom prst="rect">
            <a:avLst/>
          </a:prstGeom>
          <a:noFill/>
          <a:ln/>
        </p:spPr>
        <p:txBody>
          <a:bodyPr wrap="square" lIns="0" tIns="0" rIns="0" bIns="0" rtlCol="0" anchor="ctr"/>
          <a:lstStyle/>
          <a:p>
            <a:pPr marL="0" indent="0">
              <a:buNone/>
            </a:pPr>
            <a:r>
              <a:rPr lang="en-US" sz="1150" b="1" kern="0" spc="300" dirty="0">
                <a:solidFill>
                  <a:srgbClr val="C68B18"/>
                </a:solidFill>
                <a:latin typeface="Calibri" pitchFamily="34" charset="0"/>
                <a:ea typeface="Calibri" pitchFamily="34" charset="-122"/>
                <a:cs typeface="Calibri" pitchFamily="34" charset="-120"/>
              </a:rPr>
              <a:t>CIERRE</a:t>
            </a:r>
            <a:endParaRPr lang="en-US" sz="1150" dirty="0"/>
          </a:p>
        </p:txBody>
      </p:sp>
      <p:sp>
        <p:nvSpPr>
          <p:cNvPr id="4" name="Text 2"/>
          <p:cNvSpPr txBox="1"/>
          <p:nvPr/>
        </p:nvSpPr>
        <p:spPr>
          <a:xfrm>
            <a:off x="640080" y="1280160"/>
            <a:ext cx="10332720" cy="1920240"/>
          </a:xfrm>
          <a:prstGeom prst="rect">
            <a:avLst/>
          </a:prstGeom>
          <a:noFill/>
          <a:ln/>
        </p:spPr>
        <p:txBody>
          <a:bodyPr wrap="square" lIns="0" tIns="0" rIns="0" bIns="0" rtlCol="0" anchor="ctr"/>
          <a:lstStyle/>
          <a:p>
            <a:pPr marL="0" indent="0">
              <a:lnSpc>
                <a:spcPct val="112000"/>
              </a:lnSpc>
              <a:buNone/>
            </a:pPr>
            <a:r>
              <a:rPr lang="en-US" sz="2600" dirty="0">
                <a:solidFill>
                  <a:srgbClr val="FFFFFF"/>
                </a:solidFill>
                <a:latin typeface="Cambria" pitchFamily="34" charset="0"/>
                <a:ea typeface="Cambria" pitchFamily="34" charset="-122"/>
                <a:cs typeface="Cambria" pitchFamily="34" charset="-120"/>
              </a:rPr>
              <a:t>No buscamos predecir todos los fenómenos climáticos de San Juan. Buscamos integrar diferentes fuentes de información para conocer mejor el estado hídrico del cultivo y apoyar decisiones de riego más eficientes.</a:t>
            </a:r>
            <a:endParaRPr lang="en-US" sz="2600" dirty="0"/>
          </a:p>
        </p:txBody>
      </p:sp>
      <p:sp>
        <p:nvSpPr>
          <p:cNvPr id="5" name="Shape 3"/>
          <p:cNvSpPr/>
          <p:nvPr/>
        </p:nvSpPr>
        <p:spPr>
          <a:xfrm>
            <a:off x="640080" y="3520440"/>
            <a:ext cx="10332720" cy="1143000"/>
          </a:xfrm>
          <a:prstGeom prst="roundRect">
            <a:avLst>
              <a:gd name="adj" fmla="val 9600"/>
            </a:avLst>
          </a:prstGeom>
          <a:solidFill>
            <a:srgbClr val="15423A"/>
          </a:solidFill>
          <a:ln w="12700">
            <a:solidFill>
              <a:srgbClr val="15423A"/>
            </a:solidFill>
            <a:prstDash val="solid"/>
          </a:ln>
        </p:spPr>
      </p:sp>
      <p:sp>
        <p:nvSpPr>
          <p:cNvPr id="6" name="Text 4"/>
          <p:cNvSpPr txBox="1"/>
          <p:nvPr/>
        </p:nvSpPr>
        <p:spPr>
          <a:xfrm>
            <a:off x="1051560" y="3657600"/>
            <a:ext cx="9509760" cy="274320"/>
          </a:xfrm>
          <a:prstGeom prst="rect">
            <a:avLst/>
          </a:prstGeom>
          <a:noFill/>
          <a:ln/>
        </p:spPr>
        <p:txBody>
          <a:bodyPr wrap="square" lIns="0" tIns="0" rIns="0" bIns="0" rtlCol="0" anchor="ctr"/>
          <a:lstStyle/>
          <a:p>
            <a:pPr marL="0" indent="0">
              <a:buNone/>
            </a:pPr>
            <a:r>
              <a:rPr lang="en-US" sz="1150" b="1" kern="0" spc="150" dirty="0">
                <a:solidFill>
                  <a:srgbClr val="C68B18"/>
                </a:solidFill>
                <a:latin typeface="Calibri" pitchFamily="34" charset="0"/>
                <a:ea typeface="Calibri" pitchFamily="34" charset="-122"/>
                <a:cs typeface="Calibri" pitchFamily="34" charset="-120"/>
              </a:rPr>
              <a:t>Resultado esperado</a:t>
            </a:r>
            <a:endParaRPr lang="en-US" sz="1150" dirty="0"/>
          </a:p>
        </p:txBody>
      </p:sp>
      <p:sp>
        <p:nvSpPr>
          <p:cNvPr id="7" name="Text 5"/>
          <p:cNvSpPr txBox="1"/>
          <p:nvPr/>
        </p:nvSpPr>
        <p:spPr>
          <a:xfrm>
            <a:off x="1051560" y="3977640"/>
            <a:ext cx="9509760" cy="54864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Reducir el uso innecesario de agua sin aumentar la exposición del cultivo al estrés hídrico.</a:t>
            </a:r>
            <a:endParaRPr lang="en-US" sz="1700" dirty="0"/>
          </a:p>
        </p:txBody>
      </p:sp>
      <p:sp>
        <p:nvSpPr>
          <p:cNvPr id="8" name="Text 6"/>
          <p:cNvSpPr txBox="1"/>
          <p:nvPr/>
        </p:nvSpPr>
        <p:spPr>
          <a:xfrm>
            <a:off x="640080" y="4892040"/>
            <a:ext cx="10332720" cy="822960"/>
          </a:xfrm>
          <a:prstGeom prst="rect">
            <a:avLst/>
          </a:prstGeom>
          <a:noFill/>
          <a:ln/>
        </p:spPr>
        <p:txBody>
          <a:bodyPr wrap="square" lIns="0" tIns="0" rIns="0" bIns="0" rtlCol="0" anchor="ctr"/>
          <a:lstStyle/>
          <a:p>
            <a:pPr marL="0" indent="0">
              <a:lnSpc>
                <a:spcPct val="115000"/>
              </a:lnSpc>
              <a:buNone/>
            </a:pPr>
            <a:r>
              <a:rPr lang="en-US" sz="1350" dirty="0">
                <a:solidFill>
                  <a:srgbClr val="A9C4BF"/>
                </a:solidFill>
                <a:latin typeface="Calibri" pitchFamily="34" charset="0"/>
                <a:ea typeface="Calibri" pitchFamily="34" charset="-122"/>
                <a:cs typeface="Calibri" pitchFamily="34" charset="-120"/>
              </a:rPr>
              <a:t>El sistema no reemplaza al productor: le entrega humedad actual y estimada, agua utilizada, demanda atmosférica, contexto meteorológico, estado del cultivo y la explicación de los factores detrás de cada recomendación.</a:t>
            </a:r>
            <a:endParaRPr lang="en-US" sz="1350" dirty="0"/>
          </a:p>
        </p:txBody>
      </p:sp>
      <p:sp>
        <p:nvSpPr>
          <p:cNvPr id="9" name="Text 7"/>
          <p:cNvSpPr txBox="1"/>
          <p:nvPr/>
        </p:nvSpPr>
        <p:spPr>
          <a:xfrm>
            <a:off x="640080" y="5806440"/>
            <a:ext cx="5486400" cy="3657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Gracias.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1825</Words>
  <Application>Microsoft Office PowerPoint</Application>
  <PresentationFormat>Panorámica</PresentationFormat>
  <Paragraphs>222</Paragraphs>
  <Slides>12</Slides>
  <Notes>12</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12</vt:i4>
      </vt:variant>
    </vt:vector>
  </HeadingPairs>
  <TitlesOfParts>
    <vt:vector size="16"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Vitic AI — Sistema de soporte de decisiones para la gestion hidrica</dc:title>
  <dc:subject>PptxGenJS Presentation</dc:subject>
  <dc:creator>Vitic AI</dc:creator>
  <cp:lastModifiedBy>Lenovo</cp:lastModifiedBy>
  <cp:revision>2</cp:revision>
  <dcterms:created xsi:type="dcterms:W3CDTF">2026-09-03T23:33:32Z</dcterms:created>
  <dcterms:modified xsi:type="dcterms:W3CDTF">2026-09-03T23:57:38Z</dcterms:modified>
</cp:coreProperties>
</file>